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8"/>
  </p:notesMasterIdLst>
  <p:sldIdLst>
    <p:sldId id="443" r:id="rId2"/>
    <p:sldId id="264" r:id="rId3"/>
    <p:sldId id="282" r:id="rId4"/>
    <p:sldId id="265" r:id="rId5"/>
    <p:sldId id="266" r:id="rId6"/>
    <p:sldId id="277" r:id="rId7"/>
    <p:sldId id="267" r:id="rId8"/>
    <p:sldId id="268" r:id="rId9"/>
    <p:sldId id="278" r:id="rId10"/>
    <p:sldId id="269" r:id="rId11"/>
    <p:sldId id="270" r:id="rId12"/>
    <p:sldId id="279" r:id="rId13"/>
    <p:sldId id="280" r:id="rId14"/>
    <p:sldId id="271" r:id="rId15"/>
    <p:sldId id="281" r:id="rId16"/>
    <p:sldId id="355" r:id="rId17"/>
    <p:sldId id="356" r:id="rId18"/>
    <p:sldId id="357" r:id="rId19"/>
    <p:sldId id="369" r:id="rId20"/>
    <p:sldId id="370" r:id="rId21"/>
    <p:sldId id="358" r:id="rId22"/>
    <p:sldId id="371" r:id="rId23"/>
    <p:sldId id="372" r:id="rId24"/>
    <p:sldId id="359" r:id="rId25"/>
    <p:sldId id="360" r:id="rId26"/>
    <p:sldId id="373" r:id="rId27"/>
    <p:sldId id="374" r:id="rId28"/>
    <p:sldId id="361" r:id="rId29"/>
    <p:sldId id="362" r:id="rId30"/>
    <p:sldId id="375" r:id="rId31"/>
    <p:sldId id="363" r:id="rId32"/>
    <p:sldId id="364" r:id="rId33"/>
    <p:sldId id="365" r:id="rId34"/>
    <p:sldId id="366" r:id="rId35"/>
    <p:sldId id="367" r:id="rId36"/>
    <p:sldId id="368" r:id="rId37"/>
  </p:sldIdLst>
  <p:sldSz cx="15240000" cy="85725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162" autoAdjust="0"/>
  </p:normalViewPr>
  <p:slideViewPr>
    <p:cSldViewPr snapToGrid="0">
      <p:cViewPr varScale="1">
        <p:scale>
          <a:sx n="44" d="100"/>
          <a:sy n="44" d="100"/>
        </p:scale>
        <p:origin x="6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88205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Notes Text"/>
          <p:cNvSpPr>
            <a:spLocks noGrp="1"/>
          </p:cNvSpPr>
          <p:nvPr>
            <p:ph type="body" idx="1"/>
          </p:nvPr>
        </p:nvSpPr>
        <p:spPr/>
        <p:txBody>
          <a:bodyPr/>
          <a:lstStyle/>
          <a:p>
            <a:r>
              <a:t>Source: CMA P2 2025.pdf, supplied by the user. The file contains Gleim material with copyright 2024 and Study Units 1–15. Calendar assumes the same start, Friday 16 October 2026, the same Tuesday second day and the same three-month window as the preceding request because the latest date text is truncated. This is a separate alternative source schedule, not 27 additional dates. The PDF has 283 page positions and printed numbering restarts at each unit. Study Units 1–15 appear at PDF pages 1,19,36,48,64,91,114,130,161,172,192,212,231,259,271. Sessions 26–27 are suggested consolidation, not source chapters.</a:t>
            </a:r>
          </a:p>
          <a:p>
            <a:r>
              <a:rPr lang="en-US"/>
              <a:t>Section exam weights: Financial Statement Analysis 20%, Corporate Finance 20%, Decision Analysis 25%, Risk Management 10%, Investment Decisions 10%, Professional Ethics 15%. Total 100%. These apply to each entire section, not to each session or individual study unit. Sources: Wiley CMA Part 2 Study Guide 2023, Introduction printed p. xv (PDF p. 17). CMA P2 2025.pdf, Gleim unit-opening pages at PDF positions 1, 48, 161, 212, 231 and 259. Study dates and allocations unchanged.</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Notes Text"/>
          <p:cNvSpPr>
            <a:spLocks noGrp="1"/>
          </p:cNvSpPr>
          <p:nvPr>
            <p:ph type="body" idx="1"/>
          </p:nvPr>
        </p:nvSpPr>
        <p:spPr/>
        <p:txBody>
          <a:bodyPr/>
          <a:lstStyle/>
          <a:p>
            <a:r>
              <a:rPr dirty="0"/>
              <a:t>Source: user attachment CMA P2 2025.pdf (Gleim material, copyright 2024), unit opening contents and specified PDF page positions. Printed page numbering restarts at each study unit. All subunits in each assigned range are included in original order. Session allocations are proposed, not publisher guidance. Fridays and Tuesdays, 16 October 2026–15 January 2027, Africa/Cairo. No clock time or duration assumed. Sessions 26–27 are optional consolidation activities within the timetable, not additional chapters in the source.</a:t>
            </a:r>
          </a:p>
          <a:p>
            <a:r>
              <a:rPr lang="en-US"/>
              <a:t>Section exam weight: Financial Statement Analysis 20% (Study Units 1–3 combined)</a:t>
            </a:r>
          </a:p>
          <a:p>
            <a:r>
              <a:rPr lang="en-US"/>
              <a:t>Percentages refer to entire exam sections, not this slide or individual sessions. Source weights: Wiley CMA Part 2 Study Guide 2023 Introduction p. xv (PDF p. 17) and CMA P2 2025.pdf Gleim unit introductions at PDF pp. 1,48,161,212,231,259. A 20%, B 20%, C 25%, D 10%, E 10%, F 15%. Review has no additional exam weighting.</a:t>
            </a:r>
          </a:p>
          <a:p>
            <a:r>
              <a:rPr lang="en-US"/>
              <a:t>Unit and numbered subunit titles expanded from the user-supplied CMA P2 2025.pdf unit contents (retrieved earlier). Each subunit appears separately. Full unit titles retained, including both units in session 10. Dates, pages and section weights unchanged.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Notes Text"/>
          <p:cNvSpPr>
            <a:spLocks noGrp="1"/>
          </p:cNvSpPr>
          <p:nvPr>
            <p:ph type="body" idx="1"/>
          </p:nvPr>
        </p:nvSpPr>
        <p:spPr/>
        <p:txBody>
          <a:bodyPr/>
          <a:lstStyle/>
          <a:p>
            <a:r>
              <a:rPr lang="en-US"/>
              <a:t>Financial Statement Analysis</a:t>
            </a:r>
            <a:r>
              <a:t>. </a:t>
            </a:r>
            <a:r>
              <a:rPr lang="en-US"/>
              <a:t>Single-section timetable </a:t>
            </a:r>
            <a:r>
              <a:t>page. </a:t>
            </a:r>
            <a:r>
              <a:rPr lang="en-US"/>
              <a:t>Existing session dates</a:t>
            </a:r>
            <a:r>
              <a:t>, </a:t>
            </a:r>
            <a:r>
              <a:rPr lang="en-US"/>
              <a:t>topics </a:t>
            </a:r>
            <a:r>
              <a:t>and </a:t>
            </a:r>
            <a:r>
              <a:rPr lang="en-US"/>
              <a:t>page references retained</a:t>
            </a:r>
            <a:r>
              <a:t>. </a:t>
            </a:r>
            <a:r>
              <a:rPr lang="en-US"/>
              <a:t>Entire section exam weight: 20%.</a:t>
            </a:r>
          </a:p>
          <a:p>
            <a:r>
              <a:rPr lang="en-US"/>
              <a:t>Source: CMA P2 2025.pdf (Gleim), supplied source and prior timetable.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Notes Text"/>
          <p:cNvSpPr>
            <a:spLocks noGrp="1"/>
          </p:cNvSpPr>
          <p:nvPr>
            <p:ph type="body" idx="1"/>
          </p:nvPr>
        </p:nvSpPr>
        <p:spPr/>
        <p:txBody>
          <a:bodyPr/>
          <a:lstStyle/>
          <a:p>
            <a:r>
              <a:t>Corporate Finance. Single-section timetable page. Existing session dates, topics and page references retained. Entire section exam weight: 20%.</a:t>
            </a:r>
          </a:p>
          <a:p>
            <a:r>
              <a:t>Source: CMA P2 2025.pdf (Gleim), supplied source and prior timetable.</a:t>
            </a:r>
          </a:p>
          <a:p>
            <a:r>
              <a:rPr lang="en-US"/>
              <a:t>Unit and numbered subunit titles expanded from the user-supplied CMA P2 2025.pdf unit contents (retrieved earlier). Each subunit appears separately. Full unit titles retained, including both units in session 10. Dates, pages and section weights unchanged.</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Notes Text"/>
          <p:cNvSpPr>
            <a:spLocks noGrp="1"/>
          </p:cNvSpPr>
          <p:nvPr>
            <p:ph type="body" idx="1"/>
          </p:nvPr>
        </p:nvSpPr>
        <p:spPr/>
        <p:txBody>
          <a:bodyPr/>
          <a:lstStyle/>
          <a:p>
            <a:r>
              <a:t>Source: user attachment CMA P2 2025.pdf (Gleim material, copyright 2024), unit opening contents and specified PDF page positions. Printed page numbering restarts at each study unit. All subunits in each assigned range are included in original order. Session allocations are proposed, not publisher guidance. Fridays and Tuesdays, 16 October 2026–15 January 2027, Africa/Cairo. No clock time or duration assumed. Sessions 26–27 are optional consolidation activities within the timetable, not additional chapters in the source.</a:t>
            </a:r>
          </a:p>
          <a:p>
            <a:r>
              <a:rPr lang="en-US"/>
              <a:t>Section exam weight: Corporate Finance 20% (Study Units 4–8 combined)</a:t>
            </a:r>
          </a:p>
          <a:p>
            <a:r>
              <a:rPr lang="en-US"/>
              <a:t>Percentages refer to entire exam sections, not this slide or individual sessions. Source weights: Wiley CMA Part 2 Study Guide 2023 Introduction p. xv (PDF p. 17) and CMA P2 2025.pdf Gleim unit introductions at PDF pp. 1,48,161,212,231,259. A 20%, B 20%, C 25%, D 10%, E 10%, F 15%. Review has no additional exam weighting.</a:t>
            </a:r>
          </a:p>
          <a:p>
            <a:r>
              <a:rPr lang="en-US"/>
              <a:t>Unit and numbered subunit titles expanded from the user-supplied CMA P2 2025.pdf unit contents (retrieved earlier). Each subunit appears separately. Full unit titles retained, including both units in session 10. Dates, pages and section weights unchanged.</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Notes Text"/>
          <p:cNvSpPr>
            <a:spLocks noGrp="1"/>
          </p:cNvSpPr>
          <p:nvPr>
            <p:ph type="body" idx="1"/>
          </p:nvPr>
        </p:nvSpPr>
        <p:spPr/>
        <p:txBody>
          <a:bodyPr/>
          <a:lstStyle/>
          <a:p>
            <a:r>
              <a:rPr lang="en-US"/>
              <a:t>Corporate Finance</a:t>
            </a:r>
            <a:r>
              <a:t>. </a:t>
            </a:r>
            <a:r>
              <a:rPr lang="en-US"/>
              <a:t>Single-section timetable </a:t>
            </a:r>
            <a:r>
              <a:t>page. </a:t>
            </a:r>
            <a:r>
              <a:rPr lang="en-US"/>
              <a:t>Existing session dates</a:t>
            </a:r>
            <a:r>
              <a:t>, </a:t>
            </a:r>
            <a:r>
              <a:rPr lang="en-US"/>
              <a:t>topics </a:t>
            </a:r>
            <a:r>
              <a:t>and </a:t>
            </a:r>
            <a:r>
              <a:rPr lang="en-US"/>
              <a:t>page references retained</a:t>
            </a:r>
            <a:r>
              <a:t>. </a:t>
            </a:r>
            <a:r>
              <a:rPr lang="en-US"/>
              <a:t>Entire section exam weight: 20%.</a:t>
            </a:r>
          </a:p>
          <a:p>
            <a:r>
              <a:rPr lang="en-US"/>
              <a:t>Source: CMA P2 2025.pdf (Gleim), supplied source and prior timetable.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Notes Text"/>
          <p:cNvSpPr>
            <a:spLocks noGrp="1"/>
          </p:cNvSpPr>
          <p:nvPr>
            <p:ph type="body" idx="1"/>
          </p:nvPr>
        </p:nvSpPr>
        <p:spPr/>
        <p:txBody>
          <a:bodyPr/>
          <a:lstStyle/>
          <a:p>
            <a:r>
              <a:t>Decision Analysis. Single-section timetable page. Existing session dates, topics and page references retained. Entire section exam weight: 25%.</a:t>
            </a:r>
          </a:p>
          <a:p>
            <a:r>
              <a:t>Source: CMA P2 2025.pdf (Gleim), supplied source and prior timetable.</a:t>
            </a:r>
          </a:p>
          <a:p>
            <a:r>
              <a:rPr lang="en-US"/>
              <a:t>Unit and numbered subunit titles expanded from the user-supplied CMA P2 2025.pdf unit contents (retrieved earlier). Each subunit appears separately. Full unit titles retained, including both units in session 10. Dates, pages and section weights unchanged.</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Notes Text"/>
          <p:cNvSpPr>
            <a:spLocks noGrp="1"/>
          </p:cNvSpPr>
          <p:nvPr>
            <p:ph type="body" idx="1"/>
          </p:nvPr>
        </p:nvSpPr>
        <p:spPr/>
        <p:txBody>
          <a:bodyPr/>
          <a:lstStyle/>
          <a:p>
            <a:r>
              <a:rPr dirty="0"/>
              <a:t>Source: user attachment CMA P2 2025.pdf (Gleim material, copyright 2024), unit opening contents and specified PDF page positions. Printed page numbering restarts at each study unit. All subunits in each assigned range are included in original order. Session allocations are proposed, not publisher guidance. Fridays and Tuesdays, 16 October 2026–15 January 2027, Africa/Cairo. No clock time or duration assumed. Sessions 26–27 are optional consolidation activities within the timetable, not additional chapters in the source.</a:t>
            </a:r>
          </a:p>
          <a:p>
            <a:r>
              <a:rPr lang="en-US" dirty="0"/>
              <a:t>Section exam weight: Decision Analysis 25% (Study Units 9–11 combined)</a:t>
            </a:r>
          </a:p>
          <a:p>
            <a:r>
              <a:rPr lang="en-US" dirty="0"/>
              <a:t>Percentages refer to entire exam sections, not this slide or individual sessions. Source weights: Wiley CMA Part 2 Study Guide 2023 Introduction p. xv (PDF p. 17) and CMA P2 2025.pdf Gleim unit introductions at PDF pp. 1,48,161,212,231,259. A 20%, B 20%, C 25%, D 10%, E 10%, F 15%. Review has no additional exam weighting.</a:t>
            </a:r>
          </a:p>
          <a:p>
            <a:r>
              <a:rPr lang="en-US"/>
              <a:t>Unit and numbered subunit titles expanded from the user-supplied CMA P2 2025.pdf unit contents (retrieved earlier). Each subunit appears separately. Full unit titles retained, including both units in session 10. Dates, pages and section weights unchanged.</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Notes Text"/>
          <p:cNvSpPr>
            <a:spLocks noGrp="1"/>
          </p:cNvSpPr>
          <p:nvPr>
            <p:ph type="body" idx="1"/>
          </p:nvPr>
        </p:nvSpPr>
        <p:spPr/>
        <p:txBody>
          <a:bodyPr/>
          <a:lstStyle/>
          <a:p>
            <a:r>
              <a:rPr lang="en-US"/>
              <a:t>Risk Management</a:t>
            </a:r>
            <a:r>
              <a:t>. </a:t>
            </a:r>
            <a:r>
              <a:rPr lang="en-US"/>
              <a:t>Single-section timetable </a:t>
            </a:r>
            <a:r>
              <a:t>page. </a:t>
            </a:r>
            <a:r>
              <a:rPr lang="en-US"/>
              <a:t>Existing session dates</a:t>
            </a:r>
            <a:r>
              <a:t>, </a:t>
            </a:r>
            <a:r>
              <a:rPr lang="en-US"/>
              <a:t>topics </a:t>
            </a:r>
            <a:r>
              <a:t>and </a:t>
            </a:r>
            <a:r>
              <a:rPr lang="en-US"/>
              <a:t>page references retained</a:t>
            </a:r>
            <a:r>
              <a:t>. </a:t>
            </a:r>
            <a:r>
              <a:rPr lang="en-US"/>
              <a:t>Entire section exam weight: 10%.</a:t>
            </a:r>
          </a:p>
          <a:p>
            <a:r>
              <a:rPr lang="en-US"/>
              <a:t>Source: CMA P2 2025.pdf (Gleim), supplied source and prior timetable.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Notes Text"/>
          <p:cNvSpPr>
            <a:spLocks noGrp="1"/>
          </p:cNvSpPr>
          <p:nvPr>
            <p:ph type="body" idx="1"/>
          </p:nvPr>
        </p:nvSpPr>
        <p:spPr/>
        <p:txBody>
          <a:bodyPr/>
          <a:lstStyle/>
          <a:p>
            <a:r>
              <a:t>Investment Decisions. Single-section timetable page. Existing session dates, topics and page references retained. Entire section exam weight: 10%.</a:t>
            </a:r>
          </a:p>
          <a:p>
            <a:r>
              <a:t>Source: CMA P2 2025.pdf (Gleim), supplied source and prior timetable.</a:t>
            </a:r>
          </a:p>
          <a:p>
            <a:r>
              <a:rPr lang="en-US"/>
              <a:t>Unit and numbered subunit titles expanded from the user-supplied CMA P2 2025.pdf unit contents (retrieved earlier). Each subunit appears separately. Full unit titles retained, including both units in session 10. Dates, pages and section weights unchanged.</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Notes Text"/>
          <p:cNvSpPr>
            <a:spLocks noGrp="1"/>
          </p:cNvSpPr>
          <p:nvPr>
            <p:ph type="body" idx="1"/>
          </p:nvPr>
        </p:nvSpPr>
        <p:spPr/>
        <p:txBody>
          <a:bodyPr/>
          <a:lstStyle/>
          <a:p>
            <a:r>
              <a:t>Professional Ethics. Single-section timetable page. Existing session dates, topics and page references retained. Entire section exam weight: 15%.</a:t>
            </a:r>
          </a:p>
          <a:p>
            <a:r>
              <a:t>Source: CMA P2 2025.pdf (Gleim), supplied source and prior timetable.</a:t>
            </a:r>
          </a:p>
          <a:p>
            <a:r>
              <a:rPr lang="en-US"/>
              <a:t>Unit and numbered subunit titles expanded from the user-supplied CMA P2 2025.pdf unit contents (retrieved earlier). Each subunit appears separately. Full unit titles retained, including both units in session 10. Dates, pages and section weights unchanged.</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Notes Text"/>
          <p:cNvSpPr>
            <a:spLocks noGrp="1"/>
          </p:cNvSpPr>
          <p:nvPr>
            <p:ph type="body" idx="1"/>
          </p:nvPr>
        </p:nvSpPr>
        <p:spPr/>
        <p:txBody>
          <a:bodyPr/>
          <a:lstStyle/>
          <a:p>
            <a:r>
              <a:rPr lang="en-US"/>
              <a:t>Professional Ethics</a:t>
            </a:r>
            <a:r>
              <a:t>. </a:t>
            </a:r>
            <a:r>
              <a:rPr lang="en-US"/>
              <a:t>Single-section timetable </a:t>
            </a:r>
            <a:r>
              <a:t>page. </a:t>
            </a:r>
            <a:r>
              <a:rPr lang="en-US"/>
              <a:t>Existing session dates</a:t>
            </a:r>
            <a:r>
              <a:t>, </a:t>
            </a:r>
            <a:r>
              <a:rPr lang="en-US"/>
              <a:t>topics </a:t>
            </a:r>
            <a:r>
              <a:t>and </a:t>
            </a:r>
            <a:r>
              <a:rPr lang="en-US"/>
              <a:t>page references retained</a:t>
            </a:r>
            <a:r>
              <a:t>. </a:t>
            </a:r>
            <a:r>
              <a:rPr lang="en-US"/>
              <a:t>Entire section exam weight: 15%.</a:t>
            </a:r>
          </a:p>
          <a:p>
            <a:r>
              <a:rPr lang="en-US"/>
              <a:t>Source: CMA P2 2025.pdf (Gleim), supplied source and prior timetable.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Notes Text"/>
          <p:cNvSpPr>
            <a:spLocks noGrp="1"/>
          </p:cNvSpPr>
          <p:nvPr>
            <p:ph type="body" idx="1"/>
          </p:nvPr>
        </p:nvSpPr>
        <p:spPr/>
        <p:txBody>
          <a:bodyPr/>
          <a:lstStyle/>
          <a:p>
            <a:r>
              <a:t>Final Consolidation. Single-section timetable page. Existing session dates, topics and page references retained. This page contains final review activities only.</a:t>
            </a:r>
          </a:p>
          <a:p>
            <a:r>
              <a:t>Source: CMA P2 2025.pdf (Gleim), supplied source and prior timetable.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cNvSpPr>
            <a:spLocks noGrp="1"/>
          </p:cNvSpPr>
          <p:nvPr>
            <p:ph type="body" idx="1"/>
          </p:nvPr>
        </p:nvSpPr>
        <p:spPr/>
        <p:txBody>
          <a:bodyPr/>
          <a:lstStyle/>
          <a:p>
            <a:r>
              <a:t>Sources: User-supplied Part 1 course outline, original slides 1–4.</a:t>
            </a:r>
          </a:p>
          <a:p>
            <a:r>
              <a:t>Proposed study allocation and practice activities. Start date: Friday 12 February 2027, explicitly selected by the user. Regular sessions are Tuesdays and Fridays. Source outline contains no book page numbers, so the table uses unit/subunit references. All original slides remain unchanged.</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cNvSpPr>
            <a:spLocks noGrp="1"/>
          </p:cNvSpPr>
          <p:nvPr>
            <p:ph type="body" idx="1"/>
          </p:nvPr>
        </p:nvSpPr>
        <p:spPr/>
        <p:txBody>
          <a:bodyPr/>
          <a:lstStyle/>
          <a:p>
            <a:r>
              <a:rPr lang="en-US"/>
              <a:t>Source</a:t>
            </a:r>
            <a:r>
              <a:t>: </a:t>
            </a:r>
            <a:r>
              <a:rPr lang="en-US"/>
              <a:t>Existing </a:t>
            </a:r>
            <a:r>
              <a:t>Part 1 </a:t>
            </a:r>
            <a:r>
              <a:rPr lang="en-US"/>
              <a:t>timetable and its supplied </a:t>
            </a:r>
            <a:r>
              <a:t>course outline.</a:t>
            </a:r>
            <a:r>
              <a:rPr lang="en-US"/>
              <a:t> The user requested 13 additional lectures. This proposed </a:t>
            </a:r>
            <a:r>
              <a:t>allocation </a:t>
            </a:r>
            <a:r>
              <a:rPr lang="en-US"/>
              <a:t>has 36 teaching lectures, one introduction </a:t>
            </a:r>
            <a:r>
              <a:t>and </a:t>
            </a:r>
            <a:r>
              <a:rPr lang="en-US"/>
              <a:t>three reviews</a:t>
            </a:r>
            <a:r>
              <a:t>, </a:t>
            </a:r>
            <a:r>
              <a:rPr lang="en-US"/>
              <a:t>for 40 total </a:t>
            </a:r>
            <a:r>
              <a:t>sessions. </a:t>
            </a:r>
            <a:r>
              <a:rPr lang="en-US"/>
              <a:t>Units 1–5, 7–10, 12–16</a:t>
            </a:r>
            <a:r>
              <a:t>, </a:t>
            </a:r>
            <a:r>
              <a:rPr lang="en-US"/>
              <a:t>18 and 19 each have two lectures. All existing subunit coverage and </a:t>
            </a:r>
            <a:r>
              <a:t>the </a:t>
            </a:r>
            <a:r>
              <a:rPr lang="en-US"/>
              <a:t>original </a:t>
            </a:r>
            <a:r>
              <a:t>unit</a:t>
            </a:r>
            <a:r>
              <a:rPr lang="en-US"/>
              <a:t> order are retained. Sessions follow Tuesday</a:t>
            </a:r>
            <a:r>
              <a:t>/</a:t>
            </a:r>
            <a:r>
              <a:rPr lang="en-US"/>
              <a:t>Friday from 12 February 2027</a:t>
            </a:r>
            <a:r>
              <a:t>. </a:t>
            </a:r>
            <a:r>
              <a:rPr lang="en-US"/>
              <a:t>Part 2 is</a:t>
            </a:r>
            <a:r>
              <a:t> unchanged.</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cNvSpPr>
            <a:spLocks noGrp="1"/>
          </p:cNvSpPr>
          <p:nvPr>
            <p:ph type="body" idx="1"/>
          </p:nvPr>
        </p:nvSpPr>
        <p:spPr/>
        <p:txBody>
          <a:bodyPr/>
          <a:lstStyle/>
          <a:p>
            <a:r>
              <a:rPr lang="en-US"/>
              <a:t>Source</a:t>
            </a:r>
            <a:r>
              <a:t>: </a:t>
            </a:r>
            <a:r>
              <a:rPr lang="en-US"/>
              <a:t>Existing </a:t>
            </a:r>
            <a:r>
              <a:t>Part 1 </a:t>
            </a:r>
            <a:r>
              <a:rPr lang="en-US"/>
              <a:t>timetable and its supplied </a:t>
            </a:r>
            <a:r>
              <a:t>course outline.</a:t>
            </a:r>
            <a:r>
              <a:rPr lang="en-US"/>
              <a:t> The user requested 13 additional lectures. This proposed </a:t>
            </a:r>
            <a:r>
              <a:t>allocation </a:t>
            </a:r>
            <a:r>
              <a:rPr lang="en-US"/>
              <a:t>has 36 teaching lectures, one introduction </a:t>
            </a:r>
            <a:r>
              <a:t>and </a:t>
            </a:r>
            <a:r>
              <a:rPr lang="en-US"/>
              <a:t>three reviews</a:t>
            </a:r>
            <a:r>
              <a:t>, </a:t>
            </a:r>
            <a:r>
              <a:rPr lang="en-US"/>
              <a:t>for 40 total </a:t>
            </a:r>
            <a:r>
              <a:t>sessions. </a:t>
            </a:r>
            <a:r>
              <a:rPr lang="en-US"/>
              <a:t>Units 1–5, 7–10, 12–16</a:t>
            </a:r>
            <a:r>
              <a:t>, </a:t>
            </a:r>
            <a:r>
              <a:rPr lang="en-US"/>
              <a:t>18 and 19 each have two lectures. All existing subunit coverage and </a:t>
            </a:r>
            <a:r>
              <a:t>the </a:t>
            </a:r>
            <a:r>
              <a:rPr lang="en-US"/>
              <a:t>original </a:t>
            </a:r>
            <a:r>
              <a:t>unit</a:t>
            </a:r>
            <a:r>
              <a:rPr lang="en-US"/>
              <a:t> order are retained. Sessions follow Tuesday</a:t>
            </a:r>
            <a:r>
              <a:t>/</a:t>
            </a:r>
            <a:r>
              <a:rPr lang="en-US"/>
              <a:t>Friday from 12 February 2027</a:t>
            </a:r>
            <a:r>
              <a:t>. </a:t>
            </a:r>
            <a:r>
              <a:rPr lang="en-US"/>
              <a:t>Part 2 is</a:t>
            </a:r>
            <a:r>
              <a:t> unchanged.</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cNvSpPr>
            <a:spLocks noGrp="1"/>
          </p:cNvSpPr>
          <p:nvPr>
            <p:ph type="body" idx="1"/>
          </p:nvPr>
        </p:nvSpPr>
        <p:spPr/>
        <p:txBody>
          <a:bodyPr/>
          <a:lstStyle/>
          <a:p>
            <a:r>
              <a:rPr lang="en-US"/>
              <a:t>Source</a:t>
            </a:r>
            <a:r>
              <a:t>: </a:t>
            </a:r>
            <a:r>
              <a:rPr lang="en-US"/>
              <a:t>Existing </a:t>
            </a:r>
            <a:r>
              <a:t>Part 1 </a:t>
            </a:r>
            <a:r>
              <a:rPr lang="en-US"/>
              <a:t>timetable and its supplied </a:t>
            </a:r>
            <a:r>
              <a:t>course outline.</a:t>
            </a:r>
            <a:r>
              <a:rPr lang="en-US"/>
              <a:t> The user requested 13 additional lectures. This proposed </a:t>
            </a:r>
            <a:r>
              <a:t>allocation </a:t>
            </a:r>
            <a:r>
              <a:rPr lang="en-US"/>
              <a:t>has 36 teaching lectures, one introduction </a:t>
            </a:r>
            <a:r>
              <a:t>and </a:t>
            </a:r>
            <a:r>
              <a:rPr lang="en-US"/>
              <a:t>three reviews</a:t>
            </a:r>
            <a:r>
              <a:t>, </a:t>
            </a:r>
            <a:r>
              <a:rPr lang="en-US"/>
              <a:t>for 40 total </a:t>
            </a:r>
            <a:r>
              <a:t>sessions. </a:t>
            </a:r>
            <a:r>
              <a:rPr lang="en-US"/>
              <a:t>Units 1–5, 7–10, 12–16</a:t>
            </a:r>
            <a:r>
              <a:t>, </a:t>
            </a:r>
            <a:r>
              <a:rPr lang="en-US"/>
              <a:t>18 and 19 each have two lectures. All existing subunit coverage and </a:t>
            </a:r>
            <a:r>
              <a:t>the </a:t>
            </a:r>
            <a:r>
              <a:rPr lang="en-US"/>
              <a:t>original </a:t>
            </a:r>
            <a:r>
              <a:t>unit</a:t>
            </a:r>
            <a:r>
              <a:rPr lang="en-US"/>
              <a:t> order are retained. Sessions follow Tuesday</a:t>
            </a:r>
            <a:r>
              <a:t>/</a:t>
            </a:r>
            <a:r>
              <a:rPr lang="en-US"/>
              <a:t>Friday from 12 February 2027</a:t>
            </a:r>
            <a:r>
              <a:t>. </a:t>
            </a:r>
            <a:r>
              <a:rPr lang="en-US"/>
              <a:t>Part 2 is</a:t>
            </a:r>
            <a:r>
              <a:t> unchanged.</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cNvSpPr>
            <a:spLocks noGrp="1"/>
          </p:cNvSpPr>
          <p:nvPr>
            <p:ph type="body" idx="1"/>
          </p:nvPr>
        </p:nvSpPr>
        <p:spPr/>
        <p:txBody>
          <a:bodyPr/>
          <a:lstStyle/>
          <a:p>
            <a:r>
              <a:rPr lang="en-US"/>
              <a:t>Source</a:t>
            </a:r>
            <a:r>
              <a:t>: </a:t>
            </a:r>
            <a:r>
              <a:rPr lang="en-US"/>
              <a:t>Existing </a:t>
            </a:r>
            <a:r>
              <a:t>Part 1 </a:t>
            </a:r>
            <a:r>
              <a:rPr lang="en-US"/>
              <a:t>timetable and its supplied </a:t>
            </a:r>
            <a:r>
              <a:t>course outline.</a:t>
            </a:r>
            <a:r>
              <a:rPr lang="en-US"/>
              <a:t> The user requested 13 additional lectures. This proposed </a:t>
            </a:r>
            <a:r>
              <a:t>allocation </a:t>
            </a:r>
            <a:r>
              <a:rPr lang="en-US"/>
              <a:t>has 36 teaching lectures, one introduction </a:t>
            </a:r>
            <a:r>
              <a:t>and </a:t>
            </a:r>
            <a:r>
              <a:rPr lang="en-US"/>
              <a:t>three reviews</a:t>
            </a:r>
            <a:r>
              <a:t>, </a:t>
            </a:r>
            <a:r>
              <a:rPr lang="en-US"/>
              <a:t>for 40 total </a:t>
            </a:r>
            <a:r>
              <a:t>sessions. </a:t>
            </a:r>
            <a:r>
              <a:rPr lang="en-US"/>
              <a:t>Units 1–5, 7–10, 12–16</a:t>
            </a:r>
            <a:r>
              <a:t>, </a:t>
            </a:r>
            <a:r>
              <a:rPr lang="en-US"/>
              <a:t>18 and 19 each have two lectures. All existing subunit coverage and </a:t>
            </a:r>
            <a:r>
              <a:t>the </a:t>
            </a:r>
            <a:r>
              <a:rPr lang="en-US"/>
              <a:t>original </a:t>
            </a:r>
            <a:r>
              <a:t>unit</a:t>
            </a:r>
            <a:r>
              <a:rPr lang="en-US"/>
              <a:t> order are retained. Sessions follow Tuesday</a:t>
            </a:r>
            <a:r>
              <a:t>/</a:t>
            </a:r>
            <a:r>
              <a:rPr lang="en-US"/>
              <a:t>Friday from 12 February 2027</a:t>
            </a:r>
            <a:r>
              <a:t>. </a:t>
            </a:r>
            <a:r>
              <a:rPr lang="en-US"/>
              <a:t>Part 2 is</a:t>
            </a:r>
            <a:r>
              <a:t> unchanged.</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cNvSpPr>
            <a:spLocks noGrp="1"/>
          </p:cNvSpPr>
          <p:nvPr>
            <p:ph type="body" idx="1"/>
          </p:nvPr>
        </p:nvSpPr>
        <p:spPr/>
        <p:txBody>
          <a:bodyPr/>
          <a:lstStyle/>
          <a:p>
            <a:r>
              <a:rPr lang="en-US"/>
              <a:t>Source</a:t>
            </a:r>
            <a:r>
              <a:t>: </a:t>
            </a:r>
            <a:r>
              <a:rPr lang="en-US"/>
              <a:t>Existing </a:t>
            </a:r>
            <a:r>
              <a:t>Part 1 </a:t>
            </a:r>
            <a:r>
              <a:rPr lang="en-US"/>
              <a:t>timetable and its supplied </a:t>
            </a:r>
            <a:r>
              <a:t>course outline.</a:t>
            </a:r>
            <a:r>
              <a:rPr lang="en-US"/>
              <a:t> The user requested 13 additional lectures. This proposed </a:t>
            </a:r>
            <a:r>
              <a:t>allocation </a:t>
            </a:r>
            <a:r>
              <a:rPr lang="en-US"/>
              <a:t>has 36 teaching lectures, one introduction </a:t>
            </a:r>
            <a:r>
              <a:t>and </a:t>
            </a:r>
            <a:r>
              <a:rPr lang="en-US"/>
              <a:t>three reviews</a:t>
            </a:r>
            <a:r>
              <a:t>, </a:t>
            </a:r>
            <a:r>
              <a:rPr lang="en-US"/>
              <a:t>for 40 total </a:t>
            </a:r>
            <a:r>
              <a:t>sessions. </a:t>
            </a:r>
            <a:r>
              <a:rPr lang="en-US"/>
              <a:t>Units 1–5, 7–10, 12–16</a:t>
            </a:r>
            <a:r>
              <a:t>, </a:t>
            </a:r>
            <a:r>
              <a:rPr lang="en-US"/>
              <a:t>18 and 19 each have two lectures. All existing subunit coverage and </a:t>
            </a:r>
            <a:r>
              <a:t>the </a:t>
            </a:r>
            <a:r>
              <a:rPr lang="en-US"/>
              <a:t>original </a:t>
            </a:r>
            <a:r>
              <a:t>unit</a:t>
            </a:r>
            <a:r>
              <a:rPr lang="en-US"/>
              <a:t> order are retained. Sessions follow Tuesday</a:t>
            </a:r>
            <a:r>
              <a:t>/</a:t>
            </a:r>
            <a:r>
              <a:rPr lang="en-US"/>
              <a:t>Friday from 12 February 2027</a:t>
            </a:r>
            <a:r>
              <a:t>. </a:t>
            </a:r>
            <a:r>
              <a:rPr lang="en-US"/>
              <a:t>Part 2 is</a:t>
            </a:r>
            <a:r>
              <a:t> unchanged.</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cNvSpPr>
            <a:spLocks noGrp="1"/>
          </p:cNvSpPr>
          <p:nvPr>
            <p:ph type="body" idx="1"/>
          </p:nvPr>
        </p:nvSpPr>
        <p:spPr/>
        <p:txBody>
          <a:bodyPr/>
          <a:lstStyle/>
          <a:p>
            <a:r>
              <a:rPr lang="en-US"/>
              <a:t>Source</a:t>
            </a:r>
            <a:r>
              <a:t>: </a:t>
            </a:r>
            <a:r>
              <a:rPr lang="en-US"/>
              <a:t>Existing </a:t>
            </a:r>
            <a:r>
              <a:t>Part 1 </a:t>
            </a:r>
            <a:r>
              <a:rPr lang="en-US"/>
              <a:t>timetable and its supplied </a:t>
            </a:r>
            <a:r>
              <a:t>course outline.</a:t>
            </a:r>
            <a:r>
              <a:rPr lang="en-US"/>
              <a:t> The user requested 13 additional lectures. This proposed </a:t>
            </a:r>
            <a:r>
              <a:t>allocation </a:t>
            </a:r>
            <a:r>
              <a:rPr lang="en-US"/>
              <a:t>has 36 teaching lectures, one introduction </a:t>
            </a:r>
            <a:r>
              <a:t>and </a:t>
            </a:r>
            <a:r>
              <a:rPr lang="en-US"/>
              <a:t>three reviews</a:t>
            </a:r>
            <a:r>
              <a:t>, </a:t>
            </a:r>
            <a:r>
              <a:rPr lang="en-US"/>
              <a:t>for 40 total </a:t>
            </a:r>
            <a:r>
              <a:t>sessions. </a:t>
            </a:r>
            <a:r>
              <a:rPr lang="en-US"/>
              <a:t>Units 1–5, 7–10, 12–16</a:t>
            </a:r>
            <a:r>
              <a:t>, </a:t>
            </a:r>
            <a:r>
              <a:rPr lang="en-US"/>
              <a:t>18 and 19 each have two lectures. All existing subunit coverage and </a:t>
            </a:r>
            <a:r>
              <a:t>the </a:t>
            </a:r>
            <a:r>
              <a:rPr lang="en-US"/>
              <a:t>original </a:t>
            </a:r>
            <a:r>
              <a:t>unit</a:t>
            </a:r>
            <a:r>
              <a:rPr lang="en-US"/>
              <a:t> order are retained. Sessions follow Tuesday</a:t>
            </a:r>
            <a:r>
              <a:t>/</a:t>
            </a:r>
            <a:r>
              <a:rPr lang="en-US"/>
              <a:t>Friday from 12 February 2027</a:t>
            </a:r>
            <a:r>
              <a:t>. </a:t>
            </a:r>
            <a:r>
              <a:rPr lang="en-US"/>
              <a:t>Part 2 is</a:t>
            </a:r>
            <a:r>
              <a:t> unchanged.</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cNvSpPr>
            <a:spLocks noGrp="1"/>
          </p:cNvSpPr>
          <p:nvPr>
            <p:ph type="body" idx="1"/>
          </p:nvPr>
        </p:nvSpPr>
        <p:spPr/>
        <p:txBody>
          <a:bodyPr/>
          <a:lstStyle/>
          <a:p>
            <a:r>
              <a:rPr lang="en-US"/>
              <a:t>Source</a:t>
            </a:r>
            <a:r>
              <a:t>: </a:t>
            </a:r>
            <a:r>
              <a:rPr lang="en-US"/>
              <a:t>Existing </a:t>
            </a:r>
            <a:r>
              <a:t>Part 1 </a:t>
            </a:r>
            <a:r>
              <a:rPr lang="en-US"/>
              <a:t>timetable and its supplied </a:t>
            </a:r>
            <a:r>
              <a:t>course outline.</a:t>
            </a:r>
            <a:r>
              <a:rPr lang="en-US"/>
              <a:t> The user requested 13 additional lectures. This proposed </a:t>
            </a:r>
            <a:r>
              <a:t>allocation </a:t>
            </a:r>
            <a:r>
              <a:rPr lang="en-US"/>
              <a:t>has 36 teaching lectures, one introduction </a:t>
            </a:r>
            <a:r>
              <a:t>and </a:t>
            </a:r>
            <a:r>
              <a:rPr lang="en-US"/>
              <a:t>three reviews</a:t>
            </a:r>
            <a:r>
              <a:t>, </a:t>
            </a:r>
            <a:r>
              <a:rPr lang="en-US"/>
              <a:t>for 40 total </a:t>
            </a:r>
            <a:r>
              <a:t>sessions. </a:t>
            </a:r>
            <a:r>
              <a:rPr lang="en-US"/>
              <a:t>Units 1–5, 7–10, 12–16</a:t>
            </a:r>
            <a:r>
              <a:t>, </a:t>
            </a:r>
            <a:r>
              <a:rPr lang="en-US"/>
              <a:t>18 and 19 each have two lectures. All existing subunit coverage and </a:t>
            </a:r>
            <a:r>
              <a:t>the </a:t>
            </a:r>
            <a:r>
              <a:rPr lang="en-US"/>
              <a:t>original </a:t>
            </a:r>
            <a:r>
              <a:t>unit</a:t>
            </a:r>
            <a:r>
              <a:rPr lang="en-US"/>
              <a:t> order are retained. Sessions follow Tuesday</a:t>
            </a:r>
            <a:r>
              <a:t>/</a:t>
            </a:r>
            <a:r>
              <a:rPr lang="en-US"/>
              <a:t>Friday from 12 February 2027</a:t>
            </a:r>
            <a:r>
              <a:t>. </a:t>
            </a:r>
            <a:r>
              <a:rPr lang="en-US"/>
              <a:t>Part 2 is</a:t>
            </a:r>
            <a:r>
              <a:t> unchanged.</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cNvSpPr>
            <a:spLocks noGrp="1"/>
          </p:cNvSpPr>
          <p:nvPr>
            <p:ph type="body" idx="1"/>
          </p:nvPr>
        </p:nvSpPr>
        <p:spPr/>
        <p:txBody>
          <a:bodyPr/>
          <a:lstStyle/>
          <a:p>
            <a:r>
              <a:rPr lang="en-US"/>
              <a:t>Source</a:t>
            </a:r>
            <a:r>
              <a:t>: </a:t>
            </a:r>
            <a:r>
              <a:rPr lang="en-US"/>
              <a:t>Existing </a:t>
            </a:r>
            <a:r>
              <a:t>Part 1 </a:t>
            </a:r>
            <a:r>
              <a:rPr lang="en-US"/>
              <a:t>timetable and its supplied </a:t>
            </a:r>
            <a:r>
              <a:t>course outline.</a:t>
            </a:r>
            <a:r>
              <a:rPr lang="en-US"/>
              <a:t> The user requested 13 additional lectures. This proposed </a:t>
            </a:r>
            <a:r>
              <a:t>allocation </a:t>
            </a:r>
            <a:r>
              <a:rPr lang="en-US"/>
              <a:t>has 36 teaching lectures, one introduction </a:t>
            </a:r>
            <a:r>
              <a:t>and </a:t>
            </a:r>
            <a:r>
              <a:rPr lang="en-US"/>
              <a:t>three reviews</a:t>
            </a:r>
            <a:r>
              <a:t>, </a:t>
            </a:r>
            <a:r>
              <a:rPr lang="en-US"/>
              <a:t>for 40 total </a:t>
            </a:r>
            <a:r>
              <a:t>sessions. </a:t>
            </a:r>
            <a:r>
              <a:rPr lang="en-US"/>
              <a:t>Units 1–5, 7–10, 12–16</a:t>
            </a:r>
            <a:r>
              <a:t>, </a:t>
            </a:r>
            <a:r>
              <a:rPr lang="en-US"/>
              <a:t>18 and 19 each have two lectures. All existing subunit coverage and </a:t>
            </a:r>
            <a:r>
              <a:t>the </a:t>
            </a:r>
            <a:r>
              <a:rPr lang="en-US"/>
              <a:t>original </a:t>
            </a:r>
            <a:r>
              <a:t>unit</a:t>
            </a:r>
            <a:r>
              <a:rPr lang="en-US"/>
              <a:t> order are retained. Sessions follow Tuesday</a:t>
            </a:r>
            <a:r>
              <a:t>/</a:t>
            </a:r>
            <a:r>
              <a:rPr lang="en-US"/>
              <a:t>Friday from 12 February 2027</a:t>
            </a:r>
            <a:r>
              <a:t>. </a:t>
            </a:r>
            <a:r>
              <a:rPr lang="en-US"/>
              <a:t>Part 2 is</a:t>
            </a:r>
            <a:r>
              <a:t> unchanged.</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cNvSpPr>
            <a:spLocks noGrp="1"/>
          </p:cNvSpPr>
          <p:nvPr>
            <p:ph type="body" idx="1"/>
          </p:nvPr>
        </p:nvSpPr>
        <p:spPr/>
        <p:txBody>
          <a:bodyPr/>
          <a:lstStyle/>
          <a:p>
            <a:r>
              <a:rPr lang="en-US"/>
              <a:t>Source</a:t>
            </a:r>
            <a:r>
              <a:t>: </a:t>
            </a:r>
            <a:r>
              <a:rPr lang="en-US"/>
              <a:t>Existing </a:t>
            </a:r>
            <a:r>
              <a:t>Part 1 </a:t>
            </a:r>
            <a:r>
              <a:rPr lang="en-US"/>
              <a:t>timetable and its supplied </a:t>
            </a:r>
            <a:r>
              <a:t>course outline.</a:t>
            </a:r>
            <a:r>
              <a:rPr lang="en-US"/>
              <a:t> The user requested 13 additional lectures. This proposed </a:t>
            </a:r>
            <a:r>
              <a:t>allocation </a:t>
            </a:r>
            <a:r>
              <a:rPr lang="en-US"/>
              <a:t>has 36 teaching lectures, one introduction </a:t>
            </a:r>
            <a:r>
              <a:t>and </a:t>
            </a:r>
            <a:r>
              <a:rPr lang="en-US"/>
              <a:t>three reviews</a:t>
            </a:r>
            <a:r>
              <a:t>, </a:t>
            </a:r>
            <a:r>
              <a:rPr lang="en-US"/>
              <a:t>for 40 total </a:t>
            </a:r>
            <a:r>
              <a:t>sessions. </a:t>
            </a:r>
            <a:r>
              <a:rPr lang="en-US"/>
              <a:t>Units 1–5, 7–10, 12–16</a:t>
            </a:r>
            <a:r>
              <a:t>, </a:t>
            </a:r>
            <a:r>
              <a:rPr lang="en-US"/>
              <a:t>18 and 19 each have two lectures. All existing subunit coverage and </a:t>
            </a:r>
            <a:r>
              <a:t>the </a:t>
            </a:r>
            <a:r>
              <a:rPr lang="en-US"/>
              <a:t>original </a:t>
            </a:r>
            <a:r>
              <a:t>unit</a:t>
            </a:r>
            <a:r>
              <a:rPr lang="en-US"/>
              <a:t> order are retained. Sessions follow Tuesday</a:t>
            </a:r>
            <a:r>
              <a:t>/</a:t>
            </a:r>
            <a:r>
              <a:rPr lang="en-US"/>
              <a:t>Friday from 12 February 2027</a:t>
            </a:r>
            <a:r>
              <a:t>. </a:t>
            </a:r>
            <a:r>
              <a:rPr lang="en-US"/>
              <a:t>Part 2 is</a:t>
            </a:r>
            <a:r>
              <a:t> unchanged.</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cNvSpPr>
            <a:spLocks noGrp="1"/>
          </p:cNvSpPr>
          <p:nvPr>
            <p:ph type="body" idx="1"/>
          </p:nvPr>
        </p:nvSpPr>
        <p:spPr/>
        <p:txBody>
          <a:bodyPr/>
          <a:lstStyle/>
          <a:p>
            <a:r>
              <a:rPr lang="en-US"/>
              <a:t>Source</a:t>
            </a:r>
            <a:r>
              <a:t>: </a:t>
            </a:r>
            <a:r>
              <a:rPr lang="en-US"/>
              <a:t>Existing </a:t>
            </a:r>
            <a:r>
              <a:t>Part 1 </a:t>
            </a:r>
            <a:r>
              <a:rPr lang="en-US"/>
              <a:t>timetable and its supplied </a:t>
            </a:r>
            <a:r>
              <a:t>course outline.</a:t>
            </a:r>
            <a:r>
              <a:rPr lang="en-US"/>
              <a:t> The user requested 13 additional lectures. This proposed </a:t>
            </a:r>
            <a:r>
              <a:t>allocation </a:t>
            </a:r>
            <a:r>
              <a:rPr lang="en-US"/>
              <a:t>has 36 teaching lectures, one introduction </a:t>
            </a:r>
            <a:r>
              <a:t>and </a:t>
            </a:r>
            <a:r>
              <a:rPr lang="en-US"/>
              <a:t>three reviews</a:t>
            </a:r>
            <a:r>
              <a:t>, </a:t>
            </a:r>
            <a:r>
              <a:rPr lang="en-US"/>
              <a:t>for 40 total </a:t>
            </a:r>
            <a:r>
              <a:t>sessions. </a:t>
            </a:r>
            <a:r>
              <a:rPr lang="en-US"/>
              <a:t>Units 1–5, 7–10, 12–16</a:t>
            </a:r>
            <a:r>
              <a:t>, </a:t>
            </a:r>
            <a:r>
              <a:rPr lang="en-US"/>
              <a:t>18 and 19 each have two lectures. All existing subunit coverage and </a:t>
            </a:r>
            <a:r>
              <a:t>the </a:t>
            </a:r>
            <a:r>
              <a:rPr lang="en-US"/>
              <a:t>original </a:t>
            </a:r>
            <a:r>
              <a:t>unit</a:t>
            </a:r>
            <a:r>
              <a:rPr lang="en-US"/>
              <a:t> order are retained. Sessions follow Tuesday</a:t>
            </a:r>
            <a:r>
              <a:t>/</a:t>
            </a:r>
            <a:r>
              <a:rPr lang="en-US"/>
              <a:t>Friday from 12 February 2027</a:t>
            </a:r>
            <a:r>
              <a:t>. </a:t>
            </a:r>
            <a:r>
              <a:rPr lang="en-US"/>
              <a:t>Part 2 is</a:t>
            </a:r>
            <a:r>
              <a:t> unchanged.</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cNvSpPr>
            <a:spLocks noGrp="1"/>
          </p:cNvSpPr>
          <p:nvPr>
            <p:ph type="body" idx="1"/>
          </p:nvPr>
        </p:nvSpPr>
        <p:spPr/>
        <p:txBody>
          <a:bodyPr/>
          <a:lstStyle/>
          <a:p>
            <a:r>
              <a:rPr lang="en-US"/>
              <a:t>Source</a:t>
            </a:r>
            <a:r>
              <a:t>: </a:t>
            </a:r>
            <a:r>
              <a:rPr lang="en-US"/>
              <a:t>Existing </a:t>
            </a:r>
            <a:r>
              <a:t>Part 1 </a:t>
            </a:r>
            <a:r>
              <a:rPr lang="en-US"/>
              <a:t>timetable and its supplied </a:t>
            </a:r>
            <a:r>
              <a:t>course outline.</a:t>
            </a:r>
            <a:r>
              <a:rPr lang="en-US"/>
              <a:t> The user requested 13 additional lectures. This proposed </a:t>
            </a:r>
            <a:r>
              <a:t>allocation </a:t>
            </a:r>
            <a:r>
              <a:rPr lang="en-US"/>
              <a:t>has 36 teaching lectures, one introduction </a:t>
            </a:r>
            <a:r>
              <a:t>and </a:t>
            </a:r>
            <a:r>
              <a:rPr lang="en-US"/>
              <a:t>three reviews</a:t>
            </a:r>
            <a:r>
              <a:t>, </a:t>
            </a:r>
            <a:r>
              <a:rPr lang="en-US"/>
              <a:t>for 40 total </a:t>
            </a:r>
            <a:r>
              <a:t>sessions. </a:t>
            </a:r>
            <a:r>
              <a:rPr lang="en-US"/>
              <a:t>Units 1–5, 7–10, 12–16</a:t>
            </a:r>
            <a:r>
              <a:t>, </a:t>
            </a:r>
            <a:r>
              <a:rPr lang="en-US"/>
              <a:t>18 and 19 each have two lectures. All existing subunit coverage and </a:t>
            </a:r>
            <a:r>
              <a:t>the </a:t>
            </a:r>
            <a:r>
              <a:rPr lang="en-US"/>
              <a:t>original </a:t>
            </a:r>
            <a:r>
              <a:t>unit</a:t>
            </a:r>
            <a:r>
              <a:rPr lang="en-US"/>
              <a:t> order are retained. Sessions follow Tuesday</a:t>
            </a:r>
            <a:r>
              <a:t>/</a:t>
            </a:r>
            <a:r>
              <a:rPr lang="en-US"/>
              <a:t>Friday from 12 February 2027</a:t>
            </a:r>
            <a:r>
              <a:t>. </a:t>
            </a:r>
            <a:r>
              <a:rPr lang="en-US"/>
              <a:t>Part 2 is</a:t>
            </a:r>
            <a:r>
              <a:t> unchanged.</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cNvSpPr>
            <a:spLocks noGrp="1"/>
          </p:cNvSpPr>
          <p:nvPr>
            <p:ph type="body" idx="1"/>
          </p:nvPr>
        </p:nvSpPr>
        <p:spPr/>
        <p:txBody>
          <a:bodyPr/>
          <a:lstStyle/>
          <a:p>
            <a:r>
              <a:rPr lang="en-US"/>
              <a:t>Source</a:t>
            </a:r>
            <a:r>
              <a:t>: </a:t>
            </a:r>
            <a:r>
              <a:rPr lang="en-US"/>
              <a:t>Existing </a:t>
            </a:r>
            <a:r>
              <a:t>Part 1 </a:t>
            </a:r>
            <a:r>
              <a:rPr lang="en-US"/>
              <a:t>timetable and its supplied </a:t>
            </a:r>
            <a:r>
              <a:t>course outline.</a:t>
            </a:r>
            <a:r>
              <a:rPr lang="en-US"/>
              <a:t> The user requested 13 additional lectures. This proposed </a:t>
            </a:r>
            <a:r>
              <a:t>allocation </a:t>
            </a:r>
            <a:r>
              <a:rPr lang="en-US"/>
              <a:t>has 36 teaching lectures, one introduction </a:t>
            </a:r>
            <a:r>
              <a:t>and </a:t>
            </a:r>
            <a:r>
              <a:rPr lang="en-US"/>
              <a:t>three reviews</a:t>
            </a:r>
            <a:r>
              <a:t>, </a:t>
            </a:r>
            <a:r>
              <a:rPr lang="en-US"/>
              <a:t>for 40 total </a:t>
            </a:r>
            <a:r>
              <a:t>sessions. </a:t>
            </a:r>
            <a:r>
              <a:rPr lang="en-US"/>
              <a:t>Units 1–5, 7–10, 12–16</a:t>
            </a:r>
            <a:r>
              <a:t>, </a:t>
            </a:r>
            <a:r>
              <a:rPr lang="en-US"/>
              <a:t>18 and 19 each have two lectures. All existing subunit coverage and </a:t>
            </a:r>
            <a:r>
              <a:t>the </a:t>
            </a:r>
            <a:r>
              <a:rPr lang="en-US"/>
              <a:t>original </a:t>
            </a:r>
            <a:r>
              <a:t>unit</a:t>
            </a:r>
            <a:r>
              <a:rPr lang="en-US"/>
              <a:t> order are retained. Sessions follow Tuesday</a:t>
            </a:r>
            <a:r>
              <a:t>/</a:t>
            </a:r>
            <a:r>
              <a:rPr lang="en-US"/>
              <a:t>Friday from 12 February 2027</a:t>
            </a:r>
            <a:r>
              <a:t>. </a:t>
            </a:r>
            <a:r>
              <a:rPr lang="en-US"/>
              <a:t>Part 2 is</a:t>
            </a:r>
            <a:r>
              <a:t> unchanged.</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cNvSpPr>
            <a:spLocks noGrp="1"/>
          </p:cNvSpPr>
          <p:nvPr>
            <p:ph type="body" idx="1"/>
          </p:nvPr>
        </p:nvSpPr>
        <p:spPr/>
        <p:txBody>
          <a:bodyPr/>
          <a:lstStyle/>
          <a:p>
            <a:r>
              <a:rPr lang="en-US"/>
              <a:t>Source</a:t>
            </a:r>
            <a:r>
              <a:t>: </a:t>
            </a:r>
            <a:r>
              <a:rPr lang="en-US"/>
              <a:t>Existing </a:t>
            </a:r>
            <a:r>
              <a:t>Part 1 </a:t>
            </a:r>
            <a:r>
              <a:rPr lang="en-US"/>
              <a:t>timetable and its supplied </a:t>
            </a:r>
            <a:r>
              <a:t>course outline.</a:t>
            </a:r>
            <a:r>
              <a:rPr lang="en-US"/>
              <a:t> The user requested 13 additional lectures. This proposed </a:t>
            </a:r>
            <a:r>
              <a:t>allocation </a:t>
            </a:r>
            <a:r>
              <a:rPr lang="en-US"/>
              <a:t>has 36 teaching lectures, one introduction </a:t>
            </a:r>
            <a:r>
              <a:t>and </a:t>
            </a:r>
            <a:r>
              <a:rPr lang="en-US"/>
              <a:t>three reviews</a:t>
            </a:r>
            <a:r>
              <a:t>, </a:t>
            </a:r>
            <a:r>
              <a:rPr lang="en-US"/>
              <a:t>for 40 total </a:t>
            </a:r>
            <a:r>
              <a:t>sessions. </a:t>
            </a:r>
            <a:r>
              <a:rPr lang="en-US"/>
              <a:t>Units 1–5, 7–10, 12–16</a:t>
            </a:r>
            <a:r>
              <a:t>, </a:t>
            </a:r>
            <a:r>
              <a:rPr lang="en-US"/>
              <a:t>18 and 19 each have two lectures. All existing subunit coverage and </a:t>
            </a:r>
            <a:r>
              <a:t>the </a:t>
            </a:r>
            <a:r>
              <a:rPr lang="en-US"/>
              <a:t>original </a:t>
            </a:r>
            <a:r>
              <a:t>unit</a:t>
            </a:r>
            <a:r>
              <a:rPr lang="en-US"/>
              <a:t> order are retained. Sessions follow Tuesday</a:t>
            </a:r>
            <a:r>
              <a:t>/</a:t>
            </a:r>
            <a:r>
              <a:rPr lang="en-US"/>
              <a:t>Friday from 12 February 2027</a:t>
            </a:r>
            <a:r>
              <a:t>. </a:t>
            </a:r>
            <a:r>
              <a:rPr lang="en-US"/>
              <a:t>Part 2 is</a:t>
            </a:r>
            <a:r>
              <a:t> unchanged.</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D54F24D-3D9E-4B54-9B6A-C88CBE2B94F6}" type="datetime1">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2192000" y="7143750"/>
            <a:ext cx="2000250" cy="342305"/>
          </a:xfrm>
        </p:spPr>
        <p:txBody>
          <a:bodyPr/>
          <a:lstStyle>
            <a:lvl1pPr>
              <a:defRPr sz="1500"/>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55171800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8625939"/>
      </p:ext>
    </p:extLst>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A23D002A-B1A1-0B20-10FD-4E3C819BC7FE}"/>
              </a:ext>
            </a:extLst>
          </p:cNvPr>
          <p:cNvSpPr>
            <a:spLocks noGrp="1"/>
          </p:cNvSpPr>
          <p:nvPr>
            <p:ph type="title"/>
          </p:nvPr>
        </p:nvSpPr>
        <p:spPr>
          <a:xfrm>
            <a:off x="802218" y="2982234"/>
            <a:ext cx="6304724" cy="1814632"/>
          </a:xfrm>
        </p:spPr>
        <p:txBody>
          <a:bodyPr vert="horz" lIns="114300" tIns="57150" rIns="114300" bIns="57150" rtlCol="0" anchor="b">
            <a:normAutofit/>
          </a:bodyPr>
          <a:lstStyle/>
          <a:p>
            <a:pPr algn="ctr"/>
            <a:r>
              <a:rPr lang="en-US" sz="6000" b="1" dirty="0"/>
              <a:t>Ahmed Abu Elezz Course</a:t>
            </a:r>
          </a:p>
        </p:txBody>
      </p:sp>
      <p:sp>
        <p:nvSpPr>
          <p:cNvPr id="12" name="TextBox 11">
            <a:extLst>
              <a:ext uri="{FF2B5EF4-FFF2-40B4-BE49-F238E27FC236}">
                <a16:creationId xmlns:a16="http://schemas.microsoft.com/office/drawing/2014/main" id="{DB3E97D7-3EA2-1687-CAAF-AD95FBB216BF}"/>
              </a:ext>
            </a:extLst>
          </p:cNvPr>
          <p:cNvSpPr txBox="1"/>
          <p:nvPr/>
        </p:nvSpPr>
        <p:spPr>
          <a:xfrm>
            <a:off x="2505499" y="4796864"/>
            <a:ext cx="2704801" cy="403957"/>
          </a:xfrm>
          <a:prstGeom prst="rect">
            <a:avLst/>
          </a:prstGeom>
        </p:spPr>
        <p:txBody>
          <a:bodyPr vert="horz" lIns="114300" tIns="57150" rIns="114300" bIns="57150" rtlCol="0" anchor="t">
            <a:normAutofit fontScale="92500" lnSpcReduction="10000"/>
          </a:bodyPr>
          <a:lstStyle/>
          <a:p>
            <a:pPr algn="ctr">
              <a:lnSpc>
                <a:spcPct val="90000"/>
              </a:lnSpc>
              <a:spcBef>
                <a:spcPts val="1250"/>
              </a:spcBef>
            </a:pPr>
            <a:endParaRPr lang="en-US" sz="2500" b="1" dirty="0">
              <a:solidFill>
                <a:srgbClr val="FF0000"/>
              </a:solidFill>
            </a:endParaRPr>
          </a:p>
        </p:txBody>
      </p:sp>
      <p:pic>
        <p:nvPicPr>
          <p:cNvPr id="15" name="Picture 14">
            <a:extLst>
              <a:ext uri="{FF2B5EF4-FFF2-40B4-BE49-F238E27FC236}">
                <a16:creationId xmlns:a16="http://schemas.microsoft.com/office/drawing/2014/main" id="{5615FACD-BFAA-F7C3-A40F-B91A1F3AE597}"/>
              </a:ext>
            </a:extLst>
          </p:cNvPr>
          <p:cNvPicPr>
            <a:picLocks noChangeAspect="1"/>
          </p:cNvPicPr>
          <p:nvPr/>
        </p:nvPicPr>
        <p:blipFill>
          <a:blip r:embed="rId2"/>
          <a:stretch>
            <a:fillRect/>
          </a:stretch>
        </p:blipFill>
        <p:spPr>
          <a:xfrm>
            <a:off x="7309181" y="1844504"/>
            <a:ext cx="6014840" cy="4090091"/>
          </a:xfrm>
          <a:prstGeom prst="rect">
            <a:avLst/>
          </a:prstGeom>
        </p:spPr>
      </p:pic>
      <p:sp>
        <p:nvSpPr>
          <p:cNvPr id="19" name="Rectangle 1">
            <a:extLst>
              <a:ext uri="{FF2B5EF4-FFF2-40B4-BE49-F238E27FC236}">
                <a16:creationId xmlns:a16="http://schemas.microsoft.com/office/drawing/2014/main" id="{2833ED48-88B8-CC5E-4BCE-30770754697A}"/>
              </a:ext>
            </a:extLst>
          </p:cNvPr>
          <p:cNvSpPr>
            <a:spLocks noChangeArrowheads="1"/>
          </p:cNvSpPr>
          <p:nvPr/>
        </p:nvSpPr>
        <p:spPr bwMode="auto">
          <a:xfrm>
            <a:off x="802203" y="7357160"/>
            <a:ext cx="3312371" cy="403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300" tIns="0" rIns="114300" bIns="57150" numCol="1" anchor="ctr" anchorCtr="0" compatLnSpc="1">
            <a:prstTxWarp prst="textNoShape">
              <a:avLst/>
            </a:prstTxWarp>
            <a:spAutoFit/>
          </a:bodyPr>
          <a:lstStyle/>
          <a:p>
            <a:pPr defTabSz="1142972" eaLnBrk="0" fontAlgn="base" hangingPunct="0">
              <a:spcBef>
                <a:spcPct val="0"/>
              </a:spcBef>
              <a:spcAft>
                <a:spcPct val="0"/>
              </a:spcAft>
            </a:pPr>
            <a:r>
              <a:rPr lang="en-US" altLang="en-US" sz="2250" b="1" dirty="0">
                <a:solidFill>
                  <a:srgbClr val="FF0000"/>
                </a:solidFill>
                <a:latin typeface="Arial" panose="020B0604020202020204" pitchFamily="34" charset="0"/>
              </a:rPr>
              <a:t>30</a:t>
            </a:r>
            <a:r>
              <a:rPr lang="en-US" altLang="en-US" sz="2250" b="1" baseline="30000" dirty="0">
                <a:solidFill>
                  <a:srgbClr val="FF0000"/>
                </a:solidFill>
                <a:latin typeface="Arial" panose="020B0604020202020204" pitchFamily="34" charset="0"/>
              </a:rPr>
              <a:t>th</a:t>
            </a:r>
            <a:r>
              <a:rPr lang="en-US" altLang="en-US" sz="2250" b="1" dirty="0">
                <a:solidFill>
                  <a:srgbClr val="FF0000"/>
                </a:solidFill>
                <a:latin typeface="Arial" panose="020B0604020202020204" pitchFamily="34" charset="0"/>
              </a:rPr>
              <a:t> Oct  2026</a:t>
            </a:r>
          </a:p>
        </p:txBody>
      </p:sp>
      <p:sp>
        <p:nvSpPr>
          <p:cNvPr id="4" name="Slide Number Placeholder 3">
            <a:extLst>
              <a:ext uri="{FF2B5EF4-FFF2-40B4-BE49-F238E27FC236}">
                <a16:creationId xmlns:a16="http://schemas.microsoft.com/office/drawing/2014/main" id="{F048B934-4240-05BF-E521-95907EFDAF3B}"/>
              </a:ext>
            </a:extLst>
          </p:cNvPr>
          <p:cNvSpPr>
            <a:spLocks noGrp="1"/>
          </p:cNvSpPr>
          <p:nvPr>
            <p:ph type="sldNum" sz="quarter" idx="12"/>
          </p:nvPr>
        </p:nvSpPr>
        <p:spPr/>
        <p:txBody>
          <a:bodyPr/>
          <a:lstStyle/>
          <a:p>
            <a:fld id="{B6F15528-21DE-4FAA-801E-634DDDAF4B2B}" type="slidenum">
              <a:rPr lang="en-US" smtClean="0"/>
              <a:pPr/>
              <a:t>1</a:t>
            </a:fld>
            <a:endParaRPr lang="en-US" dirty="0"/>
          </a:p>
        </p:txBody>
      </p:sp>
    </p:spTree>
    <p:extLst>
      <p:ext uri="{BB962C8B-B14F-4D97-AF65-F5344CB8AC3E}">
        <p14:creationId xmlns:p14="http://schemas.microsoft.com/office/powerpoint/2010/main" val="16038415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00000001-0001-4000-8000-000000000000}"/>
              </a:ext>
            </a:extLst>
          </p:cNvPr>
          <p:cNvSpPr>
            <a:spLocks noGrp="1"/>
          </p:cNvSpPr>
          <p:nvPr/>
        </p:nvSpPr>
        <p:spPr>
          <a:xfrm>
            <a:off x="762000" y="666750"/>
            <a:ext cx="6667500" cy="428625"/>
          </a:xfrm>
          <a:prstGeom prst="rect">
            <a:avLst/>
          </a:prstGeom>
          <a:noFill/>
          <a:ln w="0">
            <a:noFill/>
          </a:ln>
        </p:spPr>
        <p:txBody>
          <a:bodyPr wrap="square">
            <a:noAutofit/>
          </a:bodyPr>
          <a:lstStyle/>
          <a:p>
            <a:pPr>
              <a:defRPr sz="2025" b="1">
                <a:solidFill>
                  <a:srgbClr val="007F83"/>
                </a:solidFill>
                <a:latin typeface="Aptos"/>
                <a:ea typeface="Aptos"/>
                <a:cs typeface="Aptos"/>
              </a:defRPr>
            </a:pPr>
            <a:r>
              <a:rPr sz="2025" b="1">
                <a:solidFill>
                  <a:srgbClr val="007F83"/>
                </a:solidFill>
                <a:latin typeface="Aptos"/>
                <a:ea typeface="Aptos"/>
                <a:cs typeface="Aptos"/>
              </a:rPr>
              <a:t>CMA PART 2 / 2025 PDF</a:t>
            </a:r>
          </a:p>
        </p:txBody>
      </p:sp>
      <p:sp>
        <p:nvSpPr>
          <p:cNvPr id="2" name="Rectangle 1">
            <a:extLst>
              <a:ext uri="{FF2B5EF4-FFF2-40B4-BE49-F238E27FC236}">
                <a16:creationId xmlns:a16="http://schemas.microsoft.com/office/drawing/2014/main" id="{00000001-0002-4000-8000-000000000000}"/>
              </a:ext>
            </a:extLst>
          </p:cNvPr>
          <p:cNvSpPr>
            <a:spLocks noGrp="1"/>
          </p:cNvSpPr>
          <p:nvPr/>
        </p:nvSpPr>
        <p:spPr>
          <a:xfrm>
            <a:off x="762000" y="1390650"/>
            <a:ext cx="7429500" cy="1714500"/>
          </a:xfrm>
          <a:prstGeom prst="rect">
            <a:avLst/>
          </a:prstGeom>
          <a:noFill/>
          <a:ln w="0">
            <a:noFill/>
          </a:ln>
        </p:spPr>
        <p:txBody>
          <a:bodyPr wrap="square">
            <a:noAutofit/>
          </a:bodyPr>
          <a:lstStyle/>
          <a:p>
            <a:pPr>
              <a:defRPr sz="5100" b="1">
                <a:solidFill>
                  <a:srgbClr val="122C49"/>
                </a:solidFill>
                <a:latin typeface="Aptos"/>
                <a:ea typeface="Aptos"/>
                <a:cs typeface="Aptos"/>
              </a:defRPr>
            </a:pPr>
            <a:r>
              <a:rPr sz="5100" b="1">
                <a:solidFill>
                  <a:srgbClr val="122C49"/>
                </a:solidFill>
                <a:latin typeface="Aptos"/>
                <a:ea typeface="Aptos"/>
                <a:cs typeface="Aptos"/>
              </a:rPr>
              <a:t>2025 source</a:t>
            </a:r>
          </a:p>
          <a:p>
            <a:pPr>
              <a:defRPr sz="5100" b="1">
                <a:solidFill>
                  <a:srgbClr val="122C49"/>
                </a:solidFill>
                <a:latin typeface="Aptos"/>
                <a:ea typeface="Aptos"/>
                <a:cs typeface="Aptos"/>
              </a:defRPr>
            </a:pPr>
            <a:r>
              <a:rPr sz="5100" b="1">
                <a:solidFill>
                  <a:srgbClr val="122C49"/>
                </a:solidFill>
                <a:latin typeface="Aptos"/>
                <a:ea typeface="Aptos"/>
                <a:cs typeface="Aptos"/>
              </a:rPr>
              <a:t>study timetable</a:t>
            </a:r>
          </a:p>
        </p:txBody>
      </p:sp>
      <p:sp>
        <p:nvSpPr>
          <p:cNvPr id="3" name="Rectangle 2">
            <a:extLst>
              <a:ext uri="{FF2B5EF4-FFF2-40B4-BE49-F238E27FC236}">
                <a16:creationId xmlns:a16="http://schemas.microsoft.com/office/drawing/2014/main" id="{00000001-0003-4000-8000-000000000000}"/>
              </a:ext>
            </a:extLst>
          </p:cNvPr>
          <p:cNvSpPr>
            <a:spLocks noGrp="1"/>
          </p:cNvSpPr>
          <p:nvPr/>
        </p:nvSpPr>
        <p:spPr>
          <a:xfrm>
            <a:off x="762000" y="3438525"/>
            <a:ext cx="6667500" cy="571500"/>
          </a:xfrm>
          <a:prstGeom prst="rect">
            <a:avLst/>
          </a:prstGeom>
          <a:noFill/>
          <a:ln w="0">
            <a:noFill/>
          </a:ln>
        </p:spPr>
        <p:txBody>
          <a:bodyPr>
            <a:noAutofit/>
          </a:bodyPr>
          <a:lstStyle/>
          <a:p>
            <a:pPr>
              <a:defRPr sz="2850" b="1">
                <a:solidFill>
                  <a:srgbClr val="007F83"/>
                </a:solidFill>
                <a:latin typeface="Aptos"/>
                <a:ea typeface="Aptos"/>
                <a:cs typeface="Aptos"/>
              </a:defRPr>
            </a:pPr>
            <a:r>
              <a:rPr sz="2850" b="1">
                <a:solidFill>
                  <a:srgbClr val="007F83"/>
                </a:solidFill>
                <a:latin typeface="Aptos"/>
                <a:ea typeface="Aptos"/>
                <a:cs typeface="Aptos"/>
              </a:rPr>
              <a:t>Friday and Tuesday</a:t>
            </a:r>
          </a:p>
        </p:txBody>
      </p:sp>
      <p:sp>
        <p:nvSpPr>
          <p:cNvPr id="4" name="Rectangle 3">
            <a:extLst>
              <a:ext uri="{FF2B5EF4-FFF2-40B4-BE49-F238E27FC236}">
                <a16:creationId xmlns:a16="http://schemas.microsoft.com/office/drawing/2014/main" id="{00000001-0004-4000-8000-000000000000}"/>
              </a:ext>
            </a:extLst>
          </p:cNvPr>
          <p:cNvSpPr>
            <a:spLocks noGrp="1"/>
          </p:cNvSpPr>
          <p:nvPr/>
        </p:nvSpPr>
        <p:spPr>
          <a:xfrm>
            <a:off x="762000" y="4124325"/>
            <a:ext cx="6953250" cy="476250"/>
          </a:xfrm>
          <a:prstGeom prst="rect">
            <a:avLst/>
          </a:prstGeom>
          <a:noFill/>
          <a:ln w="0">
            <a:noFill/>
          </a:ln>
        </p:spPr>
        <p:txBody>
          <a:bodyPr>
            <a:noAutofit/>
          </a:bodyPr>
          <a:lstStyle/>
          <a:p>
            <a:pPr>
              <a:defRPr sz="2175" b="0">
                <a:solidFill>
                  <a:srgbClr val="122C49"/>
                </a:solidFill>
                <a:latin typeface="Aptos"/>
                <a:ea typeface="Aptos"/>
                <a:cs typeface="Aptos"/>
              </a:defRPr>
            </a:pPr>
            <a:r>
              <a:rPr lang="en-US" sz="2175" b="0">
                <a:solidFill>
                  <a:srgbClr val="122C49"/>
                </a:solidFill>
                <a:latin typeface="Aptos"/>
                <a:ea typeface="Aptos"/>
                <a:cs typeface="Aptos"/>
              </a:rPr>
              <a:t>30 </a:t>
            </a:r>
            <a:r>
              <a:rPr sz="2175" b="0">
                <a:solidFill>
                  <a:srgbClr val="122C49"/>
                </a:solidFill>
                <a:latin typeface="Aptos"/>
                <a:ea typeface="Aptos"/>
                <a:cs typeface="Aptos"/>
              </a:rPr>
              <a:t>October 2026 – </a:t>
            </a:r>
            <a:r>
              <a:rPr lang="en-US" sz="2175" b="0">
                <a:solidFill>
                  <a:srgbClr val="122C49"/>
                </a:solidFill>
                <a:latin typeface="Aptos"/>
                <a:ea typeface="Aptos"/>
                <a:cs typeface="Aptos"/>
              </a:rPr>
              <a:t>29</a:t>
            </a:r>
            <a:r>
              <a:rPr sz="2175" b="0">
                <a:solidFill>
                  <a:srgbClr val="122C49"/>
                </a:solidFill>
                <a:latin typeface="Aptos"/>
                <a:ea typeface="Aptos"/>
                <a:cs typeface="Aptos"/>
              </a:rPr>
              <a:t> January 2027</a:t>
            </a:r>
          </a:p>
        </p:txBody>
      </p:sp>
      <p:sp>
        <p:nvSpPr>
          <p:cNvPr id="5" name="Rectangle 4">
            <a:extLst>
              <a:ext uri="{FF2B5EF4-FFF2-40B4-BE49-F238E27FC236}">
                <a16:creationId xmlns:a16="http://schemas.microsoft.com/office/drawing/2014/main" id="{00000001-0005-4000-8000-000000000000}"/>
              </a:ext>
            </a:extLst>
          </p:cNvPr>
          <p:cNvSpPr>
            <a:spLocks noGrp="1"/>
          </p:cNvSpPr>
          <p:nvPr/>
        </p:nvSpPr>
        <p:spPr>
          <a:xfrm>
            <a:off x="762000" y="4972050"/>
            <a:ext cx="7048500" cy="571500"/>
          </a:xfrm>
          <a:prstGeom prst="rect">
            <a:avLst/>
          </a:prstGeom>
          <a:noFill/>
          <a:ln w="0">
            <a:noFill/>
          </a:ln>
        </p:spPr>
        <p:txBody>
          <a:bodyPr>
            <a:noAutofit/>
          </a:bodyPr>
          <a:lstStyle/>
          <a:p>
            <a:pPr>
              <a:defRPr sz="3300" b="1">
                <a:solidFill>
                  <a:srgbClr val="122C49"/>
                </a:solidFill>
                <a:latin typeface="Aptos"/>
                <a:ea typeface="Aptos"/>
                <a:cs typeface="Aptos"/>
              </a:defRPr>
            </a:pPr>
            <a:r>
              <a:rPr sz="3300" b="1">
                <a:solidFill>
                  <a:srgbClr val="122C49"/>
                </a:solidFill>
                <a:latin typeface="Aptos"/>
                <a:ea typeface="Aptos"/>
                <a:cs typeface="Aptos"/>
              </a:rPr>
              <a:t>27 dated sessions</a:t>
            </a:r>
          </a:p>
        </p:txBody>
      </p:sp>
      <p:sp>
        <p:nvSpPr>
          <p:cNvPr id="6" name="Rectangle 5">
            <a:extLst>
              <a:ext uri="{FF2B5EF4-FFF2-40B4-BE49-F238E27FC236}">
                <a16:creationId xmlns:a16="http://schemas.microsoft.com/office/drawing/2014/main" id="{00000001-0006-4000-8000-000000000000}"/>
              </a:ext>
            </a:extLst>
          </p:cNvPr>
          <p:cNvSpPr>
            <a:spLocks noGrp="1"/>
          </p:cNvSpPr>
          <p:nvPr/>
        </p:nvSpPr>
        <p:spPr>
          <a:xfrm>
            <a:off x="762000" y="5772150"/>
            <a:ext cx="7239000" cy="1000125"/>
          </a:xfrm>
          <a:prstGeom prst="rect">
            <a:avLst/>
          </a:prstGeom>
          <a:noFill/>
          <a:ln w="0">
            <a:noFill/>
          </a:ln>
        </p:spPr>
        <p:txBody>
          <a:bodyPr wrap="square">
            <a:noAutofit/>
          </a:bodyPr>
          <a:lstStyle/>
          <a:p>
            <a:pPr>
              <a:defRPr sz="2175" b="0">
                <a:solidFill>
                  <a:srgbClr val="233B50"/>
                </a:solidFill>
                <a:latin typeface="Aptos"/>
                <a:ea typeface="Aptos"/>
                <a:cs typeface="Aptos"/>
              </a:defRPr>
            </a:pPr>
            <a:r>
              <a:rPr sz="2175" b="0">
                <a:solidFill>
                  <a:srgbClr val="233B50"/>
                </a:solidFill>
                <a:latin typeface="Aptos"/>
                <a:ea typeface="Aptos"/>
                <a:cs typeface="Aptos"/>
              </a:rPr>
              <a:t>15 study units in source order.</a:t>
            </a:r>
          </a:p>
          <a:p>
            <a:pPr>
              <a:defRPr sz="2175" b="0">
                <a:solidFill>
                  <a:srgbClr val="233B50"/>
                </a:solidFill>
                <a:latin typeface="Aptos"/>
                <a:ea typeface="Aptos"/>
                <a:cs typeface="Aptos"/>
              </a:defRPr>
            </a:pPr>
            <a:r>
              <a:rPr lang="en-US" sz="2175" b="0">
                <a:solidFill>
                  <a:srgbClr val="233B50"/>
                </a:solidFill>
                <a:latin typeface="Aptos"/>
                <a:ea typeface="Aptos"/>
                <a:cs typeface="Aptos"/>
              </a:rPr>
              <a:t>1 introduction, 23 </a:t>
            </a:r>
            <a:r>
              <a:rPr sz="2175" b="0">
                <a:solidFill>
                  <a:srgbClr val="233B50"/>
                </a:solidFill>
                <a:latin typeface="Aptos"/>
                <a:ea typeface="Aptos"/>
                <a:cs typeface="Aptos"/>
              </a:rPr>
              <a:t>study sessions</a:t>
            </a:r>
            <a:endParaRPr lang="en-US" sz="2175" b="0">
              <a:solidFill>
                <a:srgbClr val="233B50"/>
              </a:solidFill>
              <a:latin typeface="Aptos"/>
              <a:ea typeface="Aptos"/>
              <a:cs typeface="Aptos"/>
            </a:endParaRPr>
          </a:p>
          <a:p>
            <a:pPr>
              <a:defRPr sz="2175" b="0">
                <a:solidFill>
                  <a:srgbClr val="233B50"/>
                </a:solidFill>
                <a:latin typeface="Aptos"/>
                <a:ea typeface="Aptos"/>
                <a:cs typeface="Aptos"/>
              </a:defRPr>
            </a:pPr>
            <a:r>
              <a:rPr lang="en-US" sz="2175" b="0">
                <a:solidFill>
                  <a:srgbClr val="233B50"/>
                </a:solidFill>
                <a:latin typeface="Aptos"/>
                <a:ea typeface="Aptos"/>
                <a:cs typeface="Aptos"/>
              </a:rPr>
              <a:t>and 3</a:t>
            </a:r>
            <a:r>
              <a:rPr sz="2175" b="0">
                <a:solidFill>
                  <a:srgbClr val="233B50"/>
                </a:solidFill>
                <a:latin typeface="Aptos"/>
                <a:ea typeface="Aptos"/>
                <a:cs typeface="Aptos"/>
              </a:rPr>
              <a:t> review sessions.</a:t>
            </a:r>
          </a:p>
        </p:txBody>
      </p:sp>
      <p:sp>
        <p:nvSpPr>
          <p:cNvPr id="7" name="Rectangle 6">
            <a:extLst>
              <a:ext uri="{FF2B5EF4-FFF2-40B4-BE49-F238E27FC236}">
                <a16:creationId xmlns:a16="http://schemas.microsoft.com/office/drawing/2014/main" id="{00000001-0007-4000-8000-000000000000}"/>
              </a:ext>
            </a:extLst>
          </p:cNvPr>
          <p:cNvSpPr>
            <a:spLocks noGrp="1"/>
          </p:cNvSpPr>
          <p:nvPr/>
        </p:nvSpPr>
        <p:spPr>
          <a:xfrm>
            <a:off x="762000" y="6943725"/>
            <a:ext cx="7334250" cy="933450"/>
          </a:xfrm>
          <a:prstGeom prst="rect">
            <a:avLst/>
          </a:prstGeom>
          <a:noFill/>
          <a:ln w="0">
            <a:noFill/>
          </a:ln>
        </p:spPr>
        <p:txBody>
          <a:bodyPr wrap="square">
            <a:noAutofit/>
          </a:bodyPr>
          <a:lstStyle/>
          <a:p>
            <a:pPr>
              <a:defRPr sz="1725" b="0">
                <a:solidFill>
                  <a:srgbClr val="5C6F7F"/>
                </a:solidFill>
                <a:latin typeface="Aptos"/>
                <a:ea typeface="Aptos"/>
                <a:cs typeface="Aptos"/>
              </a:defRPr>
            </a:pPr>
            <a:r>
              <a:rPr sz="1725" b="0">
                <a:solidFill>
                  <a:srgbClr val="5C6F7F"/>
                </a:solidFill>
                <a:latin typeface="Aptos"/>
                <a:ea typeface="Aptos"/>
                <a:cs typeface="Aptos"/>
              </a:rPr>
              <a:t>Separate plan using the same dates.</a:t>
            </a:r>
          </a:p>
          <a:p>
            <a:pPr>
              <a:defRPr sz="1725" b="0">
                <a:solidFill>
                  <a:srgbClr val="5C6F7F"/>
                </a:solidFill>
                <a:latin typeface="Aptos"/>
                <a:ea typeface="Aptos"/>
                <a:cs typeface="Aptos"/>
              </a:defRPr>
            </a:pPr>
            <a:r>
              <a:rPr sz="1725" b="0">
                <a:solidFill>
                  <a:srgbClr val="5C6F7F"/>
                </a:solidFill>
                <a:latin typeface="Aptos"/>
                <a:ea typeface="Aptos"/>
                <a:cs typeface="Aptos"/>
              </a:rPr>
              <a:t>Choose one source plan or coordinate both.</a:t>
            </a:r>
          </a:p>
          <a:p>
            <a:pPr>
              <a:defRPr sz="1725" b="0">
                <a:solidFill>
                  <a:srgbClr val="5C6F7F"/>
                </a:solidFill>
                <a:latin typeface="Aptos"/>
                <a:ea typeface="Aptos"/>
                <a:cs typeface="Aptos"/>
              </a:defRPr>
            </a:pPr>
            <a:r>
              <a:rPr sz="1725" b="0">
                <a:solidFill>
                  <a:srgbClr val="5C6F7F"/>
                </a:solidFill>
                <a:latin typeface="Aptos"/>
                <a:ea typeface="Aptos"/>
                <a:cs typeface="Aptos"/>
              </a:rPr>
              <a:t>Session time and duration remain your choice.</a:t>
            </a:r>
          </a:p>
        </p:txBody>
      </p:sp>
      <p:sp>
        <p:nvSpPr>
          <p:cNvPr id="8" name="Rectangle 7">
            <a:extLst>
              <a:ext uri="{FF2B5EF4-FFF2-40B4-BE49-F238E27FC236}">
                <a16:creationId xmlns:a16="http://schemas.microsoft.com/office/drawing/2014/main" id="{00000001-0008-4000-8000-000000000000}"/>
              </a:ext>
            </a:extLst>
          </p:cNvPr>
          <p:cNvSpPr>
            <a:spLocks noGrp="1"/>
          </p:cNvSpPr>
          <p:nvPr/>
        </p:nvSpPr>
        <p:spPr>
          <a:xfrm>
            <a:off x="9144000" y="800100"/>
            <a:ext cx="5048250" cy="381000"/>
          </a:xfrm>
          <a:prstGeom prst="rect">
            <a:avLst/>
          </a:prstGeom>
          <a:noFill/>
          <a:ln w="0">
            <a:noFill/>
          </a:ln>
        </p:spPr>
        <p:txBody>
          <a:bodyPr wrap="square">
            <a:noAutofit/>
          </a:bodyPr>
          <a:lstStyle/>
          <a:p>
            <a:pPr>
              <a:defRPr sz="1875" b="1">
                <a:solidFill>
                  <a:srgbClr val="007F83"/>
                </a:solidFill>
                <a:latin typeface="Aptos"/>
                <a:ea typeface="Aptos"/>
                <a:cs typeface="Aptos"/>
              </a:defRPr>
            </a:pPr>
            <a:r>
              <a:rPr lang="en-US" sz="1875" b="1" dirty="0">
                <a:solidFill>
                  <a:srgbClr val="007F83"/>
                </a:solidFill>
                <a:latin typeface="Aptos"/>
                <a:ea typeface="Aptos"/>
                <a:cs typeface="Aptos"/>
              </a:rPr>
              <a:t>EXAM WEIGHTS (TOTAL 100%)</a:t>
            </a:r>
            <a:endParaRPr sz="1875" b="1" dirty="0">
              <a:solidFill>
                <a:srgbClr val="007F83"/>
              </a:solidFill>
              <a:latin typeface="Aptos"/>
              <a:ea typeface="Aptos"/>
              <a:cs typeface="Aptos"/>
            </a:endParaRPr>
          </a:p>
        </p:txBody>
      </p:sp>
      <p:sp>
        <p:nvSpPr>
          <p:cNvPr id="9" name="Rectangle 8">
            <a:extLst>
              <a:ext uri="{FF2B5EF4-FFF2-40B4-BE49-F238E27FC236}">
                <a16:creationId xmlns:a16="http://schemas.microsoft.com/office/drawing/2014/main" id="{00000001-0009-4000-8000-000000000000}"/>
              </a:ext>
            </a:extLst>
          </p:cNvPr>
          <p:cNvSpPr>
            <a:spLocks noGrp="1"/>
          </p:cNvSpPr>
          <p:nvPr/>
        </p:nvSpPr>
        <p:spPr>
          <a:xfrm>
            <a:off x="9144000" y="1514475"/>
            <a:ext cx="571500" cy="504825"/>
          </a:xfrm>
          <a:prstGeom prst="rect">
            <a:avLst/>
          </a:prstGeom>
          <a:noFill/>
          <a:ln w="0">
            <a:noFill/>
          </a:ln>
        </p:spPr>
        <p:txBody>
          <a:bodyPr>
            <a:noAutofit/>
          </a:bodyPr>
          <a:lstStyle/>
          <a:p>
            <a:pPr>
              <a:defRPr sz="2925" b="1">
                <a:solidFill>
                  <a:srgbClr val="007F83"/>
                </a:solidFill>
                <a:latin typeface="Aptos"/>
                <a:ea typeface="Aptos"/>
                <a:cs typeface="Aptos"/>
              </a:defRPr>
            </a:pPr>
            <a:r>
              <a:rPr sz="2925" b="1" dirty="0">
                <a:solidFill>
                  <a:srgbClr val="007F83"/>
                </a:solidFill>
                <a:latin typeface="Aptos"/>
                <a:ea typeface="Aptos"/>
                <a:cs typeface="Aptos"/>
              </a:rPr>
              <a:t>A</a:t>
            </a:r>
          </a:p>
        </p:txBody>
      </p:sp>
      <p:sp>
        <p:nvSpPr>
          <p:cNvPr id="10" name="Rectangle 9">
            <a:extLst>
              <a:ext uri="{FF2B5EF4-FFF2-40B4-BE49-F238E27FC236}">
                <a16:creationId xmlns:a16="http://schemas.microsoft.com/office/drawing/2014/main" id="{00000001-000A-4000-8000-000000000000}"/>
              </a:ext>
            </a:extLst>
          </p:cNvPr>
          <p:cNvSpPr>
            <a:spLocks noGrp="1"/>
          </p:cNvSpPr>
          <p:nvPr/>
        </p:nvSpPr>
        <p:spPr>
          <a:xfrm>
            <a:off x="9858375" y="1514475"/>
            <a:ext cx="4524375" cy="400050"/>
          </a:xfrm>
          <a:prstGeom prst="rect">
            <a:avLst/>
          </a:prstGeom>
          <a:noFill/>
          <a:ln w="0">
            <a:noFill/>
          </a:ln>
        </p:spPr>
        <p:txBody>
          <a:bodyPr>
            <a:noAutofit/>
          </a:bodyPr>
          <a:lstStyle/>
          <a:p>
            <a:pPr>
              <a:defRPr sz="2025" b="1">
                <a:solidFill>
                  <a:srgbClr val="122C49"/>
                </a:solidFill>
                <a:latin typeface="Aptos"/>
                <a:ea typeface="Aptos"/>
                <a:cs typeface="Aptos"/>
              </a:defRPr>
            </a:pPr>
            <a:r>
              <a:rPr sz="2025" b="1" dirty="0">
                <a:solidFill>
                  <a:srgbClr val="122C49"/>
                </a:solidFill>
                <a:latin typeface="Aptos"/>
                <a:ea typeface="Aptos"/>
                <a:cs typeface="Aptos"/>
              </a:rPr>
              <a:t>Financial Statement Analysis</a:t>
            </a:r>
          </a:p>
        </p:txBody>
      </p:sp>
      <p:sp>
        <p:nvSpPr>
          <p:cNvPr id="11" name="Rectangle 10">
            <a:extLst>
              <a:ext uri="{FF2B5EF4-FFF2-40B4-BE49-F238E27FC236}">
                <a16:creationId xmlns:a16="http://schemas.microsoft.com/office/drawing/2014/main" id="{00000001-000B-4000-8000-000000000000}"/>
              </a:ext>
            </a:extLst>
          </p:cNvPr>
          <p:cNvSpPr>
            <a:spLocks noGrp="1"/>
          </p:cNvSpPr>
          <p:nvPr/>
        </p:nvSpPr>
        <p:spPr>
          <a:xfrm>
            <a:off x="9858375" y="1924050"/>
            <a:ext cx="4476750" cy="342900"/>
          </a:xfrm>
          <a:prstGeom prst="rect">
            <a:avLst/>
          </a:prstGeom>
          <a:noFill/>
          <a:ln w="0">
            <a:noFill/>
          </a:ln>
        </p:spPr>
        <p:txBody>
          <a:bodyPr wrap="square">
            <a:noAutofit/>
          </a:bodyPr>
          <a:lstStyle/>
          <a:p>
            <a:pPr>
              <a:defRPr sz="1725" b="0">
                <a:solidFill>
                  <a:srgbClr val="5C6F7F"/>
                </a:solidFill>
                <a:latin typeface="Aptos"/>
                <a:ea typeface="Aptos"/>
                <a:cs typeface="Aptos"/>
              </a:defRPr>
            </a:pPr>
            <a:r>
              <a:rPr lang="en-US" sz="1725" b="1">
                <a:solidFill>
                  <a:srgbClr val="007F83"/>
                </a:solidFill>
                <a:latin typeface="Aptos"/>
                <a:ea typeface="Aptos"/>
                <a:cs typeface="Aptos"/>
              </a:rPr>
              <a:t>20%</a:t>
            </a:r>
            <a:r>
              <a:rPr lang="en-US" sz="1725" b="0">
                <a:solidFill>
                  <a:srgbClr val="5C6F7F"/>
                </a:solidFill>
                <a:latin typeface="Aptos"/>
                <a:ea typeface="Aptos"/>
                <a:cs typeface="Aptos"/>
              </a:rPr>
              <a:t>  /  </a:t>
            </a:r>
            <a:r>
              <a:rPr sz="1725" b="0">
                <a:solidFill>
                  <a:srgbClr val="5C6F7F"/>
                </a:solidFill>
                <a:latin typeface="Aptos"/>
                <a:ea typeface="Aptos"/>
                <a:cs typeface="Aptos"/>
              </a:rPr>
              <a:t>SU 1–3: </a:t>
            </a:r>
            <a:r>
              <a:rPr lang="en-US" sz="1725" b="0">
                <a:solidFill>
                  <a:srgbClr val="5C6F7F"/>
                </a:solidFill>
                <a:latin typeface="Aptos"/>
                <a:ea typeface="Aptos"/>
                <a:cs typeface="Aptos"/>
              </a:rPr>
              <a:t>3–13 Nov</a:t>
            </a:r>
          </a:p>
        </p:txBody>
      </p:sp>
      <p:sp>
        <p:nvSpPr>
          <p:cNvPr id="12" name="Rectangle 11">
            <a:extLst>
              <a:ext uri="{FF2B5EF4-FFF2-40B4-BE49-F238E27FC236}">
                <a16:creationId xmlns:a16="http://schemas.microsoft.com/office/drawing/2014/main" id="{00000001-000C-4000-8000-000000000000}"/>
              </a:ext>
            </a:extLst>
          </p:cNvPr>
          <p:cNvSpPr>
            <a:spLocks noGrp="1"/>
          </p:cNvSpPr>
          <p:nvPr/>
        </p:nvSpPr>
        <p:spPr>
          <a:xfrm>
            <a:off x="9144000" y="2476500"/>
            <a:ext cx="571500" cy="504825"/>
          </a:xfrm>
          <a:prstGeom prst="rect">
            <a:avLst/>
          </a:prstGeom>
          <a:noFill/>
          <a:ln w="0">
            <a:noFill/>
          </a:ln>
        </p:spPr>
        <p:txBody>
          <a:bodyPr>
            <a:noAutofit/>
          </a:bodyPr>
          <a:lstStyle/>
          <a:p>
            <a:pPr>
              <a:defRPr sz="2925" b="1">
                <a:solidFill>
                  <a:srgbClr val="007F83"/>
                </a:solidFill>
                <a:latin typeface="Aptos"/>
                <a:ea typeface="Aptos"/>
                <a:cs typeface="Aptos"/>
              </a:defRPr>
            </a:pPr>
            <a:r>
              <a:rPr sz="2925" b="1">
                <a:solidFill>
                  <a:srgbClr val="007F83"/>
                </a:solidFill>
                <a:latin typeface="Aptos"/>
                <a:ea typeface="Aptos"/>
                <a:cs typeface="Aptos"/>
              </a:rPr>
              <a:t>B</a:t>
            </a:r>
          </a:p>
        </p:txBody>
      </p:sp>
      <p:sp>
        <p:nvSpPr>
          <p:cNvPr id="13" name="Rectangle 12">
            <a:extLst>
              <a:ext uri="{FF2B5EF4-FFF2-40B4-BE49-F238E27FC236}">
                <a16:creationId xmlns:a16="http://schemas.microsoft.com/office/drawing/2014/main" id="{00000001-000D-4000-8000-000000000000}"/>
              </a:ext>
            </a:extLst>
          </p:cNvPr>
          <p:cNvSpPr>
            <a:spLocks noGrp="1"/>
          </p:cNvSpPr>
          <p:nvPr/>
        </p:nvSpPr>
        <p:spPr>
          <a:xfrm>
            <a:off x="9858375" y="2476500"/>
            <a:ext cx="4524375" cy="400050"/>
          </a:xfrm>
          <a:prstGeom prst="rect">
            <a:avLst/>
          </a:prstGeom>
          <a:noFill/>
          <a:ln w="0">
            <a:noFill/>
          </a:ln>
        </p:spPr>
        <p:txBody>
          <a:bodyPr>
            <a:noAutofit/>
          </a:bodyPr>
          <a:lstStyle/>
          <a:p>
            <a:pPr>
              <a:defRPr sz="2025" b="1">
                <a:solidFill>
                  <a:srgbClr val="122C49"/>
                </a:solidFill>
                <a:latin typeface="Aptos"/>
                <a:ea typeface="Aptos"/>
                <a:cs typeface="Aptos"/>
              </a:defRPr>
            </a:pPr>
            <a:r>
              <a:rPr sz="2025" b="1">
                <a:solidFill>
                  <a:srgbClr val="122C49"/>
                </a:solidFill>
                <a:latin typeface="Aptos"/>
                <a:ea typeface="Aptos"/>
                <a:cs typeface="Aptos"/>
              </a:rPr>
              <a:t>Corporate Finance</a:t>
            </a:r>
          </a:p>
        </p:txBody>
      </p:sp>
      <p:sp>
        <p:nvSpPr>
          <p:cNvPr id="14" name="Rectangle 13">
            <a:extLst>
              <a:ext uri="{FF2B5EF4-FFF2-40B4-BE49-F238E27FC236}">
                <a16:creationId xmlns:a16="http://schemas.microsoft.com/office/drawing/2014/main" id="{00000001-000E-4000-8000-000000000000}"/>
              </a:ext>
            </a:extLst>
          </p:cNvPr>
          <p:cNvSpPr>
            <a:spLocks noGrp="1"/>
          </p:cNvSpPr>
          <p:nvPr/>
        </p:nvSpPr>
        <p:spPr>
          <a:xfrm>
            <a:off x="9858375" y="2886075"/>
            <a:ext cx="4476750" cy="342900"/>
          </a:xfrm>
          <a:prstGeom prst="rect">
            <a:avLst/>
          </a:prstGeom>
          <a:noFill/>
          <a:ln w="0">
            <a:noFill/>
          </a:ln>
        </p:spPr>
        <p:txBody>
          <a:bodyPr wrap="square">
            <a:noAutofit/>
          </a:bodyPr>
          <a:lstStyle/>
          <a:p>
            <a:pPr>
              <a:defRPr sz="1725" b="0">
                <a:solidFill>
                  <a:srgbClr val="5C6F7F"/>
                </a:solidFill>
                <a:latin typeface="Aptos"/>
                <a:ea typeface="Aptos"/>
                <a:cs typeface="Aptos"/>
              </a:defRPr>
            </a:pPr>
            <a:r>
              <a:rPr lang="en-US" sz="1725" b="1">
                <a:solidFill>
                  <a:srgbClr val="007F83"/>
                </a:solidFill>
                <a:latin typeface="Aptos"/>
                <a:ea typeface="Aptos"/>
                <a:cs typeface="Aptos"/>
              </a:rPr>
              <a:t>20%</a:t>
            </a:r>
            <a:r>
              <a:rPr lang="en-US" sz="1725" b="0">
                <a:solidFill>
                  <a:srgbClr val="5C6F7F"/>
                </a:solidFill>
                <a:latin typeface="Aptos"/>
                <a:ea typeface="Aptos"/>
                <a:cs typeface="Aptos"/>
              </a:rPr>
              <a:t>  /  </a:t>
            </a:r>
            <a:r>
              <a:rPr sz="1725" b="0">
                <a:solidFill>
                  <a:srgbClr val="5C6F7F"/>
                </a:solidFill>
                <a:latin typeface="Aptos"/>
                <a:ea typeface="Aptos"/>
                <a:cs typeface="Aptos"/>
              </a:rPr>
              <a:t>SU 4–8: </a:t>
            </a:r>
            <a:r>
              <a:rPr lang="en-US" sz="1725" b="0">
                <a:solidFill>
                  <a:srgbClr val="5C6F7F"/>
                </a:solidFill>
                <a:latin typeface="Aptos"/>
                <a:ea typeface="Aptos"/>
                <a:cs typeface="Aptos"/>
              </a:rPr>
              <a:t>17 </a:t>
            </a:r>
            <a:r>
              <a:rPr sz="1725" b="0">
                <a:solidFill>
                  <a:srgbClr val="5C6F7F"/>
                </a:solidFill>
                <a:latin typeface="Aptos"/>
                <a:ea typeface="Aptos"/>
                <a:cs typeface="Aptos"/>
              </a:rPr>
              <a:t>Nov – </a:t>
            </a:r>
            <a:r>
              <a:rPr lang="en-US" sz="1725" b="0">
                <a:solidFill>
                  <a:srgbClr val="5C6F7F"/>
                </a:solidFill>
                <a:latin typeface="Aptos"/>
                <a:ea typeface="Aptos"/>
                <a:cs typeface="Aptos"/>
              </a:rPr>
              <a:t>18</a:t>
            </a:r>
            <a:r>
              <a:rPr sz="1725" b="0">
                <a:solidFill>
                  <a:srgbClr val="5C6F7F"/>
                </a:solidFill>
                <a:latin typeface="Aptos"/>
                <a:ea typeface="Aptos"/>
                <a:cs typeface="Aptos"/>
              </a:rPr>
              <a:t> Dec</a:t>
            </a:r>
          </a:p>
        </p:txBody>
      </p:sp>
      <p:sp>
        <p:nvSpPr>
          <p:cNvPr id="15" name="Rectangle 14">
            <a:extLst>
              <a:ext uri="{FF2B5EF4-FFF2-40B4-BE49-F238E27FC236}">
                <a16:creationId xmlns:a16="http://schemas.microsoft.com/office/drawing/2014/main" id="{00000001-000F-4000-8000-000000000000}"/>
              </a:ext>
            </a:extLst>
          </p:cNvPr>
          <p:cNvSpPr>
            <a:spLocks noGrp="1"/>
          </p:cNvSpPr>
          <p:nvPr/>
        </p:nvSpPr>
        <p:spPr>
          <a:xfrm>
            <a:off x="9144000" y="3438525"/>
            <a:ext cx="571500" cy="504825"/>
          </a:xfrm>
          <a:prstGeom prst="rect">
            <a:avLst/>
          </a:prstGeom>
          <a:noFill/>
          <a:ln w="0">
            <a:noFill/>
          </a:ln>
        </p:spPr>
        <p:txBody>
          <a:bodyPr>
            <a:noAutofit/>
          </a:bodyPr>
          <a:lstStyle/>
          <a:p>
            <a:pPr>
              <a:defRPr sz="2925" b="1">
                <a:solidFill>
                  <a:srgbClr val="007F83"/>
                </a:solidFill>
                <a:latin typeface="Aptos"/>
                <a:ea typeface="Aptos"/>
                <a:cs typeface="Aptos"/>
              </a:defRPr>
            </a:pPr>
            <a:r>
              <a:rPr sz="2925" b="1">
                <a:solidFill>
                  <a:srgbClr val="007F83"/>
                </a:solidFill>
                <a:latin typeface="Aptos"/>
                <a:ea typeface="Aptos"/>
                <a:cs typeface="Aptos"/>
              </a:rPr>
              <a:t>C</a:t>
            </a:r>
          </a:p>
        </p:txBody>
      </p:sp>
      <p:sp>
        <p:nvSpPr>
          <p:cNvPr id="16" name="Rectangle 15">
            <a:extLst>
              <a:ext uri="{FF2B5EF4-FFF2-40B4-BE49-F238E27FC236}">
                <a16:creationId xmlns:a16="http://schemas.microsoft.com/office/drawing/2014/main" id="{00000001-0010-4000-8000-000000000000}"/>
              </a:ext>
            </a:extLst>
          </p:cNvPr>
          <p:cNvSpPr>
            <a:spLocks noGrp="1"/>
          </p:cNvSpPr>
          <p:nvPr/>
        </p:nvSpPr>
        <p:spPr>
          <a:xfrm>
            <a:off x="9858375" y="3438525"/>
            <a:ext cx="4524375" cy="400050"/>
          </a:xfrm>
          <a:prstGeom prst="rect">
            <a:avLst/>
          </a:prstGeom>
          <a:noFill/>
          <a:ln w="0">
            <a:noFill/>
          </a:ln>
        </p:spPr>
        <p:txBody>
          <a:bodyPr>
            <a:noAutofit/>
          </a:bodyPr>
          <a:lstStyle/>
          <a:p>
            <a:pPr>
              <a:defRPr sz="2025" b="1">
                <a:solidFill>
                  <a:srgbClr val="122C49"/>
                </a:solidFill>
                <a:latin typeface="Aptos"/>
                <a:ea typeface="Aptos"/>
                <a:cs typeface="Aptos"/>
              </a:defRPr>
            </a:pPr>
            <a:r>
              <a:rPr sz="2025" b="1">
                <a:solidFill>
                  <a:srgbClr val="122C49"/>
                </a:solidFill>
                <a:latin typeface="Aptos"/>
                <a:ea typeface="Aptos"/>
                <a:cs typeface="Aptos"/>
              </a:rPr>
              <a:t>Decision Analysis</a:t>
            </a:r>
          </a:p>
        </p:txBody>
      </p:sp>
      <p:sp>
        <p:nvSpPr>
          <p:cNvPr id="17" name="Rectangle 16">
            <a:extLst>
              <a:ext uri="{FF2B5EF4-FFF2-40B4-BE49-F238E27FC236}">
                <a16:creationId xmlns:a16="http://schemas.microsoft.com/office/drawing/2014/main" id="{00000001-0011-4000-8000-000000000000}"/>
              </a:ext>
            </a:extLst>
          </p:cNvPr>
          <p:cNvSpPr>
            <a:spLocks noGrp="1"/>
          </p:cNvSpPr>
          <p:nvPr/>
        </p:nvSpPr>
        <p:spPr>
          <a:xfrm>
            <a:off x="9858375" y="3848100"/>
            <a:ext cx="4476750" cy="342900"/>
          </a:xfrm>
          <a:prstGeom prst="rect">
            <a:avLst/>
          </a:prstGeom>
          <a:noFill/>
          <a:ln w="0">
            <a:noFill/>
          </a:ln>
        </p:spPr>
        <p:txBody>
          <a:bodyPr wrap="square">
            <a:noAutofit/>
          </a:bodyPr>
          <a:lstStyle/>
          <a:p>
            <a:pPr>
              <a:defRPr sz="1725" b="0">
                <a:solidFill>
                  <a:srgbClr val="5C6F7F"/>
                </a:solidFill>
                <a:latin typeface="Aptos"/>
                <a:ea typeface="Aptos"/>
                <a:cs typeface="Aptos"/>
              </a:defRPr>
            </a:pPr>
            <a:r>
              <a:rPr lang="en-US" sz="1725" b="1">
                <a:solidFill>
                  <a:srgbClr val="007F83"/>
                </a:solidFill>
                <a:latin typeface="Aptos"/>
                <a:ea typeface="Aptos"/>
                <a:cs typeface="Aptos"/>
              </a:rPr>
              <a:t>25%</a:t>
            </a:r>
            <a:r>
              <a:rPr lang="en-US" sz="1725" b="0">
                <a:solidFill>
                  <a:srgbClr val="5C6F7F"/>
                </a:solidFill>
                <a:latin typeface="Aptos"/>
                <a:ea typeface="Aptos"/>
                <a:cs typeface="Aptos"/>
              </a:rPr>
              <a:t>  /  </a:t>
            </a:r>
            <a:r>
              <a:rPr sz="1725" b="0">
                <a:solidFill>
                  <a:srgbClr val="5C6F7F"/>
                </a:solidFill>
                <a:latin typeface="Aptos"/>
                <a:ea typeface="Aptos"/>
                <a:cs typeface="Aptos"/>
              </a:rPr>
              <a:t>SU 9–11: </a:t>
            </a:r>
            <a:r>
              <a:rPr lang="en-US" sz="1725" b="0">
                <a:solidFill>
                  <a:srgbClr val="5C6F7F"/>
                </a:solidFill>
                <a:latin typeface="Aptos"/>
                <a:ea typeface="Aptos"/>
                <a:cs typeface="Aptos"/>
              </a:rPr>
              <a:t>22 </a:t>
            </a:r>
            <a:r>
              <a:rPr sz="1725" b="0">
                <a:solidFill>
                  <a:srgbClr val="5C6F7F"/>
                </a:solidFill>
                <a:latin typeface="Aptos"/>
                <a:ea typeface="Aptos"/>
                <a:cs typeface="Aptos"/>
              </a:rPr>
              <a:t>Dec</a:t>
            </a:r>
            <a:r>
              <a:rPr lang="en-US" sz="1725" b="0">
                <a:solidFill>
                  <a:srgbClr val="5C6F7F"/>
                </a:solidFill>
                <a:latin typeface="Aptos"/>
                <a:ea typeface="Aptos"/>
                <a:cs typeface="Aptos"/>
              </a:rPr>
              <a:t> – 5 Jan</a:t>
            </a:r>
            <a:endParaRPr sz="1725" b="0">
              <a:solidFill>
                <a:srgbClr val="5C6F7F"/>
              </a:solidFill>
              <a:latin typeface="Aptos"/>
              <a:ea typeface="Aptos"/>
              <a:cs typeface="Aptos"/>
            </a:endParaRPr>
          </a:p>
        </p:txBody>
      </p:sp>
      <p:sp>
        <p:nvSpPr>
          <p:cNvPr id="18" name="Rectangle 17">
            <a:extLst>
              <a:ext uri="{FF2B5EF4-FFF2-40B4-BE49-F238E27FC236}">
                <a16:creationId xmlns:a16="http://schemas.microsoft.com/office/drawing/2014/main" id="{00000001-0012-4000-8000-000000000000}"/>
              </a:ext>
            </a:extLst>
          </p:cNvPr>
          <p:cNvSpPr>
            <a:spLocks noGrp="1"/>
          </p:cNvSpPr>
          <p:nvPr/>
        </p:nvSpPr>
        <p:spPr>
          <a:xfrm>
            <a:off x="9144000" y="4400550"/>
            <a:ext cx="571500" cy="504825"/>
          </a:xfrm>
          <a:prstGeom prst="rect">
            <a:avLst/>
          </a:prstGeom>
          <a:noFill/>
          <a:ln w="0">
            <a:noFill/>
          </a:ln>
        </p:spPr>
        <p:txBody>
          <a:bodyPr>
            <a:noAutofit/>
          </a:bodyPr>
          <a:lstStyle/>
          <a:p>
            <a:pPr>
              <a:defRPr sz="2925" b="1">
                <a:solidFill>
                  <a:srgbClr val="007F83"/>
                </a:solidFill>
                <a:latin typeface="Aptos"/>
                <a:ea typeface="Aptos"/>
                <a:cs typeface="Aptos"/>
              </a:defRPr>
            </a:pPr>
            <a:r>
              <a:rPr sz="2925" b="1">
                <a:solidFill>
                  <a:srgbClr val="007F83"/>
                </a:solidFill>
                <a:latin typeface="Aptos"/>
                <a:ea typeface="Aptos"/>
                <a:cs typeface="Aptos"/>
              </a:rPr>
              <a:t>D</a:t>
            </a:r>
          </a:p>
        </p:txBody>
      </p:sp>
      <p:sp>
        <p:nvSpPr>
          <p:cNvPr id="19" name="Rectangle 18">
            <a:extLst>
              <a:ext uri="{FF2B5EF4-FFF2-40B4-BE49-F238E27FC236}">
                <a16:creationId xmlns:a16="http://schemas.microsoft.com/office/drawing/2014/main" id="{00000001-0013-4000-8000-000000000000}"/>
              </a:ext>
            </a:extLst>
          </p:cNvPr>
          <p:cNvSpPr>
            <a:spLocks noGrp="1"/>
          </p:cNvSpPr>
          <p:nvPr/>
        </p:nvSpPr>
        <p:spPr>
          <a:xfrm>
            <a:off x="9858375" y="4400550"/>
            <a:ext cx="4524375" cy="400050"/>
          </a:xfrm>
          <a:prstGeom prst="rect">
            <a:avLst/>
          </a:prstGeom>
          <a:noFill/>
          <a:ln w="0">
            <a:noFill/>
          </a:ln>
        </p:spPr>
        <p:txBody>
          <a:bodyPr>
            <a:noAutofit/>
          </a:bodyPr>
          <a:lstStyle/>
          <a:p>
            <a:pPr>
              <a:defRPr sz="2025" b="1">
                <a:solidFill>
                  <a:srgbClr val="122C49"/>
                </a:solidFill>
                <a:latin typeface="Aptos"/>
                <a:ea typeface="Aptos"/>
                <a:cs typeface="Aptos"/>
              </a:defRPr>
            </a:pPr>
            <a:r>
              <a:rPr sz="2025" b="1">
                <a:solidFill>
                  <a:srgbClr val="122C49"/>
                </a:solidFill>
                <a:latin typeface="Aptos"/>
                <a:ea typeface="Aptos"/>
                <a:cs typeface="Aptos"/>
              </a:rPr>
              <a:t>Risk Management</a:t>
            </a:r>
          </a:p>
        </p:txBody>
      </p:sp>
      <p:sp>
        <p:nvSpPr>
          <p:cNvPr id="20" name="Rectangle 19">
            <a:extLst>
              <a:ext uri="{FF2B5EF4-FFF2-40B4-BE49-F238E27FC236}">
                <a16:creationId xmlns:a16="http://schemas.microsoft.com/office/drawing/2014/main" id="{00000001-0014-4000-8000-000000000000}"/>
              </a:ext>
            </a:extLst>
          </p:cNvPr>
          <p:cNvSpPr>
            <a:spLocks noGrp="1"/>
          </p:cNvSpPr>
          <p:nvPr/>
        </p:nvSpPr>
        <p:spPr>
          <a:xfrm>
            <a:off x="9858375" y="4810125"/>
            <a:ext cx="4476750" cy="342900"/>
          </a:xfrm>
          <a:prstGeom prst="rect">
            <a:avLst/>
          </a:prstGeom>
          <a:noFill/>
          <a:ln w="0">
            <a:noFill/>
          </a:ln>
        </p:spPr>
        <p:txBody>
          <a:bodyPr wrap="square">
            <a:noAutofit/>
          </a:bodyPr>
          <a:lstStyle/>
          <a:p>
            <a:pPr>
              <a:defRPr sz="1725" b="0">
                <a:solidFill>
                  <a:srgbClr val="5C6F7F"/>
                </a:solidFill>
                <a:latin typeface="Aptos"/>
                <a:ea typeface="Aptos"/>
                <a:cs typeface="Aptos"/>
              </a:defRPr>
            </a:pPr>
            <a:r>
              <a:rPr lang="en-US" sz="1725" b="1">
                <a:solidFill>
                  <a:srgbClr val="007F83"/>
                </a:solidFill>
                <a:latin typeface="Aptos"/>
                <a:ea typeface="Aptos"/>
                <a:cs typeface="Aptos"/>
              </a:rPr>
              <a:t>10%</a:t>
            </a:r>
            <a:r>
              <a:rPr lang="en-US" sz="1725" b="0">
                <a:solidFill>
                  <a:srgbClr val="5C6F7F"/>
                </a:solidFill>
                <a:latin typeface="Aptos"/>
                <a:ea typeface="Aptos"/>
                <a:cs typeface="Aptos"/>
              </a:rPr>
              <a:t>  /  </a:t>
            </a:r>
            <a:r>
              <a:rPr sz="1725" b="0">
                <a:solidFill>
                  <a:srgbClr val="5C6F7F"/>
                </a:solidFill>
                <a:latin typeface="Aptos"/>
                <a:ea typeface="Aptos"/>
                <a:cs typeface="Aptos"/>
              </a:rPr>
              <a:t>SU 12: </a:t>
            </a:r>
            <a:r>
              <a:rPr lang="en-US" sz="1725" b="0">
                <a:solidFill>
                  <a:srgbClr val="5C6F7F"/>
                </a:solidFill>
                <a:latin typeface="Aptos"/>
                <a:ea typeface="Aptos"/>
                <a:cs typeface="Aptos"/>
              </a:rPr>
              <a:t>8 Jan</a:t>
            </a:r>
            <a:endParaRPr sz="1725" b="0">
              <a:solidFill>
                <a:srgbClr val="5C6F7F"/>
              </a:solidFill>
              <a:latin typeface="Aptos"/>
              <a:ea typeface="Aptos"/>
              <a:cs typeface="Aptos"/>
            </a:endParaRPr>
          </a:p>
        </p:txBody>
      </p:sp>
      <p:sp>
        <p:nvSpPr>
          <p:cNvPr id="21" name="Rectangle 20">
            <a:extLst>
              <a:ext uri="{FF2B5EF4-FFF2-40B4-BE49-F238E27FC236}">
                <a16:creationId xmlns:a16="http://schemas.microsoft.com/office/drawing/2014/main" id="{00000001-0015-4000-8000-000000000000}"/>
              </a:ext>
            </a:extLst>
          </p:cNvPr>
          <p:cNvSpPr>
            <a:spLocks noGrp="1"/>
          </p:cNvSpPr>
          <p:nvPr/>
        </p:nvSpPr>
        <p:spPr>
          <a:xfrm>
            <a:off x="9144000" y="5362575"/>
            <a:ext cx="571500" cy="504825"/>
          </a:xfrm>
          <a:prstGeom prst="rect">
            <a:avLst/>
          </a:prstGeom>
          <a:noFill/>
          <a:ln w="0">
            <a:noFill/>
          </a:ln>
        </p:spPr>
        <p:txBody>
          <a:bodyPr>
            <a:noAutofit/>
          </a:bodyPr>
          <a:lstStyle/>
          <a:p>
            <a:pPr>
              <a:defRPr sz="2925" b="1">
                <a:solidFill>
                  <a:srgbClr val="007F83"/>
                </a:solidFill>
                <a:latin typeface="Aptos"/>
                <a:ea typeface="Aptos"/>
                <a:cs typeface="Aptos"/>
              </a:defRPr>
            </a:pPr>
            <a:r>
              <a:rPr sz="2925" b="1">
                <a:solidFill>
                  <a:srgbClr val="007F83"/>
                </a:solidFill>
                <a:latin typeface="Aptos"/>
                <a:ea typeface="Aptos"/>
                <a:cs typeface="Aptos"/>
              </a:rPr>
              <a:t>E</a:t>
            </a:r>
          </a:p>
        </p:txBody>
      </p:sp>
      <p:sp>
        <p:nvSpPr>
          <p:cNvPr id="22" name="Rectangle 21">
            <a:extLst>
              <a:ext uri="{FF2B5EF4-FFF2-40B4-BE49-F238E27FC236}">
                <a16:creationId xmlns:a16="http://schemas.microsoft.com/office/drawing/2014/main" id="{00000001-0016-4000-8000-000000000000}"/>
              </a:ext>
            </a:extLst>
          </p:cNvPr>
          <p:cNvSpPr>
            <a:spLocks noGrp="1"/>
          </p:cNvSpPr>
          <p:nvPr/>
        </p:nvSpPr>
        <p:spPr>
          <a:xfrm>
            <a:off x="9858375" y="5362575"/>
            <a:ext cx="4524375" cy="400050"/>
          </a:xfrm>
          <a:prstGeom prst="rect">
            <a:avLst/>
          </a:prstGeom>
          <a:noFill/>
          <a:ln w="0">
            <a:noFill/>
          </a:ln>
        </p:spPr>
        <p:txBody>
          <a:bodyPr>
            <a:noAutofit/>
          </a:bodyPr>
          <a:lstStyle/>
          <a:p>
            <a:pPr>
              <a:defRPr sz="2025" b="1">
                <a:solidFill>
                  <a:srgbClr val="122C49"/>
                </a:solidFill>
                <a:latin typeface="Aptos"/>
                <a:ea typeface="Aptos"/>
                <a:cs typeface="Aptos"/>
              </a:defRPr>
            </a:pPr>
            <a:r>
              <a:rPr sz="2025" b="1">
                <a:solidFill>
                  <a:srgbClr val="122C49"/>
                </a:solidFill>
                <a:latin typeface="Aptos"/>
                <a:ea typeface="Aptos"/>
                <a:cs typeface="Aptos"/>
              </a:rPr>
              <a:t>Investment Decisions</a:t>
            </a:r>
          </a:p>
        </p:txBody>
      </p:sp>
      <p:sp>
        <p:nvSpPr>
          <p:cNvPr id="23" name="Rectangle 22">
            <a:extLst>
              <a:ext uri="{FF2B5EF4-FFF2-40B4-BE49-F238E27FC236}">
                <a16:creationId xmlns:a16="http://schemas.microsoft.com/office/drawing/2014/main" id="{00000001-0017-4000-8000-000000000000}"/>
              </a:ext>
            </a:extLst>
          </p:cNvPr>
          <p:cNvSpPr>
            <a:spLocks noGrp="1"/>
          </p:cNvSpPr>
          <p:nvPr/>
        </p:nvSpPr>
        <p:spPr>
          <a:xfrm>
            <a:off x="9858375" y="5772150"/>
            <a:ext cx="4476750" cy="342900"/>
          </a:xfrm>
          <a:prstGeom prst="rect">
            <a:avLst/>
          </a:prstGeom>
          <a:noFill/>
          <a:ln w="0">
            <a:noFill/>
          </a:ln>
        </p:spPr>
        <p:txBody>
          <a:bodyPr wrap="square">
            <a:noAutofit/>
          </a:bodyPr>
          <a:lstStyle/>
          <a:p>
            <a:pPr>
              <a:defRPr sz="1725" b="0">
                <a:solidFill>
                  <a:srgbClr val="5C6F7F"/>
                </a:solidFill>
                <a:latin typeface="Aptos"/>
                <a:ea typeface="Aptos"/>
                <a:cs typeface="Aptos"/>
              </a:defRPr>
            </a:pPr>
            <a:r>
              <a:rPr lang="en-US" sz="1725" b="1">
                <a:solidFill>
                  <a:srgbClr val="007F83"/>
                </a:solidFill>
                <a:latin typeface="Aptos"/>
                <a:ea typeface="Aptos"/>
                <a:cs typeface="Aptos"/>
              </a:rPr>
              <a:t>10%</a:t>
            </a:r>
            <a:r>
              <a:rPr lang="en-US" sz="1725" b="0">
                <a:solidFill>
                  <a:srgbClr val="5C6F7F"/>
                </a:solidFill>
                <a:latin typeface="Aptos"/>
                <a:ea typeface="Aptos"/>
                <a:cs typeface="Aptos"/>
              </a:rPr>
              <a:t>  /  </a:t>
            </a:r>
            <a:r>
              <a:rPr sz="1725" b="0">
                <a:solidFill>
                  <a:srgbClr val="5C6F7F"/>
                </a:solidFill>
                <a:latin typeface="Aptos"/>
                <a:ea typeface="Aptos"/>
                <a:cs typeface="Aptos"/>
              </a:rPr>
              <a:t>SU 13: </a:t>
            </a:r>
            <a:r>
              <a:rPr lang="en-US" sz="1725" b="0">
                <a:solidFill>
                  <a:srgbClr val="5C6F7F"/>
                </a:solidFill>
                <a:latin typeface="Aptos"/>
                <a:ea typeface="Aptos"/>
                <a:cs typeface="Aptos"/>
              </a:rPr>
              <a:t>12–15</a:t>
            </a:r>
            <a:r>
              <a:rPr sz="1725" b="0">
                <a:solidFill>
                  <a:srgbClr val="5C6F7F"/>
                </a:solidFill>
                <a:latin typeface="Aptos"/>
                <a:ea typeface="Aptos"/>
                <a:cs typeface="Aptos"/>
              </a:rPr>
              <a:t> Jan</a:t>
            </a:r>
          </a:p>
        </p:txBody>
      </p:sp>
      <p:sp>
        <p:nvSpPr>
          <p:cNvPr id="24" name="Rectangle 23">
            <a:extLst>
              <a:ext uri="{FF2B5EF4-FFF2-40B4-BE49-F238E27FC236}">
                <a16:creationId xmlns:a16="http://schemas.microsoft.com/office/drawing/2014/main" id="{00000001-0018-4000-8000-000000000000}"/>
              </a:ext>
            </a:extLst>
          </p:cNvPr>
          <p:cNvSpPr>
            <a:spLocks noGrp="1"/>
          </p:cNvSpPr>
          <p:nvPr/>
        </p:nvSpPr>
        <p:spPr>
          <a:xfrm>
            <a:off x="9144000" y="6324600"/>
            <a:ext cx="571500" cy="504825"/>
          </a:xfrm>
          <a:prstGeom prst="rect">
            <a:avLst/>
          </a:prstGeom>
          <a:noFill/>
          <a:ln w="0">
            <a:noFill/>
          </a:ln>
        </p:spPr>
        <p:txBody>
          <a:bodyPr>
            <a:noAutofit/>
          </a:bodyPr>
          <a:lstStyle/>
          <a:p>
            <a:pPr>
              <a:defRPr sz="2925" b="1">
                <a:solidFill>
                  <a:srgbClr val="007F83"/>
                </a:solidFill>
                <a:latin typeface="Aptos"/>
                <a:ea typeface="Aptos"/>
                <a:cs typeface="Aptos"/>
              </a:defRPr>
            </a:pPr>
            <a:r>
              <a:rPr sz="2925" b="1">
                <a:solidFill>
                  <a:srgbClr val="007F83"/>
                </a:solidFill>
                <a:latin typeface="Aptos"/>
                <a:ea typeface="Aptos"/>
                <a:cs typeface="Aptos"/>
              </a:rPr>
              <a:t>F</a:t>
            </a:r>
          </a:p>
        </p:txBody>
      </p:sp>
      <p:sp>
        <p:nvSpPr>
          <p:cNvPr id="25" name="Rectangle 24">
            <a:extLst>
              <a:ext uri="{FF2B5EF4-FFF2-40B4-BE49-F238E27FC236}">
                <a16:creationId xmlns:a16="http://schemas.microsoft.com/office/drawing/2014/main" id="{00000001-0019-4000-8000-000000000000}"/>
              </a:ext>
            </a:extLst>
          </p:cNvPr>
          <p:cNvSpPr>
            <a:spLocks noGrp="1"/>
          </p:cNvSpPr>
          <p:nvPr/>
        </p:nvSpPr>
        <p:spPr>
          <a:xfrm>
            <a:off x="9858375" y="6324600"/>
            <a:ext cx="4524375" cy="400050"/>
          </a:xfrm>
          <a:prstGeom prst="rect">
            <a:avLst/>
          </a:prstGeom>
          <a:noFill/>
          <a:ln w="0">
            <a:noFill/>
          </a:ln>
        </p:spPr>
        <p:txBody>
          <a:bodyPr>
            <a:noAutofit/>
          </a:bodyPr>
          <a:lstStyle/>
          <a:p>
            <a:pPr>
              <a:defRPr sz="2025" b="1">
                <a:solidFill>
                  <a:srgbClr val="122C49"/>
                </a:solidFill>
                <a:latin typeface="Aptos"/>
                <a:ea typeface="Aptos"/>
                <a:cs typeface="Aptos"/>
              </a:defRPr>
            </a:pPr>
            <a:r>
              <a:rPr sz="2025" b="1">
                <a:solidFill>
                  <a:srgbClr val="122C49"/>
                </a:solidFill>
                <a:latin typeface="Aptos"/>
                <a:ea typeface="Aptos"/>
                <a:cs typeface="Aptos"/>
              </a:rPr>
              <a:t>Professional Ethics</a:t>
            </a:r>
          </a:p>
        </p:txBody>
      </p:sp>
      <p:sp>
        <p:nvSpPr>
          <p:cNvPr id="26" name="Rectangle 25">
            <a:extLst>
              <a:ext uri="{FF2B5EF4-FFF2-40B4-BE49-F238E27FC236}">
                <a16:creationId xmlns:a16="http://schemas.microsoft.com/office/drawing/2014/main" id="{00000001-001A-4000-8000-000000000000}"/>
              </a:ext>
            </a:extLst>
          </p:cNvPr>
          <p:cNvSpPr>
            <a:spLocks noGrp="1"/>
          </p:cNvSpPr>
          <p:nvPr/>
        </p:nvSpPr>
        <p:spPr>
          <a:xfrm>
            <a:off x="9858375" y="6734175"/>
            <a:ext cx="4476750" cy="342900"/>
          </a:xfrm>
          <a:prstGeom prst="rect">
            <a:avLst/>
          </a:prstGeom>
          <a:noFill/>
          <a:ln w="0">
            <a:noFill/>
          </a:ln>
        </p:spPr>
        <p:txBody>
          <a:bodyPr wrap="square">
            <a:noAutofit/>
          </a:bodyPr>
          <a:lstStyle/>
          <a:p>
            <a:pPr>
              <a:defRPr sz="1725" b="0">
                <a:solidFill>
                  <a:srgbClr val="5C6F7F"/>
                </a:solidFill>
                <a:latin typeface="Aptos"/>
                <a:ea typeface="Aptos"/>
                <a:cs typeface="Aptos"/>
              </a:defRPr>
            </a:pPr>
            <a:r>
              <a:rPr lang="en-US" sz="1725" b="1">
                <a:solidFill>
                  <a:srgbClr val="007F83"/>
                </a:solidFill>
                <a:latin typeface="Aptos"/>
                <a:ea typeface="Aptos"/>
                <a:cs typeface="Aptos"/>
              </a:rPr>
              <a:t>15%</a:t>
            </a:r>
            <a:r>
              <a:rPr lang="en-US" sz="1725" b="0">
                <a:solidFill>
                  <a:srgbClr val="5C6F7F"/>
                </a:solidFill>
                <a:latin typeface="Aptos"/>
                <a:ea typeface="Aptos"/>
                <a:cs typeface="Aptos"/>
              </a:rPr>
              <a:t>  /  </a:t>
            </a:r>
            <a:r>
              <a:rPr sz="1725" b="0">
                <a:solidFill>
                  <a:srgbClr val="5C6F7F"/>
                </a:solidFill>
                <a:latin typeface="Aptos"/>
                <a:ea typeface="Aptos"/>
                <a:cs typeface="Aptos"/>
              </a:rPr>
              <a:t>SU 14–15: </a:t>
            </a:r>
            <a:r>
              <a:rPr lang="en-US" sz="1725" b="0">
                <a:solidFill>
                  <a:srgbClr val="5C6F7F"/>
                </a:solidFill>
                <a:latin typeface="Aptos"/>
                <a:ea typeface="Aptos"/>
                <a:cs typeface="Aptos"/>
              </a:rPr>
              <a:t>19–22</a:t>
            </a:r>
            <a:r>
              <a:rPr sz="1725" b="0">
                <a:solidFill>
                  <a:srgbClr val="5C6F7F"/>
                </a:solidFill>
                <a:latin typeface="Aptos"/>
                <a:ea typeface="Aptos"/>
                <a:cs typeface="Aptos"/>
              </a:rPr>
              <a:t> Jan</a:t>
            </a:r>
          </a:p>
        </p:txBody>
      </p:sp>
      <p:sp>
        <p:nvSpPr>
          <p:cNvPr id="27" name="Rectangle 26">
            <a:extLst>
              <a:ext uri="{FF2B5EF4-FFF2-40B4-BE49-F238E27FC236}">
                <a16:creationId xmlns:a16="http://schemas.microsoft.com/office/drawing/2014/main" id="{00000001-001B-4000-8000-000000000000}"/>
              </a:ext>
            </a:extLst>
          </p:cNvPr>
          <p:cNvSpPr>
            <a:spLocks noGrp="1"/>
          </p:cNvSpPr>
          <p:nvPr/>
        </p:nvSpPr>
        <p:spPr>
          <a:xfrm>
            <a:off x="9144000" y="7448550"/>
            <a:ext cx="5143500" cy="400050"/>
          </a:xfrm>
          <a:prstGeom prst="rect">
            <a:avLst/>
          </a:prstGeom>
          <a:noFill/>
          <a:ln w="0">
            <a:noFill/>
          </a:ln>
        </p:spPr>
        <p:txBody>
          <a:bodyPr wrap="square">
            <a:noAutofit/>
          </a:bodyPr>
          <a:lstStyle/>
          <a:p>
            <a:pPr>
              <a:defRPr sz="1875" b="1">
                <a:solidFill>
                  <a:srgbClr val="007F83"/>
                </a:solidFill>
                <a:latin typeface="Aptos"/>
                <a:ea typeface="Aptos"/>
                <a:cs typeface="Aptos"/>
              </a:defRPr>
            </a:pPr>
            <a:r>
              <a:rPr lang="en-US" sz="1875" b="1">
                <a:solidFill>
                  <a:srgbClr val="007F83"/>
                </a:solidFill>
                <a:latin typeface="Aptos"/>
                <a:ea typeface="Aptos"/>
                <a:cs typeface="Aptos"/>
              </a:rPr>
              <a:t>26–29</a:t>
            </a:r>
            <a:r>
              <a:rPr sz="1875" b="1">
                <a:solidFill>
                  <a:srgbClr val="007F83"/>
                </a:solidFill>
                <a:latin typeface="Aptos"/>
                <a:ea typeface="Aptos"/>
                <a:cs typeface="Aptos"/>
              </a:rPr>
              <a:t> Jan: Consolidation</a:t>
            </a:r>
          </a:p>
        </p:txBody>
      </p:sp>
      <p:sp>
        <p:nvSpPr>
          <p:cNvPr id="29" name="Rectangle 28">
            <a:extLst>
              <a:ext uri="{FF2B5EF4-FFF2-40B4-BE49-F238E27FC236}">
                <a16:creationId xmlns:a16="http://schemas.microsoft.com/office/drawing/2014/main" id="{00000001-001D-4000-8000-000000000000}"/>
              </a:ext>
            </a:extLst>
          </p:cNvPr>
          <p:cNvSpPr>
            <a:spLocks noGrp="1"/>
          </p:cNvSpPr>
          <p:nvPr/>
        </p:nvSpPr>
        <p:spPr>
          <a:xfrm>
            <a:off x="13811250" y="8077200"/>
            <a:ext cx="666750" cy="285750"/>
          </a:xfrm>
          <a:prstGeom prst="rect">
            <a:avLst/>
          </a:prstGeom>
          <a:noFill/>
          <a:ln w="0">
            <a:noFill/>
          </a:ln>
        </p:spPr>
        <p:txBody>
          <a:bodyPr wrap="square">
            <a:noAutofit/>
          </a:bodyPr>
          <a:lstStyle/>
          <a:p>
            <a:pPr>
              <a:defRPr sz="1350" b="0">
                <a:solidFill>
                  <a:srgbClr val="5C6F7F"/>
                </a:solidFill>
                <a:latin typeface="Aptos"/>
                <a:ea typeface="Aptos"/>
                <a:cs typeface="Aptos"/>
              </a:defRPr>
            </a:pPr>
            <a:r>
              <a:rPr lang="en-US" sz="1350" b="0">
                <a:solidFill>
                  <a:srgbClr val="5C6F7F"/>
                </a:solidFill>
                <a:latin typeface="Aptos"/>
                <a:ea typeface="Aptos"/>
                <a:cs typeface="Aptos"/>
              </a:rPr>
              <a:t>14</a:t>
            </a:r>
            <a:endParaRPr sz="1350" b="0">
              <a:solidFill>
                <a:srgbClr val="5C6F7F"/>
              </a:solidFill>
              <a:latin typeface="Aptos"/>
              <a:ea typeface="Aptos"/>
              <a:cs typeface="Aptos"/>
            </a:endParaRPr>
          </a:p>
        </p:txBody>
      </p:sp>
      <p:sp>
        <p:nvSpPr>
          <p:cNvPr id="32" name="Rectangle 31">
            <a:extLst>
              <a:ext uri="{FF2B5EF4-FFF2-40B4-BE49-F238E27FC236}">
                <a16:creationId xmlns:a16="http://schemas.microsoft.com/office/drawing/2014/main" id="{85E7BB79-8DB0-B870-7532-0D43959EF67E}"/>
              </a:ext>
            </a:extLst>
          </p:cNvPr>
          <p:cNvSpPr>
            <a:spLocks noGrp="1"/>
          </p:cNvSpPr>
          <p:nvPr/>
        </p:nvSpPr>
        <p:spPr>
          <a:xfrm>
            <a:off x="762000" y="8077200"/>
            <a:ext cx="11430000" cy="285750"/>
          </a:xfrm>
          <a:prstGeom prst="rect">
            <a:avLst/>
          </a:prstGeom>
          <a:noFill/>
          <a:ln w="0">
            <a:noFill/>
          </a:ln>
        </p:spPr>
        <p:txBody>
          <a:bodyPr wrap="square">
            <a:noAutofit/>
          </a:bodyPr>
          <a:lstStyle/>
          <a:p>
            <a:pPr>
              <a:defRPr sz="1350" b="0">
                <a:solidFill>
                  <a:srgbClr val="5C6F7F"/>
                </a:solidFill>
                <a:latin typeface="Aptos"/>
                <a:ea typeface="Aptos"/>
                <a:cs typeface="Aptos"/>
              </a:defRPr>
            </a:pPr>
            <a:r>
              <a:rPr sz="1350" b="0" dirty="0">
                <a:solidFill>
                  <a:srgbClr val="5C6F7F"/>
                </a:solidFill>
                <a:latin typeface="Aptos"/>
                <a:ea typeface="Aptos"/>
                <a:cs typeface="Aptos"/>
              </a:rPr>
              <a:t>CMA P2 202</a:t>
            </a:r>
            <a:r>
              <a:rPr lang="en-US" sz="1350" b="0" dirty="0">
                <a:solidFill>
                  <a:srgbClr val="5C6F7F"/>
                </a:solidFill>
                <a:latin typeface="Aptos"/>
                <a:ea typeface="Aptos"/>
                <a:cs typeface="Aptos"/>
              </a:rPr>
              <a:t>6</a:t>
            </a:r>
            <a:endParaRPr sz="1350" b="0" dirty="0">
              <a:solidFill>
                <a:srgbClr val="5C6F7F"/>
              </a:solidFill>
              <a:latin typeface="Aptos"/>
              <a:ea typeface="Aptos"/>
              <a:cs typeface="Apto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0000002-0001-4000-8000-000000000000}"/>
              </a:ext>
            </a:extLst>
          </p:cNvPr>
          <p:cNvSpPr>
            <a:spLocks noGrp="1"/>
          </p:cNvSpPr>
          <p:nvPr/>
        </p:nvSpPr>
        <p:spPr>
          <a:xfrm>
            <a:off x="762000" y="542925"/>
            <a:ext cx="13811250" cy="666750"/>
          </a:xfrm>
          <a:prstGeom prst="rect">
            <a:avLst/>
          </a:prstGeom>
          <a:noFill/>
          <a:ln w="0">
            <a:noFill/>
          </a:ln>
        </p:spPr>
        <p:txBody>
          <a:bodyPr wrap="square">
            <a:noAutofit/>
          </a:bodyPr>
          <a:lstStyle/>
          <a:p>
            <a:pPr>
              <a:defRPr sz="3675" b="1">
                <a:solidFill>
                  <a:srgbClr val="122C49"/>
                </a:solidFill>
                <a:latin typeface="Aptos"/>
                <a:ea typeface="Aptos"/>
                <a:cs typeface="Aptos"/>
              </a:defRPr>
            </a:pPr>
            <a:r>
              <a:rPr lang="en-US" sz="3675" b="1">
                <a:solidFill>
                  <a:srgbClr val="122C49"/>
                </a:solidFill>
                <a:latin typeface="Aptos"/>
                <a:ea typeface="Aptos"/>
                <a:cs typeface="Aptos"/>
              </a:rPr>
              <a:t>Course introduction</a:t>
            </a:r>
          </a:p>
        </p:txBody>
      </p:sp>
      <p:sp>
        <p:nvSpPr>
          <p:cNvPr id="2" name="Rectangle 1">
            <a:extLst>
              <a:ext uri="{FF2B5EF4-FFF2-40B4-BE49-F238E27FC236}">
                <a16:creationId xmlns:a16="http://schemas.microsoft.com/office/drawing/2014/main" id="{00000002-0002-4000-8000-000000000000}"/>
              </a:ext>
            </a:extLst>
          </p:cNvPr>
          <p:cNvSpPr>
            <a:spLocks noGrp="1"/>
          </p:cNvSpPr>
          <p:nvPr/>
        </p:nvSpPr>
        <p:spPr>
          <a:xfrm>
            <a:off x="762000" y="1185862"/>
            <a:ext cx="13811250" cy="400050"/>
          </a:xfrm>
          <a:prstGeom prst="rect">
            <a:avLst/>
          </a:prstGeom>
          <a:noFill/>
          <a:ln w="0">
            <a:noFill/>
          </a:ln>
        </p:spPr>
        <p:txBody>
          <a:bodyPr wrap="square">
            <a:noAutofit/>
          </a:bodyPr>
          <a:lstStyle/>
          <a:p>
            <a:pPr>
              <a:defRPr sz="2025" b="0">
                <a:solidFill>
                  <a:srgbClr val="007F83"/>
                </a:solidFill>
                <a:latin typeface="Aptos"/>
                <a:ea typeface="Aptos"/>
                <a:cs typeface="Aptos"/>
              </a:defRPr>
            </a:pPr>
            <a:r>
              <a:rPr lang="en-US" sz="2400" b="0">
                <a:solidFill>
                  <a:srgbClr val="007F83"/>
                </a:solidFill>
                <a:latin typeface="Aptos"/>
                <a:ea typeface="Aptos"/>
                <a:cs typeface="Aptos"/>
              </a:rPr>
              <a:t>30 Oct 2026   /   2025 PDF session 1</a:t>
            </a:r>
          </a:p>
        </p:txBody>
      </p:sp>
      <p:graphicFrame>
        <p:nvGraphicFramePr>
          <p:cNvPr id="3" name="Table 2"/>
          <p:cNvGraphicFramePr/>
          <p:nvPr>
            <p:extLst>
              <p:ext uri="{D42A27DB-BD31-4B8C-83A1-F6EECF244321}">
                <p14:modId xmlns:p14="http://schemas.microsoft.com/office/powerpoint/2010/main" val="403889143"/>
              </p:ext>
            </p:extLst>
          </p:nvPr>
        </p:nvGraphicFramePr>
        <p:xfrm>
          <a:off x="762000" y="2028825"/>
          <a:ext cx="13811251" cy="1950720"/>
        </p:xfrm>
        <a:graphic>
          <a:graphicData uri="http://schemas.openxmlformats.org/drawingml/2006/table">
            <a:tbl>
              <a:tblPr/>
              <a:tblGrid>
                <a:gridCol w="1962652">
                  <a:extLst>
                    <a:ext uri="{9D8B030D-6E8A-4147-A177-3AD203B41FA5}">
                      <a16:colId xmlns:a16="http://schemas.microsoft.com/office/drawing/2014/main" val="20000"/>
                    </a:ext>
                  </a:extLst>
                </a:gridCol>
                <a:gridCol w="4984248">
                  <a:extLst>
                    <a:ext uri="{9D8B030D-6E8A-4147-A177-3AD203B41FA5}">
                      <a16:colId xmlns:a16="http://schemas.microsoft.com/office/drawing/2014/main" val="20001"/>
                    </a:ext>
                  </a:extLst>
                </a:gridCol>
                <a:gridCol w="5172911">
                  <a:extLst>
                    <a:ext uri="{9D8B030D-6E8A-4147-A177-3AD203B41FA5}">
                      <a16:colId xmlns:a16="http://schemas.microsoft.com/office/drawing/2014/main" val="20002"/>
                    </a:ext>
                  </a:extLst>
                </a:gridCol>
                <a:gridCol w="1691440">
                  <a:extLst>
                    <a:ext uri="{9D8B030D-6E8A-4147-A177-3AD203B41FA5}">
                      <a16:colId xmlns:a16="http://schemas.microsoft.com/office/drawing/2014/main" val="20003"/>
                    </a:ext>
                  </a:extLst>
                </a:gridCol>
              </a:tblGrid>
              <a:tr h="514350">
                <a:tc>
                  <a:txBody>
                    <a:bodyPr/>
                    <a:lstStyle/>
                    <a:p>
                      <a:pPr algn="ctr"/>
                      <a:r>
                        <a:rPr lang="en-US" sz="1800" b="1">
                          <a:solidFill>
                            <a:srgbClr val="FFFFFF"/>
                          </a:solidFill>
                          <a:latin typeface="Aptos"/>
                          <a:ea typeface="Aptos"/>
                          <a:cs typeface="Aptos"/>
                        </a:rPr>
                        <a:t>Session / date</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Lecture</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Introduction agenda</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Pages</a:t>
                      </a:r>
                    </a:p>
                  </a:txBody>
                  <a:tcPr marL="133350" marR="133350" marT="133350" marB="133350" anchor="ctr">
                    <a:solidFill>
                      <a:srgbClr val="122C49"/>
                    </a:solidFill>
                  </a:tcPr>
                </a:tc>
                <a:extLst>
                  <a:ext uri="{0D108BD9-81ED-4DB2-BD59-A6C34878D82A}">
                    <a16:rowId xmlns:a16="http://schemas.microsoft.com/office/drawing/2014/main" val="10000"/>
                  </a:ext>
                </a:extLst>
              </a:tr>
              <a:tr h="1409700">
                <a:tc>
                  <a:txBody>
                    <a:bodyPr/>
                    <a:lstStyle/>
                    <a:p>
                      <a:r>
                        <a:rPr lang="sv-SE" sz="1800" b="1">
                          <a:solidFill>
                            <a:srgbClr val="007F83"/>
                          </a:solidFill>
                          <a:latin typeface="Aptos"/>
                          <a:ea typeface="Aptos"/>
                          <a:cs typeface="Aptos"/>
                        </a:rPr>
                        <a:t>01</a:t>
                      </a:r>
                    </a:p>
                    <a:p>
                      <a:r>
                        <a:rPr lang="sv-SE" sz="1800" b="1">
                          <a:solidFill>
                            <a:srgbClr val="007F83"/>
                          </a:solidFill>
                          <a:latin typeface="Aptos"/>
                          <a:ea typeface="Aptos"/>
                          <a:cs typeface="Aptos"/>
                        </a:rPr>
                        <a:t>Fri 30 Oct</a:t>
                      </a:r>
                    </a:p>
                    <a:p>
                      <a:r>
                        <a:rPr lang="sv-SE" sz="1800" b="1">
                          <a:solidFill>
                            <a:srgbClr val="007F83"/>
                          </a:solidFill>
                          <a:latin typeface="Aptos"/>
                          <a:ea typeface="Aptos"/>
                          <a:cs typeface="Aptos"/>
                        </a:rPr>
                        <a:t>2026</a:t>
                      </a:r>
                    </a:p>
                  </a:txBody>
                  <a:tcPr marL="133350" marR="133350" marT="133350" marB="133350" anchor="ctr">
                    <a:solidFill>
                      <a:srgbClr val="F3F7F9"/>
                    </a:solidFill>
                  </a:tcPr>
                </a:tc>
                <a:tc>
                  <a:txBody>
                    <a:bodyPr/>
                    <a:lstStyle/>
                    <a:p>
                      <a:r>
                        <a:rPr lang="en-US" sz="1800" b="1">
                          <a:solidFill>
                            <a:srgbClr val="122C49"/>
                          </a:solidFill>
                          <a:latin typeface="Aptos"/>
                          <a:ea typeface="Aptos"/>
                          <a:cs typeface="Aptos"/>
                        </a:rPr>
                        <a:t>Course introduction</a:t>
                      </a:r>
                    </a:p>
                  </a:txBody>
                  <a:tcPr marL="133350" marR="133350" marT="133350" marB="133350" anchor="ctr">
                    <a:solidFill>
                      <a:srgbClr val="F3F7F9"/>
                    </a:solidFill>
                  </a:tcPr>
                </a:tc>
                <a:tc>
                  <a:txBody>
                    <a:bodyPr/>
                    <a:lstStyle/>
                    <a:p>
                      <a:pPr marL="285750" indent="-285750">
                        <a:buFont typeface="Arial" panose="020B0604020202020204" pitchFamily="34" charset="0"/>
                        <a:buChar char="•"/>
                      </a:pPr>
                      <a:r>
                        <a:rPr lang="en-US" sz="1800">
                          <a:solidFill>
                            <a:srgbClr val="233B50"/>
                          </a:solidFill>
                          <a:latin typeface="Aptos"/>
                          <a:ea typeface="Aptos"/>
                          <a:cs typeface="Aptos"/>
                        </a:rPr>
                        <a:t>Course objectives and topic overview</a:t>
                      </a:r>
                    </a:p>
                    <a:p>
                      <a:pPr marL="285750" indent="-285750">
                        <a:buFont typeface="Arial" panose="020B0604020202020204" pitchFamily="34" charset="0"/>
                        <a:buChar char="•"/>
                      </a:pPr>
                      <a:r>
                        <a:rPr lang="en-US" sz="1800">
                          <a:solidFill>
                            <a:srgbClr val="233B50"/>
                          </a:solidFill>
                          <a:latin typeface="Aptos"/>
                          <a:ea typeface="Aptos"/>
                          <a:cs typeface="Aptos"/>
                        </a:rPr>
                        <a:t>Section exam weights and timetable</a:t>
                      </a:r>
                    </a:p>
                    <a:p>
                      <a:pPr marL="285750" indent="-285750">
                        <a:buFont typeface="Arial" panose="020B0604020202020204" pitchFamily="34" charset="0"/>
                        <a:buChar char="•"/>
                      </a:pPr>
                      <a:r>
                        <a:rPr lang="en-US" sz="1800">
                          <a:solidFill>
                            <a:srgbClr val="233B50"/>
                          </a:solidFill>
                          <a:latin typeface="Aptos"/>
                          <a:ea typeface="Aptos"/>
                          <a:cs typeface="Aptos"/>
                        </a:rPr>
                        <a:t>Study materials and practice approach</a:t>
                      </a:r>
                    </a:p>
                    <a:p>
                      <a:pPr marL="285750" indent="-285750">
                        <a:buFont typeface="Arial" panose="020B0604020202020204" pitchFamily="34" charset="0"/>
                        <a:buChar char="•"/>
                      </a:pPr>
                      <a:r>
                        <a:rPr lang="en-US" sz="1800">
                          <a:solidFill>
                            <a:srgbClr val="233B50"/>
                          </a:solidFill>
                          <a:latin typeface="Aptos"/>
                          <a:ea typeface="Aptos"/>
                          <a:cs typeface="Aptos"/>
                        </a:rPr>
                        <a:t>Questions and expectations</a:t>
                      </a:r>
                    </a:p>
                  </a:txBody>
                  <a:tcPr marL="133350" marR="133350" marT="133350" marB="133350" anchor="ctr">
                    <a:solidFill>
                      <a:srgbClr val="F3F7F9"/>
                    </a:solidFill>
                  </a:tcPr>
                </a:tc>
                <a:tc>
                  <a:txBody>
                    <a:bodyPr/>
                    <a:lstStyle/>
                    <a:p>
                      <a:pPr algn="ctr"/>
                      <a:r>
                        <a:rPr lang="en-US" sz="1800">
                          <a:solidFill>
                            <a:srgbClr val="233B50"/>
                          </a:solidFill>
                          <a:latin typeface="Aptos"/>
                          <a:ea typeface="Aptos"/>
                          <a:cs typeface="Aptos"/>
                        </a:rPr>
                        <a:t>N/A</a:t>
                      </a:r>
                    </a:p>
                  </a:txBody>
                  <a:tcPr marL="133350" marR="133350" marT="133350" marB="133350" anchor="ctr">
                    <a:solidFill>
                      <a:srgbClr val="F3F7F9"/>
                    </a:solidFill>
                  </a:tcPr>
                </a:tc>
                <a:extLst>
                  <a:ext uri="{0D108BD9-81ED-4DB2-BD59-A6C34878D82A}">
                    <a16:rowId xmlns:a16="http://schemas.microsoft.com/office/drawing/2014/main" val="10001"/>
                  </a:ext>
                </a:extLst>
              </a:tr>
            </a:tbl>
          </a:graphicData>
        </a:graphic>
      </p:graphicFrame>
      <p:sp>
        <p:nvSpPr>
          <p:cNvPr id="4" name="Rectangle 3">
            <a:extLst>
              <a:ext uri="{FF2B5EF4-FFF2-40B4-BE49-F238E27FC236}">
                <a16:creationId xmlns:a16="http://schemas.microsoft.com/office/drawing/2014/main" id="{00000002-0003-4000-8000-000000000000}"/>
              </a:ext>
            </a:extLst>
          </p:cNvPr>
          <p:cNvSpPr>
            <a:spLocks noGrp="1"/>
          </p:cNvSpPr>
          <p:nvPr/>
        </p:nvSpPr>
        <p:spPr>
          <a:xfrm>
            <a:off x="762000" y="8077200"/>
            <a:ext cx="11430000" cy="285750"/>
          </a:xfrm>
          <a:prstGeom prst="rect">
            <a:avLst/>
          </a:prstGeom>
          <a:noFill/>
          <a:ln w="0">
            <a:noFill/>
          </a:ln>
        </p:spPr>
        <p:txBody>
          <a:bodyPr wrap="square">
            <a:noAutofit/>
          </a:bodyPr>
          <a:lstStyle/>
          <a:p>
            <a:pPr>
              <a:defRPr sz="1350" b="0">
                <a:solidFill>
                  <a:srgbClr val="5C6F7F"/>
                </a:solidFill>
                <a:latin typeface="Aptos"/>
                <a:ea typeface="Aptos"/>
                <a:cs typeface="Aptos"/>
              </a:defRPr>
            </a:pPr>
            <a:r>
              <a:rPr sz="1350" b="0" dirty="0">
                <a:solidFill>
                  <a:srgbClr val="5C6F7F"/>
                </a:solidFill>
                <a:latin typeface="Aptos"/>
                <a:ea typeface="Aptos"/>
                <a:cs typeface="Aptos"/>
              </a:rPr>
              <a:t>CMA P2 202</a:t>
            </a:r>
            <a:r>
              <a:rPr lang="en-US" sz="1350" b="0">
                <a:solidFill>
                  <a:srgbClr val="5C6F7F"/>
                </a:solidFill>
                <a:latin typeface="Aptos"/>
                <a:ea typeface="Aptos"/>
                <a:cs typeface="Aptos"/>
              </a:rPr>
              <a:t>6</a:t>
            </a:r>
            <a:endParaRPr sz="1350" b="0" dirty="0">
              <a:solidFill>
                <a:srgbClr val="5C6F7F"/>
              </a:solidFill>
              <a:latin typeface="Aptos"/>
              <a:ea typeface="Aptos"/>
              <a:cs typeface="Aptos"/>
            </a:endParaRPr>
          </a:p>
        </p:txBody>
      </p:sp>
      <p:sp>
        <p:nvSpPr>
          <p:cNvPr id="5" name="Rectangle 4">
            <a:extLst>
              <a:ext uri="{FF2B5EF4-FFF2-40B4-BE49-F238E27FC236}">
                <a16:creationId xmlns:a16="http://schemas.microsoft.com/office/drawing/2014/main" id="{00000002-0004-4000-8000-000000000000}"/>
              </a:ext>
            </a:extLst>
          </p:cNvPr>
          <p:cNvSpPr>
            <a:spLocks noGrp="1"/>
          </p:cNvSpPr>
          <p:nvPr/>
        </p:nvSpPr>
        <p:spPr>
          <a:xfrm>
            <a:off x="13811250" y="8077200"/>
            <a:ext cx="666750" cy="285750"/>
          </a:xfrm>
          <a:prstGeom prst="rect">
            <a:avLst/>
          </a:prstGeom>
          <a:noFill/>
          <a:ln w="0">
            <a:noFill/>
          </a:ln>
        </p:spPr>
        <p:txBody>
          <a:bodyPr wrap="square">
            <a:noAutofit/>
          </a:bodyPr>
          <a:lstStyle/>
          <a:p>
            <a:pPr>
              <a:defRPr sz="1350" b="0">
                <a:solidFill>
                  <a:srgbClr val="5C6F7F"/>
                </a:solidFill>
                <a:latin typeface="Aptos"/>
                <a:ea typeface="Aptos"/>
                <a:cs typeface="Aptos"/>
              </a:defRPr>
            </a:pPr>
            <a:r>
              <a:rPr lang="en-US" sz="1350" b="0">
                <a:solidFill>
                  <a:srgbClr val="5C6F7F"/>
                </a:solidFill>
                <a:latin typeface="Aptos"/>
                <a:ea typeface="Aptos"/>
                <a:cs typeface="Aptos"/>
              </a:rPr>
              <a:t>15</a:t>
            </a:r>
            <a:endParaRPr sz="1350" b="0">
              <a:solidFill>
                <a:srgbClr val="5C6F7F"/>
              </a:solidFill>
              <a:latin typeface="Aptos"/>
              <a:ea typeface="Aptos"/>
              <a:cs typeface="Aptos"/>
            </a:endParaRPr>
          </a:p>
        </p:txBody>
      </p:sp>
      <p:sp>
        <p:nvSpPr>
          <p:cNvPr id="8" name="Rectangle 7">
            <a:extLst>
              <a:ext uri="{FF2B5EF4-FFF2-40B4-BE49-F238E27FC236}">
                <a16:creationId xmlns:a16="http://schemas.microsoft.com/office/drawing/2014/main" id="{7AEE7445-CB96-0A7C-A71B-55321FBDB982}"/>
              </a:ext>
            </a:extLst>
          </p:cNvPr>
          <p:cNvSpPr>
            <a:spLocks noGrp="1"/>
          </p:cNvSpPr>
          <p:nvPr/>
        </p:nvSpPr>
        <p:spPr>
          <a:xfrm>
            <a:off x="5575300" y="4629785"/>
            <a:ext cx="5048250" cy="381000"/>
          </a:xfrm>
          <a:prstGeom prst="rect">
            <a:avLst/>
          </a:prstGeom>
          <a:noFill/>
          <a:ln w="0">
            <a:noFill/>
          </a:ln>
        </p:spPr>
        <p:txBody>
          <a:bodyPr wrap="square">
            <a:noAutofit/>
          </a:bodyPr>
          <a:lstStyle/>
          <a:p>
            <a:pPr>
              <a:defRPr sz="1875" b="1">
                <a:solidFill>
                  <a:srgbClr val="007F83"/>
                </a:solidFill>
                <a:latin typeface="Aptos"/>
                <a:ea typeface="Aptos"/>
                <a:cs typeface="Aptos"/>
              </a:defRPr>
            </a:pPr>
            <a:r>
              <a:rPr lang="en-US" sz="1875" b="1" dirty="0">
                <a:solidFill>
                  <a:srgbClr val="007F83"/>
                </a:solidFill>
                <a:latin typeface="Aptos"/>
                <a:ea typeface="Aptos"/>
                <a:cs typeface="Aptos"/>
              </a:rPr>
              <a:t>EXAM WEIGHTS (TOTAL 100%)</a:t>
            </a:r>
            <a:endParaRPr sz="1875" b="1" dirty="0">
              <a:solidFill>
                <a:srgbClr val="007F83"/>
              </a:solidFill>
              <a:latin typeface="Aptos"/>
              <a:ea typeface="Aptos"/>
              <a:cs typeface="Aptos"/>
            </a:endParaRPr>
          </a:p>
        </p:txBody>
      </p:sp>
      <p:sp>
        <p:nvSpPr>
          <p:cNvPr id="10" name="Rectangle 9">
            <a:extLst>
              <a:ext uri="{FF2B5EF4-FFF2-40B4-BE49-F238E27FC236}">
                <a16:creationId xmlns:a16="http://schemas.microsoft.com/office/drawing/2014/main" id="{3B1B4838-9D00-AB6D-A3A6-0E6CA087CB45}"/>
              </a:ext>
            </a:extLst>
          </p:cNvPr>
          <p:cNvSpPr>
            <a:spLocks noGrp="1"/>
          </p:cNvSpPr>
          <p:nvPr/>
        </p:nvSpPr>
        <p:spPr>
          <a:xfrm>
            <a:off x="1727200" y="5179060"/>
            <a:ext cx="571500" cy="504825"/>
          </a:xfrm>
          <a:prstGeom prst="rect">
            <a:avLst/>
          </a:prstGeom>
          <a:noFill/>
          <a:ln w="0">
            <a:noFill/>
          </a:ln>
        </p:spPr>
        <p:txBody>
          <a:bodyPr>
            <a:noAutofit/>
          </a:bodyPr>
          <a:lstStyle/>
          <a:p>
            <a:pPr>
              <a:defRPr sz="2925" b="1">
                <a:solidFill>
                  <a:srgbClr val="007F83"/>
                </a:solidFill>
                <a:latin typeface="Aptos"/>
                <a:ea typeface="Aptos"/>
                <a:cs typeface="Aptos"/>
              </a:defRPr>
            </a:pPr>
            <a:r>
              <a:rPr sz="2925" b="1" dirty="0">
                <a:solidFill>
                  <a:srgbClr val="007F83"/>
                </a:solidFill>
                <a:latin typeface="Aptos"/>
                <a:ea typeface="Aptos"/>
                <a:cs typeface="Aptos"/>
              </a:rPr>
              <a:t>A</a:t>
            </a:r>
          </a:p>
        </p:txBody>
      </p:sp>
      <p:sp>
        <p:nvSpPr>
          <p:cNvPr id="12" name="Rectangle 11">
            <a:extLst>
              <a:ext uri="{FF2B5EF4-FFF2-40B4-BE49-F238E27FC236}">
                <a16:creationId xmlns:a16="http://schemas.microsoft.com/office/drawing/2014/main" id="{29756BDF-6C7D-D1B4-CC80-D8490C6B0D4F}"/>
              </a:ext>
            </a:extLst>
          </p:cNvPr>
          <p:cNvSpPr>
            <a:spLocks noGrp="1"/>
          </p:cNvSpPr>
          <p:nvPr/>
        </p:nvSpPr>
        <p:spPr>
          <a:xfrm>
            <a:off x="2441575" y="5179060"/>
            <a:ext cx="4524375" cy="400050"/>
          </a:xfrm>
          <a:prstGeom prst="rect">
            <a:avLst/>
          </a:prstGeom>
          <a:noFill/>
          <a:ln w="0">
            <a:noFill/>
          </a:ln>
        </p:spPr>
        <p:txBody>
          <a:bodyPr>
            <a:noAutofit/>
          </a:bodyPr>
          <a:lstStyle/>
          <a:p>
            <a:pPr>
              <a:defRPr sz="2025" b="1">
                <a:solidFill>
                  <a:srgbClr val="122C49"/>
                </a:solidFill>
                <a:latin typeface="Aptos"/>
                <a:ea typeface="Aptos"/>
                <a:cs typeface="Aptos"/>
              </a:defRPr>
            </a:pPr>
            <a:r>
              <a:rPr sz="2025" b="1" dirty="0">
                <a:solidFill>
                  <a:srgbClr val="122C49"/>
                </a:solidFill>
                <a:latin typeface="Aptos"/>
                <a:ea typeface="Aptos"/>
                <a:cs typeface="Aptos"/>
              </a:rPr>
              <a:t>Financial Statement Analysis</a:t>
            </a:r>
          </a:p>
        </p:txBody>
      </p:sp>
      <p:sp>
        <p:nvSpPr>
          <p:cNvPr id="14" name="Rectangle 13">
            <a:extLst>
              <a:ext uri="{FF2B5EF4-FFF2-40B4-BE49-F238E27FC236}">
                <a16:creationId xmlns:a16="http://schemas.microsoft.com/office/drawing/2014/main" id="{7C2DB1C4-6591-9D70-1A70-ADE4D5A086E7}"/>
              </a:ext>
            </a:extLst>
          </p:cNvPr>
          <p:cNvSpPr>
            <a:spLocks noGrp="1"/>
          </p:cNvSpPr>
          <p:nvPr/>
        </p:nvSpPr>
        <p:spPr>
          <a:xfrm>
            <a:off x="2441575" y="5588635"/>
            <a:ext cx="4476750" cy="342900"/>
          </a:xfrm>
          <a:prstGeom prst="rect">
            <a:avLst/>
          </a:prstGeom>
          <a:noFill/>
          <a:ln w="0">
            <a:noFill/>
          </a:ln>
        </p:spPr>
        <p:txBody>
          <a:bodyPr wrap="square">
            <a:noAutofit/>
          </a:bodyPr>
          <a:lstStyle/>
          <a:p>
            <a:pPr>
              <a:defRPr sz="1725" b="0">
                <a:solidFill>
                  <a:srgbClr val="5C6F7F"/>
                </a:solidFill>
                <a:latin typeface="Aptos"/>
                <a:ea typeface="Aptos"/>
                <a:cs typeface="Aptos"/>
              </a:defRPr>
            </a:pPr>
            <a:r>
              <a:rPr lang="en-US" sz="2400" b="1" dirty="0">
                <a:solidFill>
                  <a:srgbClr val="007F83"/>
                </a:solidFill>
                <a:latin typeface="Aptos"/>
                <a:ea typeface="Aptos"/>
                <a:cs typeface="Aptos"/>
              </a:rPr>
              <a:t>20%</a:t>
            </a:r>
            <a:r>
              <a:rPr lang="en-US" sz="1725" b="0" dirty="0">
                <a:solidFill>
                  <a:srgbClr val="5C6F7F"/>
                </a:solidFill>
                <a:latin typeface="Aptos"/>
                <a:ea typeface="Aptos"/>
                <a:cs typeface="Aptos"/>
              </a:rPr>
              <a:t>  /  </a:t>
            </a:r>
            <a:r>
              <a:rPr sz="1725" b="0" dirty="0">
                <a:solidFill>
                  <a:srgbClr val="5C6F7F"/>
                </a:solidFill>
                <a:latin typeface="Aptos"/>
                <a:ea typeface="Aptos"/>
                <a:cs typeface="Aptos"/>
              </a:rPr>
              <a:t>SU 1–3: </a:t>
            </a:r>
            <a:r>
              <a:rPr lang="en-US" sz="1725" b="0">
                <a:solidFill>
                  <a:srgbClr val="5C6F7F"/>
                </a:solidFill>
                <a:latin typeface="Aptos"/>
                <a:ea typeface="Aptos"/>
                <a:cs typeface="Aptos"/>
              </a:rPr>
              <a:t>3–13 Nov</a:t>
            </a:r>
          </a:p>
        </p:txBody>
      </p:sp>
      <p:sp>
        <p:nvSpPr>
          <p:cNvPr id="16" name="Rectangle 15">
            <a:extLst>
              <a:ext uri="{FF2B5EF4-FFF2-40B4-BE49-F238E27FC236}">
                <a16:creationId xmlns:a16="http://schemas.microsoft.com/office/drawing/2014/main" id="{9AC8D592-B3EF-BA23-3B66-A30665C5384E}"/>
              </a:ext>
            </a:extLst>
          </p:cNvPr>
          <p:cNvSpPr>
            <a:spLocks noGrp="1"/>
          </p:cNvSpPr>
          <p:nvPr/>
        </p:nvSpPr>
        <p:spPr>
          <a:xfrm>
            <a:off x="1727200" y="6141085"/>
            <a:ext cx="571500" cy="504825"/>
          </a:xfrm>
          <a:prstGeom prst="rect">
            <a:avLst/>
          </a:prstGeom>
          <a:noFill/>
          <a:ln w="0">
            <a:noFill/>
          </a:ln>
        </p:spPr>
        <p:txBody>
          <a:bodyPr>
            <a:noAutofit/>
          </a:bodyPr>
          <a:lstStyle/>
          <a:p>
            <a:pPr>
              <a:defRPr sz="2925" b="1">
                <a:solidFill>
                  <a:srgbClr val="007F83"/>
                </a:solidFill>
                <a:latin typeface="Aptos"/>
                <a:ea typeface="Aptos"/>
                <a:cs typeface="Aptos"/>
              </a:defRPr>
            </a:pPr>
            <a:r>
              <a:rPr sz="2925" b="1">
                <a:solidFill>
                  <a:srgbClr val="007F83"/>
                </a:solidFill>
                <a:latin typeface="Aptos"/>
                <a:ea typeface="Aptos"/>
                <a:cs typeface="Aptos"/>
              </a:rPr>
              <a:t>B</a:t>
            </a:r>
          </a:p>
        </p:txBody>
      </p:sp>
      <p:sp>
        <p:nvSpPr>
          <p:cNvPr id="18" name="Rectangle 17">
            <a:extLst>
              <a:ext uri="{FF2B5EF4-FFF2-40B4-BE49-F238E27FC236}">
                <a16:creationId xmlns:a16="http://schemas.microsoft.com/office/drawing/2014/main" id="{1783F222-81AE-BF4E-B3B8-999F63642E44}"/>
              </a:ext>
            </a:extLst>
          </p:cNvPr>
          <p:cNvSpPr>
            <a:spLocks noGrp="1"/>
          </p:cNvSpPr>
          <p:nvPr/>
        </p:nvSpPr>
        <p:spPr>
          <a:xfrm>
            <a:off x="2441575" y="6141085"/>
            <a:ext cx="4524375" cy="400050"/>
          </a:xfrm>
          <a:prstGeom prst="rect">
            <a:avLst/>
          </a:prstGeom>
          <a:noFill/>
          <a:ln w="0">
            <a:noFill/>
          </a:ln>
        </p:spPr>
        <p:txBody>
          <a:bodyPr>
            <a:noAutofit/>
          </a:bodyPr>
          <a:lstStyle/>
          <a:p>
            <a:pPr>
              <a:defRPr sz="2025" b="1">
                <a:solidFill>
                  <a:srgbClr val="122C49"/>
                </a:solidFill>
                <a:latin typeface="Aptos"/>
                <a:ea typeface="Aptos"/>
                <a:cs typeface="Aptos"/>
              </a:defRPr>
            </a:pPr>
            <a:r>
              <a:rPr sz="2025" b="1">
                <a:solidFill>
                  <a:srgbClr val="122C49"/>
                </a:solidFill>
                <a:latin typeface="Aptos"/>
                <a:ea typeface="Aptos"/>
                <a:cs typeface="Aptos"/>
              </a:rPr>
              <a:t>Corporate Finance</a:t>
            </a:r>
          </a:p>
        </p:txBody>
      </p:sp>
      <p:sp>
        <p:nvSpPr>
          <p:cNvPr id="20" name="Rectangle 19">
            <a:extLst>
              <a:ext uri="{FF2B5EF4-FFF2-40B4-BE49-F238E27FC236}">
                <a16:creationId xmlns:a16="http://schemas.microsoft.com/office/drawing/2014/main" id="{61960EF9-99D6-3011-321E-E3D540D480BD}"/>
              </a:ext>
            </a:extLst>
          </p:cNvPr>
          <p:cNvSpPr>
            <a:spLocks noGrp="1"/>
          </p:cNvSpPr>
          <p:nvPr/>
        </p:nvSpPr>
        <p:spPr>
          <a:xfrm>
            <a:off x="2441575" y="6550660"/>
            <a:ext cx="4476750" cy="342900"/>
          </a:xfrm>
          <a:prstGeom prst="rect">
            <a:avLst/>
          </a:prstGeom>
          <a:noFill/>
          <a:ln w="0">
            <a:noFill/>
          </a:ln>
        </p:spPr>
        <p:txBody>
          <a:bodyPr wrap="square">
            <a:noAutofit/>
          </a:bodyPr>
          <a:lstStyle/>
          <a:p>
            <a:pPr>
              <a:defRPr sz="1725" b="0">
                <a:solidFill>
                  <a:srgbClr val="5C6F7F"/>
                </a:solidFill>
                <a:latin typeface="Aptos"/>
                <a:ea typeface="Aptos"/>
                <a:cs typeface="Aptos"/>
              </a:defRPr>
            </a:pPr>
            <a:r>
              <a:rPr lang="en-US" sz="2400" b="1" dirty="0">
                <a:solidFill>
                  <a:srgbClr val="007F83"/>
                </a:solidFill>
                <a:latin typeface="Aptos"/>
              </a:rPr>
              <a:t>20%</a:t>
            </a:r>
            <a:r>
              <a:rPr lang="en-US" sz="1725" b="0" dirty="0">
                <a:solidFill>
                  <a:srgbClr val="5C6F7F"/>
                </a:solidFill>
                <a:latin typeface="Aptos"/>
                <a:ea typeface="Aptos"/>
                <a:cs typeface="Aptos"/>
              </a:rPr>
              <a:t>  /  </a:t>
            </a:r>
            <a:r>
              <a:rPr sz="1725" b="0" dirty="0">
                <a:solidFill>
                  <a:srgbClr val="5C6F7F"/>
                </a:solidFill>
                <a:latin typeface="Aptos"/>
                <a:ea typeface="Aptos"/>
                <a:cs typeface="Aptos"/>
              </a:rPr>
              <a:t>SU 4–8: </a:t>
            </a:r>
            <a:r>
              <a:rPr lang="en-US" sz="1725" b="0">
                <a:solidFill>
                  <a:srgbClr val="5C6F7F"/>
                </a:solidFill>
                <a:latin typeface="Aptos"/>
                <a:ea typeface="Aptos"/>
                <a:cs typeface="Aptos"/>
              </a:rPr>
              <a:t>17 </a:t>
            </a:r>
            <a:r>
              <a:rPr sz="1725" b="0" dirty="0">
                <a:solidFill>
                  <a:srgbClr val="5C6F7F"/>
                </a:solidFill>
                <a:latin typeface="Aptos"/>
                <a:ea typeface="Aptos"/>
                <a:cs typeface="Aptos"/>
              </a:rPr>
              <a:t>Nov – </a:t>
            </a:r>
            <a:r>
              <a:rPr lang="en-US" sz="1725" b="0">
                <a:solidFill>
                  <a:srgbClr val="5C6F7F"/>
                </a:solidFill>
                <a:latin typeface="Aptos"/>
                <a:ea typeface="Aptos"/>
                <a:cs typeface="Aptos"/>
              </a:rPr>
              <a:t>18</a:t>
            </a:r>
            <a:r>
              <a:rPr sz="1725" b="0" dirty="0">
                <a:solidFill>
                  <a:srgbClr val="5C6F7F"/>
                </a:solidFill>
                <a:latin typeface="Aptos"/>
                <a:ea typeface="Aptos"/>
                <a:cs typeface="Aptos"/>
              </a:rPr>
              <a:t> Dec</a:t>
            </a:r>
          </a:p>
        </p:txBody>
      </p:sp>
      <p:sp>
        <p:nvSpPr>
          <p:cNvPr id="22" name="Rectangle 21">
            <a:extLst>
              <a:ext uri="{FF2B5EF4-FFF2-40B4-BE49-F238E27FC236}">
                <a16:creationId xmlns:a16="http://schemas.microsoft.com/office/drawing/2014/main" id="{75E37233-9381-A7DE-DC61-DF075F023210}"/>
              </a:ext>
            </a:extLst>
          </p:cNvPr>
          <p:cNvSpPr>
            <a:spLocks noGrp="1"/>
          </p:cNvSpPr>
          <p:nvPr/>
        </p:nvSpPr>
        <p:spPr>
          <a:xfrm>
            <a:off x="1727200" y="7052310"/>
            <a:ext cx="571500" cy="504825"/>
          </a:xfrm>
          <a:prstGeom prst="rect">
            <a:avLst/>
          </a:prstGeom>
          <a:noFill/>
          <a:ln w="0">
            <a:noFill/>
          </a:ln>
        </p:spPr>
        <p:txBody>
          <a:bodyPr>
            <a:noAutofit/>
          </a:bodyPr>
          <a:lstStyle/>
          <a:p>
            <a:pPr>
              <a:defRPr sz="2925" b="1">
                <a:solidFill>
                  <a:srgbClr val="007F83"/>
                </a:solidFill>
                <a:latin typeface="Aptos"/>
                <a:ea typeface="Aptos"/>
                <a:cs typeface="Aptos"/>
              </a:defRPr>
            </a:pPr>
            <a:r>
              <a:rPr sz="2925" b="1">
                <a:solidFill>
                  <a:srgbClr val="007F83"/>
                </a:solidFill>
                <a:latin typeface="Aptos"/>
                <a:ea typeface="Aptos"/>
                <a:cs typeface="Aptos"/>
              </a:rPr>
              <a:t>C</a:t>
            </a:r>
          </a:p>
        </p:txBody>
      </p:sp>
      <p:sp>
        <p:nvSpPr>
          <p:cNvPr id="24" name="Rectangle 23">
            <a:extLst>
              <a:ext uri="{FF2B5EF4-FFF2-40B4-BE49-F238E27FC236}">
                <a16:creationId xmlns:a16="http://schemas.microsoft.com/office/drawing/2014/main" id="{C5EE55EC-ADF2-77F5-5870-79F763C313BF}"/>
              </a:ext>
            </a:extLst>
          </p:cNvPr>
          <p:cNvSpPr>
            <a:spLocks noGrp="1"/>
          </p:cNvSpPr>
          <p:nvPr/>
        </p:nvSpPr>
        <p:spPr>
          <a:xfrm>
            <a:off x="2441575" y="7052310"/>
            <a:ext cx="4524375" cy="400050"/>
          </a:xfrm>
          <a:prstGeom prst="rect">
            <a:avLst/>
          </a:prstGeom>
          <a:noFill/>
          <a:ln w="0">
            <a:noFill/>
          </a:ln>
        </p:spPr>
        <p:txBody>
          <a:bodyPr>
            <a:noAutofit/>
          </a:bodyPr>
          <a:lstStyle/>
          <a:p>
            <a:pPr>
              <a:defRPr sz="2025" b="1">
                <a:solidFill>
                  <a:srgbClr val="122C49"/>
                </a:solidFill>
                <a:latin typeface="Aptos"/>
                <a:ea typeface="Aptos"/>
                <a:cs typeface="Aptos"/>
              </a:defRPr>
            </a:pPr>
            <a:r>
              <a:rPr sz="2025" b="1">
                <a:solidFill>
                  <a:srgbClr val="122C49"/>
                </a:solidFill>
                <a:latin typeface="Aptos"/>
                <a:ea typeface="Aptos"/>
                <a:cs typeface="Aptos"/>
              </a:rPr>
              <a:t>Decision Analysis</a:t>
            </a:r>
          </a:p>
        </p:txBody>
      </p:sp>
      <p:sp>
        <p:nvSpPr>
          <p:cNvPr id="26" name="Rectangle 25">
            <a:extLst>
              <a:ext uri="{FF2B5EF4-FFF2-40B4-BE49-F238E27FC236}">
                <a16:creationId xmlns:a16="http://schemas.microsoft.com/office/drawing/2014/main" id="{7EBC2222-CBBB-0AB0-3ACF-7EFCC61CEE2A}"/>
              </a:ext>
            </a:extLst>
          </p:cNvPr>
          <p:cNvSpPr>
            <a:spLocks noGrp="1"/>
          </p:cNvSpPr>
          <p:nvPr/>
        </p:nvSpPr>
        <p:spPr>
          <a:xfrm>
            <a:off x="2441575" y="7461885"/>
            <a:ext cx="4476750" cy="342900"/>
          </a:xfrm>
          <a:prstGeom prst="rect">
            <a:avLst/>
          </a:prstGeom>
          <a:noFill/>
          <a:ln w="0">
            <a:noFill/>
          </a:ln>
        </p:spPr>
        <p:txBody>
          <a:bodyPr wrap="square">
            <a:noAutofit/>
          </a:bodyPr>
          <a:lstStyle/>
          <a:p>
            <a:pPr>
              <a:defRPr sz="1725" b="0">
                <a:solidFill>
                  <a:srgbClr val="5C6F7F"/>
                </a:solidFill>
                <a:latin typeface="Aptos"/>
                <a:ea typeface="Aptos"/>
                <a:cs typeface="Aptos"/>
              </a:defRPr>
            </a:pPr>
            <a:r>
              <a:rPr lang="en-US" sz="2400" b="1" dirty="0">
                <a:solidFill>
                  <a:srgbClr val="007F83"/>
                </a:solidFill>
                <a:latin typeface="Aptos"/>
              </a:rPr>
              <a:t>25%</a:t>
            </a:r>
            <a:r>
              <a:rPr lang="en-US" sz="1725" b="0" dirty="0">
                <a:solidFill>
                  <a:srgbClr val="5C6F7F"/>
                </a:solidFill>
                <a:latin typeface="Aptos"/>
                <a:ea typeface="Aptos"/>
                <a:cs typeface="Aptos"/>
              </a:rPr>
              <a:t>  /  </a:t>
            </a:r>
            <a:r>
              <a:rPr sz="1725" b="0" dirty="0">
                <a:solidFill>
                  <a:srgbClr val="5C6F7F"/>
                </a:solidFill>
                <a:latin typeface="Aptos"/>
                <a:ea typeface="Aptos"/>
                <a:cs typeface="Aptos"/>
              </a:rPr>
              <a:t>SU 9–11: </a:t>
            </a:r>
            <a:r>
              <a:rPr lang="en-US" sz="1725" b="0">
                <a:solidFill>
                  <a:srgbClr val="5C6F7F"/>
                </a:solidFill>
                <a:latin typeface="Aptos"/>
                <a:ea typeface="Aptos"/>
                <a:cs typeface="Aptos"/>
              </a:rPr>
              <a:t>22 </a:t>
            </a:r>
            <a:r>
              <a:rPr sz="1725" b="0" dirty="0">
                <a:solidFill>
                  <a:srgbClr val="5C6F7F"/>
                </a:solidFill>
                <a:latin typeface="Aptos"/>
                <a:ea typeface="Aptos"/>
                <a:cs typeface="Aptos"/>
              </a:rPr>
              <a:t>Dec</a:t>
            </a:r>
            <a:r>
              <a:rPr lang="en-US" sz="1725" b="0">
                <a:solidFill>
                  <a:srgbClr val="5C6F7F"/>
                </a:solidFill>
                <a:latin typeface="Aptos"/>
                <a:ea typeface="Aptos"/>
                <a:cs typeface="Aptos"/>
              </a:rPr>
              <a:t> – 5 Jan</a:t>
            </a:r>
            <a:endParaRPr sz="1725" b="0" dirty="0">
              <a:solidFill>
                <a:srgbClr val="5C6F7F"/>
              </a:solidFill>
              <a:latin typeface="Aptos"/>
              <a:ea typeface="Aptos"/>
              <a:cs typeface="Aptos"/>
            </a:endParaRPr>
          </a:p>
        </p:txBody>
      </p:sp>
      <p:sp>
        <p:nvSpPr>
          <p:cNvPr id="28" name="Rectangle 27">
            <a:extLst>
              <a:ext uri="{FF2B5EF4-FFF2-40B4-BE49-F238E27FC236}">
                <a16:creationId xmlns:a16="http://schemas.microsoft.com/office/drawing/2014/main" id="{E37A5DA3-9ECB-08C4-A6B6-ECBADCC659BF}"/>
              </a:ext>
            </a:extLst>
          </p:cNvPr>
          <p:cNvSpPr>
            <a:spLocks noGrp="1"/>
          </p:cNvSpPr>
          <p:nvPr/>
        </p:nvSpPr>
        <p:spPr>
          <a:xfrm>
            <a:off x="8839200" y="5350510"/>
            <a:ext cx="571500" cy="504825"/>
          </a:xfrm>
          <a:prstGeom prst="rect">
            <a:avLst/>
          </a:prstGeom>
          <a:noFill/>
          <a:ln w="0">
            <a:noFill/>
          </a:ln>
        </p:spPr>
        <p:txBody>
          <a:bodyPr>
            <a:noAutofit/>
          </a:bodyPr>
          <a:lstStyle/>
          <a:p>
            <a:pPr>
              <a:defRPr sz="2925" b="1">
                <a:solidFill>
                  <a:srgbClr val="007F83"/>
                </a:solidFill>
                <a:latin typeface="Aptos"/>
                <a:ea typeface="Aptos"/>
                <a:cs typeface="Aptos"/>
              </a:defRPr>
            </a:pPr>
            <a:r>
              <a:rPr sz="2925" b="1">
                <a:solidFill>
                  <a:srgbClr val="007F83"/>
                </a:solidFill>
                <a:latin typeface="Aptos"/>
                <a:ea typeface="Aptos"/>
                <a:cs typeface="Aptos"/>
              </a:rPr>
              <a:t>D</a:t>
            </a:r>
          </a:p>
        </p:txBody>
      </p:sp>
      <p:sp>
        <p:nvSpPr>
          <p:cNvPr id="30" name="Rectangle 29">
            <a:extLst>
              <a:ext uri="{FF2B5EF4-FFF2-40B4-BE49-F238E27FC236}">
                <a16:creationId xmlns:a16="http://schemas.microsoft.com/office/drawing/2014/main" id="{6FABE4FB-D10D-8878-788C-C7592E1B0D06}"/>
              </a:ext>
            </a:extLst>
          </p:cNvPr>
          <p:cNvSpPr>
            <a:spLocks noGrp="1"/>
          </p:cNvSpPr>
          <p:nvPr/>
        </p:nvSpPr>
        <p:spPr>
          <a:xfrm>
            <a:off x="9553575" y="5350510"/>
            <a:ext cx="4524375" cy="400050"/>
          </a:xfrm>
          <a:prstGeom prst="rect">
            <a:avLst/>
          </a:prstGeom>
          <a:noFill/>
          <a:ln w="0">
            <a:noFill/>
          </a:ln>
        </p:spPr>
        <p:txBody>
          <a:bodyPr>
            <a:noAutofit/>
          </a:bodyPr>
          <a:lstStyle/>
          <a:p>
            <a:pPr>
              <a:defRPr sz="2025" b="1">
                <a:solidFill>
                  <a:srgbClr val="122C49"/>
                </a:solidFill>
                <a:latin typeface="Aptos"/>
                <a:ea typeface="Aptos"/>
                <a:cs typeface="Aptos"/>
              </a:defRPr>
            </a:pPr>
            <a:r>
              <a:rPr sz="2025" b="1">
                <a:solidFill>
                  <a:srgbClr val="122C49"/>
                </a:solidFill>
                <a:latin typeface="Aptos"/>
                <a:ea typeface="Aptos"/>
                <a:cs typeface="Aptos"/>
              </a:rPr>
              <a:t>Risk Management</a:t>
            </a:r>
          </a:p>
        </p:txBody>
      </p:sp>
      <p:sp>
        <p:nvSpPr>
          <p:cNvPr id="32" name="Rectangle 31">
            <a:extLst>
              <a:ext uri="{FF2B5EF4-FFF2-40B4-BE49-F238E27FC236}">
                <a16:creationId xmlns:a16="http://schemas.microsoft.com/office/drawing/2014/main" id="{DE2FEC42-5213-E702-2242-10F57D7B5CA7}"/>
              </a:ext>
            </a:extLst>
          </p:cNvPr>
          <p:cNvSpPr>
            <a:spLocks noGrp="1"/>
          </p:cNvSpPr>
          <p:nvPr/>
        </p:nvSpPr>
        <p:spPr>
          <a:xfrm>
            <a:off x="9553575" y="5760085"/>
            <a:ext cx="4476750" cy="342900"/>
          </a:xfrm>
          <a:prstGeom prst="rect">
            <a:avLst/>
          </a:prstGeom>
          <a:noFill/>
          <a:ln w="0">
            <a:noFill/>
          </a:ln>
        </p:spPr>
        <p:txBody>
          <a:bodyPr wrap="square">
            <a:noAutofit/>
          </a:bodyPr>
          <a:lstStyle/>
          <a:p>
            <a:pPr>
              <a:defRPr sz="1725" b="0">
                <a:solidFill>
                  <a:srgbClr val="5C6F7F"/>
                </a:solidFill>
                <a:latin typeface="Aptos"/>
                <a:ea typeface="Aptos"/>
                <a:cs typeface="Aptos"/>
              </a:defRPr>
            </a:pPr>
            <a:r>
              <a:rPr lang="en-US" sz="2400" b="1" dirty="0">
                <a:solidFill>
                  <a:srgbClr val="007F83"/>
                </a:solidFill>
                <a:latin typeface="Aptos"/>
              </a:rPr>
              <a:t>10%</a:t>
            </a:r>
            <a:r>
              <a:rPr lang="en-US" sz="1725" b="0" dirty="0">
                <a:solidFill>
                  <a:srgbClr val="5C6F7F"/>
                </a:solidFill>
                <a:latin typeface="Aptos"/>
                <a:ea typeface="Aptos"/>
                <a:cs typeface="Aptos"/>
              </a:rPr>
              <a:t>  /  </a:t>
            </a:r>
            <a:r>
              <a:rPr sz="1725" b="0" dirty="0">
                <a:solidFill>
                  <a:srgbClr val="5C6F7F"/>
                </a:solidFill>
                <a:latin typeface="Aptos"/>
                <a:ea typeface="Aptos"/>
                <a:cs typeface="Aptos"/>
              </a:rPr>
              <a:t>SU 12: </a:t>
            </a:r>
            <a:r>
              <a:rPr lang="en-US" sz="1725" b="0">
                <a:solidFill>
                  <a:srgbClr val="5C6F7F"/>
                </a:solidFill>
                <a:latin typeface="Aptos"/>
                <a:ea typeface="Aptos"/>
                <a:cs typeface="Aptos"/>
              </a:rPr>
              <a:t>8 Jan</a:t>
            </a:r>
            <a:endParaRPr sz="1725" b="0" dirty="0">
              <a:solidFill>
                <a:srgbClr val="5C6F7F"/>
              </a:solidFill>
              <a:latin typeface="Aptos"/>
              <a:ea typeface="Aptos"/>
              <a:cs typeface="Aptos"/>
            </a:endParaRPr>
          </a:p>
        </p:txBody>
      </p:sp>
      <p:sp>
        <p:nvSpPr>
          <p:cNvPr id="34" name="Rectangle 33">
            <a:extLst>
              <a:ext uri="{FF2B5EF4-FFF2-40B4-BE49-F238E27FC236}">
                <a16:creationId xmlns:a16="http://schemas.microsoft.com/office/drawing/2014/main" id="{87B6B7EB-3A20-6020-E8FA-4084FFAED2FD}"/>
              </a:ext>
            </a:extLst>
          </p:cNvPr>
          <p:cNvSpPr>
            <a:spLocks noGrp="1"/>
          </p:cNvSpPr>
          <p:nvPr/>
        </p:nvSpPr>
        <p:spPr>
          <a:xfrm>
            <a:off x="8839200" y="6312535"/>
            <a:ext cx="571500" cy="504825"/>
          </a:xfrm>
          <a:prstGeom prst="rect">
            <a:avLst/>
          </a:prstGeom>
          <a:noFill/>
          <a:ln w="0">
            <a:noFill/>
          </a:ln>
        </p:spPr>
        <p:txBody>
          <a:bodyPr>
            <a:noAutofit/>
          </a:bodyPr>
          <a:lstStyle/>
          <a:p>
            <a:pPr>
              <a:defRPr sz="2925" b="1">
                <a:solidFill>
                  <a:srgbClr val="007F83"/>
                </a:solidFill>
                <a:latin typeface="Aptos"/>
                <a:ea typeface="Aptos"/>
                <a:cs typeface="Aptos"/>
              </a:defRPr>
            </a:pPr>
            <a:r>
              <a:rPr sz="2925" b="1">
                <a:solidFill>
                  <a:srgbClr val="007F83"/>
                </a:solidFill>
                <a:latin typeface="Aptos"/>
                <a:ea typeface="Aptos"/>
                <a:cs typeface="Aptos"/>
              </a:rPr>
              <a:t>E</a:t>
            </a:r>
          </a:p>
        </p:txBody>
      </p:sp>
      <p:sp>
        <p:nvSpPr>
          <p:cNvPr id="36" name="Rectangle 35">
            <a:extLst>
              <a:ext uri="{FF2B5EF4-FFF2-40B4-BE49-F238E27FC236}">
                <a16:creationId xmlns:a16="http://schemas.microsoft.com/office/drawing/2014/main" id="{C4D26A25-F4C6-3202-8882-F5CB6BF7A8DA}"/>
              </a:ext>
            </a:extLst>
          </p:cNvPr>
          <p:cNvSpPr>
            <a:spLocks noGrp="1"/>
          </p:cNvSpPr>
          <p:nvPr/>
        </p:nvSpPr>
        <p:spPr>
          <a:xfrm>
            <a:off x="9553575" y="6312535"/>
            <a:ext cx="4524375" cy="400050"/>
          </a:xfrm>
          <a:prstGeom prst="rect">
            <a:avLst/>
          </a:prstGeom>
          <a:noFill/>
          <a:ln w="0">
            <a:noFill/>
          </a:ln>
        </p:spPr>
        <p:txBody>
          <a:bodyPr>
            <a:noAutofit/>
          </a:bodyPr>
          <a:lstStyle/>
          <a:p>
            <a:pPr>
              <a:defRPr sz="2025" b="1">
                <a:solidFill>
                  <a:srgbClr val="122C49"/>
                </a:solidFill>
                <a:latin typeface="Aptos"/>
                <a:ea typeface="Aptos"/>
                <a:cs typeface="Aptos"/>
              </a:defRPr>
            </a:pPr>
            <a:r>
              <a:rPr sz="2025" b="1">
                <a:solidFill>
                  <a:srgbClr val="122C49"/>
                </a:solidFill>
                <a:latin typeface="Aptos"/>
                <a:ea typeface="Aptos"/>
                <a:cs typeface="Aptos"/>
              </a:rPr>
              <a:t>Investment Decisions</a:t>
            </a:r>
          </a:p>
        </p:txBody>
      </p:sp>
      <p:sp>
        <p:nvSpPr>
          <p:cNvPr id="38" name="Rectangle 37">
            <a:extLst>
              <a:ext uri="{FF2B5EF4-FFF2-40B4-BE49-F238E27FC236}">
                <a16:creationId xmlns:a16="http://schemas.microsoft.com/office/drawing/2014/main" id="{3BCC482F-167A-2C85-C06E-4ADA2E72C71E}"/>
              </a:ext>
            </a:extLst>
          </p:cNvPr>
          <p:cNvSpPr>
            <a:spLocks noGrp="1"/>
          </p:cNvSpPr>
          <p:nvPr/>
        </p:nvSpPr>
        <p:spPr>
          <a:xfrm>
            <a:off x="9553575" y="6722110"/>
            <a:ext cx="4476750" cy="342900"/>
          </a:xfrm>
          <a:prstGeom prst="rect">
            <a:avLst/>
          </a:prstGeom>
          <a:noFill/>
          <a:ln w="0">
            <a:noFill/>
          </a:ln>
        </p:spPr>
        <p:txBody>
          <a:bodyPr wrap="square">
            <a:noAutofit/>
          </a:bodyPr>
          <a:lstStyle/>
          <a:p>
            <a:pPr>
              <a:defRPr sz="1725" b="0">
                <a:solidFill>
                  <a:srgbClr val="5C6F7F"/>
                </a:solidFill>
                <a:latin typeface="Aptos"/>
                <a:ea typeface="Aptos"/>
                <a:cs typeface="Aptos"/>
              </a:defRPr>
            </a:pPr>
            <a:r>
              <a:rPr lang="en-US" sz="2400" b="1" dirty="0">
                <a:solidFill>
                  <a:srgbClr val="007F83"/>
                </a:solidFill>
                <a:latin typeface="Aptos"/>
              </a:rPr>
              <a:t>10%</a:t>
            </a:r>
            <a:r>
              <a:rPr lang="en-US" sz="1725" b="0" dirty="0">
                <a:solidFill>
                  <a:srgbClr val="5C6F7F"/>
                </a:solidFill>
                <a:latin typeface="Aptos"/>
                <a:ea typeface="Aptos"/>
                <a:cs typeface="Aptos"/>
              </a:rPr>
              <a:t>  /  </a:t>
            </a:r>
            <a:r>
              <a:rPr sz="1725" b="0" dirty="0">
                <a:solidFill>
                  <a:srgbClr val="5C6F7F"/>
                </a:solidFill>
                <a:latin typeface="Aptos"/>
                <a:ea typeface="Aptos"/>
                <a:cs typeface="Aptos"/>
              </a:rPr>
              <a:t>SU 13: </a:t>
            </a:r>
            <a:r>
              <a:rPr lang="en-US" sz="1725" b="0">
                <a:solidFill>
                  <a:srgbClr val="5C6F7F"/>
                </a:solidFill>
                <a:latin typeface="Aptos"/>
                <a:ea typeface="Aptos"/>
                <a:cs typeface="Aptos"/>
              </a:rPr>
              <a:t>12–15</a:t>
            </a:r>
            <a:r>
              <a:rPr sz="1725" b="0" dirty="0">
                <a:solidFill>
                  <a:srgbClr val="5C6F7F"/>
                </a:solidFill>
                <a:latin typeface="Aptos"/>
                <a:ea typeface="Aptos"/>
                <a:cs typeface="Aptos"/>
              </a:rPr>
              <a:t> Jan</a:t>
            </a:r>
          </a:p>
        </p:txBody>
      </p:sp>
      <p:sp>
        <p:nvSpPr>
          <p:cNvPr id="40" name="Rectangle 39">
            <a:extLst>
              <a:ext uri="{FF2B5EF4-FFF2-40B4-BE49-F238E27FC236}">
                <a16:creationId xmlns:a16="http://schemas.microsoft.com/office/drawing/2014/main" id="{3869D7FC-5E11-4655-6AA4-B74D75D99DF6}"/>
              </a:ext>
            </a:extLst>
          </p:cNvPr>
          <p:cNvSpPr>
            <a:spLocks noGrp="1"/>
          </p:cNvSpPr>
          <p:nvPr/>
        </p:nvSpPr>
        <p:spPr>
          <a:xfrm>
            <a:off x="8839200" y="7223760"/>
            <a:ext cx="571500" cy="504825"/>
          </a:xfrm>
          <a:prstGeom prst="rect">
            <a:avLst/>
          </a:prstGeom>
          <a:noFill/>
          <a:ln w="0">
            <a:noFill/>
          </a:ln>
        </p:spPr>
        <p:txBody>
          <a:bodyPr>
            <a:noAutofit/>
          </a:bodyPr>
          <a:lstStyle/>
          <a:p>
            <a:pPr>
              <a:defRPr sz="2925" b="1">
                <a:solidFill>
                  <a:srgbClr val="007F83"/>
                </a:solidFill>
                <a:latin typeface="Aptos"/>
                <a:ea typeface="Aptos"/>
                <a:cs typeface="Aptos"/>
              </a:defRPr>
            </a:pPr>
            <a:r>
              <a:rPr sz="2925" b="1">
                <a:solidFill>
                  <a:srgbClr val="007F83"/>
                </a:solidFill>
                <a:latin typeface="Aptos"/>
                <a:ea typeface="Aptos"/>
                <a:cs typeface="Aptos"/>
              </a:rPr>
              <a:t>F</a:t>
            </a:r>
          </a:p>
        </p:txBody>
      </p:sp>
      <p:sp>
        <p:nvSpPr>
          <p:cNvPr id="42" name="Rectangle 41">
            <a:extLst>
              <a:ext uri="{FF2B5EF4-FFF2-40B4-BE49-F238E27FC236}">
                <a16:creationId xmlns:a16="http://schemas.microsoft.com/office/drawing/2014/main" id="{53B6B87E-4D68-26D7-49BF-B24CA8F36F73}"/>
              </a:ext>
            </a:extLst>
          </p:cNvPr>
          <p:cNvSpPr>
            <a:spLocks noGrp="1"/>
          </p:cNvSpPr>
          <p:nvPr/>
        </p:nvSpPr>
        <p:spPr>
          <a:xfrm>
            <a:off x="9553575" y="7223760"/>
            <a:ext cx="4524375" cy="400050"/>
          </a:xfrm>
          <a:prstGeom prst="rect">
            <a:avLst/>
          </a:prstGeom>
          <a:noFill/>
          <a:ln w="0">
            <a:noFill/>
          </a:ln>
        </p:spPr>
        <p:txBody>
          <a:bodyPr>
            <a:noAutofit/>
          </a:bodyPr>
          <a:lstStyle/>
          <a:p>
            <a:pPr>
              <a:defRPr sz="2025" b="1">
                <a:solidFill>
                  <a:srgbClr val="122C49"/>
                </a:solidFill>
                <a:latin typeface="Aptos"/>
                <a:ea typeface="Aptos"/>
                <a:cs typeface="Aptos"/>
              </a:defRPr>
            </a:pPr>
            <a:r>
              <a:rPr sz="2025" b="1">
                <a:solidFill>
                  <a:srgbClr val="122C49"/>
                </a:solidFill>
                <a:latin typeface="Aptos"/>
                <a:ea typeface="Aptos"/>
                <a:cs typeface="Aptos"/>
              </a:rPr>
              <a:t>Professional Ethics</a:t>
            </a:r>
          </a:p>
        </p:txBody>
      </p:sp>
      <p:sp>
        <p:nvSpPr>
          <p:cNvPr id="44" name="Rectangle 43">
            <a:extLst>
              <a:ext uri="{FF2B5EF4-FFF2-40B4-BE49-F238E27FC236}">
                <a16:creationId xmlns:a16="http://schemas.microsoft.com/office/drawing/2014/main" id="{01405BC2-E72D-7275-8192-E8145CDB40D2}"/>
              </a:ext>
            </a:extLst>
          </p:cNvPr>
          <p:cNvSpPr>
            <a:spLocks noGrp="1"/>
          </p:cNvSpPr>
          <p:nvPr/>
        </p:nvSpPr>
        <p:spPr>
          <a:xfrm>
            <a:off x="9553575" y="7633335"/>
            <a:ext cx="4476750" cy="342900"/>
          </a:xfrm>
          <a:prstGeom prst="rect">
            <a:avLst/>
          </a:prstGeom>
          <a:noFill/>
          <a:ln w="0">
            <a:noFill/>
          </a:ln>
        </p:spPr>
        <p:txBody>
          <a:bodyPr wrap="square">
            <a:noAutofit/>
          </a:bodyPr>
          <a:lstStyle/>
          <a:p>
            <a:pPr>
              <a:defRPr sz="1725" b="0">
                <a:solidFill>
                  <a:srgbClr val="5C6F7F"/>
                </a:solidFill>
                <a:latin typeface="Aptos"/>
                <a:ea typeface="Aptos"/>
                <a:cs typeface="Aptos"/>
              </a:defRPr>
            </a:pPr>
            <a:r>
              <a:rPr lang="en-US" sz="2400" b="1" dirty="0">
                <a:solidFill>
                  <a:srgbClr val="007F83"/>
                </a:solidFill>
                <a:latin typeface="Aptos"/>
              </a:rPr>
              <a:t>15%  </a:t>
            </a:r>
            <a:r>
              <a:rPr lang="en-US" sz="1725" b="0" dirty="0">
                <a:solidFill>
                  <a:srgbClr val="5C6F7F"/>
                </a:solidFill>
                <a:latin typeface="Aptos"/>
                <a:ea typeface="Aptos"/>
                <a:cs typeface="Aptos"/>
              </a:rPr>
              <a:t>/  </a:t>
            </a:r>
            <a:r>
              <a:rPr sz="1725" b="0" dirty="0">
                <a:solidFill>
                  <a:srgbClr val="5C6F7F"/>
                </a:solidFill>
                <a:latin typeface="Aptos"/>
                <a:ea typeface="Aptos"/>
                <a:cs typeface="Aptos"/>
              </a:rPr>
              <a:t>SU 14–15: </a:t>
            </a:r>
            <a:r>
              <a:rPr lang="en-US" sz="1725" b="0">
                <a:solidFill>
                  <a:srgbClr val="5C6F7F"/>
                </a:solidFill>
                <a:latin typeface="Aptos"/>
                <a:ea typeface="Aptos"/>
                <a:cs typeface="Aptos"/>
              </a:rPr>
              <a:t>19–22</a:t>
            </a:r>
            <a:r>
              <a:rPr sz="1725" b="0" dirty="0">
                <a:solidFill>
                  <a:srgbClr val="5C6F7F"/>
                </a:solidFill>
                <a:latin typeface="Aptos"/>
                <a:ea typeface="Aptos"/>
                <a:cs typeface="Aptos"/>
              </a:rPr>
              <a:t> Jan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0000002-0001-4000-8000-000000000000}"/>
              </a:ext>
            </a:extLst>
          </p:cNvPr>
          <p:cNvSpPr>
            <a:spLocks noGrp="1"/>
          </p:cNvSpPr>
          <p:nvPr/>
        </p:nvSpPr>
        <p:spPr>
          <a:xfrm>
            <a:off x="762000" y="542925"/>
            <a:ext cx="13811250" cy="666750"/>
          </a:xfrm>
          <a:prstGeom prst="rect">
            <a:avLst/>
          </a:prstGeom>
          <a:noFill/>
          <a:ln w="0">
            <a:noFill/>
          </a:ln>
        </p:spPr>
        <p:txBody>
          <a:bodyPr wrap="square">
            <a:noAutofit/>
          </a:bodyPr>
          <a:lstStyle/>
          <a:p>
            <a:pPr>
              <a:defRPr sz="3675" b="1">
                <a:solidFill>
                  <a:srgbClr val="122C49"/>
                </a:solidFill>
                <a:latin typeface="Aptos"/>
                <a:ea typeface="Aptos"/>
                <a:cs typeface="Aptos"/>
              </a:defRPr>
            </a:pPr>
            <a:r>
              <a:rPr lang="en-US" sz="3675" b="1">
                <a:solidFill>
                  <a:srgbClr val="122C49"/>
                </a:solidFill>
                <a:latin typeface="Aptos"/>
                <a:ea typeface="Aptos"/>
                <a:cs typeface="Aptos"/>
              </a:rPr>
              <a:t>Financial Statement Analysis</a:t>
            </a:r>
          </a:p>
        </p:txBody>
      </p:sp>
      <p:sp>
        <p:nvSpPr>
          <p:cNvPr id="2" name="Rectangle 1">
            <a:extLst>
              <a:ext uri="{FF2B5EF4-FFF2-40B4-BE49-F238E27FC236}">
                <a16:creationId xmlns:a16="http://schemas.microsoft.com/office/drawing/2014/main" id="{00000002-0002-4000-8000-000000000000}"/>
              </a:ext>
            </a:extLst>
          </p:cNvPr>
          <p:cNvSpPr>
            <a:spLocks noGrp="1"/>
          </p:cNvSpPr>
          <p:nvPr/>
        </p:nvSpPr>
        <p:spPr>
          <a:xfrm>
            <a:off x="762000" y="1185862"/>
            <a:ext cx="13811250" cy="400050"/>
          </a:xfrm>
          <a:prstGeom prst="rect">
            <a:avLst/>
          </a:prstGeom>
          <a:noFill/>
          <a:ln w="0">
            <a:noFill/>
          </a:ln>
        </p:spPr>
        <p:txBody>
          <a:bodyPr wrap="square">
            <a:noAutofit/>
          </a:bodyPr>
          <a:lstStyle/>
          <a:p>
            <a:pPr>
              <a:defRPr sz="2025" b="0">
                <a:solidFill>
                  <a:srgbClr val="007F83"/>
                </a:solidFill>
                <a:latin typeface="Aptos"/>
                <a:ea typeface="Aptos"/>
                <a:cs typeface="Aptos"/>
              </a:defRPr>
            </a:pPr>
            <a:r>
              <a:rPr lang="en-US" sz="2400" b="0">
                <a:solidFill>
                  <a:srgbClr val="007F83"/>
                </a:solidFill>
                <a:latin typeface="Aptos"/>
                <a:ea typeface="Aptos"/>
                <a:cs typeface="Aptos"/>
              </a:rPr>
              <a:t>3–10 November 2026</a:t>
            </a:r>
            <a:r>
              <a:rPr sz="2400" b="0" dirty="0">
                <a:solidFill>
                  <a:srgbClr val="007F83"/>
                </a:solidFill>
                <a:latin typeface="Aptos"/>
                <a:ea typeface="Aptos"/>
                <a:cs typeface="Aptos"/>
              </a:rPr>
              <a:t>   /   2025 PDF sessions </a:t>
            </a:r>
            <a:r>
              <a:rPr lang="en-US" sz="2400" b="0" dirty="0">
                <a:solidFill>
                  <a:srgbClr val="007F83"/>
                </a:solidFill>
                <a:latin typeface="Aptos"/>
                <a:ea typeface="Aptos"/>
                <a:cs typeface="Aptos"/>
              </a:rPr>
              <a:t>2–4</a:t>
            </a:r>
            <a:endParaRPr sz="2400" b="0" dirty="0">
              <a:solidFill>
                <a:srgbClr val="007F83"/>
              </a:solidFill>
              <a:latin typeface="Aptos"/>
              <a:ea typeface="Aptos"/>
              <a:cs typeface="Aptos"/>
            </a:endParaRPr>
          </a:p>
        </p:txBody>
      </p:sp>
      <p:graphicFrame>
        <p:nvGraphicFramePr>
          <p:cNvPr id="3" name="Table 2"/>
          <p:cNvGraphicFramePr/>
          <p:nvPr>
            <p:extLst>
              <p:ext uri="{D42A27DB-BD31-4B8C-83A1-F6EECF244321}">
                <p14:modId xmlns:p14="http://schemas.microsoft.com/office/powerpoint/2010/main" val="939014025"/>
              </p:ext>
            </p:extLst>
          </p:nvPr>
        </p:nvGraphicFramePr>
        <p:xfrm>
          <a:off x="762000" y="2028825"/>
          <a:ext cx="13811251" cy="4686300"/>
        </p:xfrm>
        <a:graphic>
          <a:graphicData uri="http://schemas.openxmlformats.org/drawingml/2006/table">
            <a:tbl>
              <a:tblPr/>
              <a:tblGrid>
                <a:gridCol w="1962652">
                  <a:extLst>
                    <a:ext uri="{9D8B030D-6E8A-4147-A177-3AD203B41FA5}">
                      <a16:colId xmlns:a16="http://schemas.microsoft.com/office/drawing/2014/main" val="20000"/>
                    </a:ext>
                  </a:extLst>
                </a:gridCol>
                <a:gridCol w="4984248">
                  <a:extLst>
                    <a:ext uri="{9D8B030D-6E8A-4147-A177-3AD203B41FA5}">
                      <a16:colId xmlns:a16="http://schemas.microsoft.com/office/drawing/2014/main" val="20001"/>
                    </a:ext>
                  </a:extLst>
                </a:gridCol>
                <a:gridCol w="5172911">
                  <a:extLst>
                    <a:ext uri="{9D8B030D-6E8A-4147-A177-3AD203B41FA5}">
                      <a16:colId xmlns:a16="http://schemas.microsoft.com/office/drawing/2014/main" val="20002"/>
                    </a:ext>
                  </a:extLst>
                </a:gridCol>
                <a:gridCol w="1691440">
                  <a:extLst>
                    <a:ext uri="{9D8B030D-6E8A-4147-A177-3AD203B41FA5}">
                      <a16:colId xmlns:a16="http://schemas.microsoft.com/office/drawing/2014/main" val="20003"/>
                    </a:ext>
                  </a:extLst>
                </a:gridCol>
              </a:tblGrid>
              <a:tr h="514350">
                <a:tc>
                  <a:txBody>
                    <a:bodyPr/>
                    <a:lstStyle/>
                    <a:p>
                      <a:pPr algn="ctr"/>
                      <a:r>
                        <a:rPr sz="1800" b="1" dirty="0">
                          <a:solidFill>
                            <a:srgbClr val="FFFFFF"/>
                          </a:solidFill>
                          <a:latin typeface="Aptos"/>
                          <a:ea typeface="Aptos"/>
                          <a:cs typeface="Aptos"/>
                        </a:rPr>
                        <a:t>Session / date</a:t>
                      </a:r>
                    </a:p>
                  </a:txBody>
                  <a:tcPr marL="133350" marR="133350" marT="133350" marB="133350" anchor="ctr">
                    <a:solidFill>
                      <a:srgbClr val="122C49"/>
                    </a:solidFill>
                  </a:tcPr>
                </a:tc>
                <a:tc>
                  <a:txBody>
                    <a:bodyPr/>
                    <a:lstStyle/>
                    <a:p>
                      <a:pPr algn="ctr"/>
                      <a:r>
                        <a:rPr lang="en-US" sz="1800" b="1" dirty="0">
                          <a:solidFill>
                            <a:srgbClr val="FFFFFF"/>
                          </a:solidFill>
                          <a:latin typeface="Aptos"/>
                          <a:ea typeface="Aptos"/>
                          <a:cs typeface="Aptos"/>
                        </a:rPr>
                        <a:t>Study unit</a:t>
                      </a:r>
                    </a:p>
                  </a:txBody>
                  <a:tcPr marL="133350" marR="133350" marT="133350" marB="133350" anchor="ctr">
                    <a:solidFill>
                      <a:srgbClr val="122C49"/>
                    </a:solidFill>
                  </a:tcPr>
                </a:tc>
                <a:tc>
                  <a:txBody>
                    <a:bodyPr/>
                    <a:lstStyle/>
                    <a:p>
                      <a:pPr algn="ctr"/>
                      <a:r>
                        <a:rPr lang="en-US" sz="1800" b="1" dirty="0">
                          <a:solidFill>
                            <a:srgbClr val="FFFFFF"/>
                          </a:solidFill>
                          <a:latin typeface="Aptos"/>
                          <a:ea typeface="Aptos"/>
                          <a:cs typeface="Aptos"/>
                        </a:rPr>
                        <a:t>Numbered subunits and practice</a:t>
                      </a:r>
                    </a:p>
                  </a:txBody>
                  <a:tcPr marL="133350" marR="133350" marT="133350" marB="133350" anchor="ctr">
                    <a:solidFill>
                      <a:srgbClr val="122C49"/>
                    </a:solidFill>
                  </a:tcPr>
                </a:tc>
                <a:tc>
                  <a:txBody>
                    <a:bodyPr/>
                    <a:lstStyle/>
                    <a:p>
                      <a:pPr algn="ctr"/>
                      <a:r>
                        <a:rPr lang="en-US" sz="1800" b="1" dirty="0">
                          <a:solidFill>
                            <a:srgbClr val="FFFFFF"/>
                          </a:solidFill>
                          <a:latin typeface="Aptos"/>
                          <a:ea typeface="Aptos"/>
                          <a:cs typeface="Aptos"/>
                        </a:rPr>
                        <a:t>Pages</a:t>
                      </a:r>
                    </a:p>
                  </a:txBody>
                  <a:tcPr marL="133350" marR="133350" marT="133350" marB="133350" anchor="ctr">
                    <a:solidFill>
                      <a:srgbClr val="122C49"/>
                    </a:solidFill>
                  </a:tcPr>
                </a:tc>
                <a:extLst>
                  <a:ext uri="{0D108BD9-81ED-4DB2-BD59-A6C34878D82A}">
                    <a16:rowId xmlns:a16="http://schemas.microsoft.com/office/drawing/2014/main" val="10000"/>
                  </a:ext>
                </a:extLst>
              </a:tr>
              <a:tr h="1809750">
                <a:tc>
                  <a:txBody>
                    <a:bodyPr/>
                    <a:lstStyle/>
                    <a:p>
                      <a:r>
                        <a:rPr lang="fr-FR" sz="1800" b="1">
                          <a:solidFill>
                            <a:srgbClr val="007F83"/>
                          </a:solidFill>
                          <a:latin typeface="Aptos"/>
                          <a:ea typeface="Aptos"/>
                          <a:cs typeface="Aptos"/>
                        </a:rPr>
                        <a:t>02</a:t>
                      </a:r>
                    </a:p>
                    <a:p>
                      <a:r>
                        <a:rPr lang="fr-FR" sz="1800" b="1">
                          <a:solidFill>
                            <a:srgbClr val="007F83"/>
                          </a:solidFill>
                          <a:latin typeface="Aptos"/>
                          <a:ea typeface="Aptos"/>
                          <a:cs typeface="Aptos"/>
                        </a:rPr>
                        <a:t>Tue 03 Nov</a:t>
                      </a:r>
                    </a:p>
                    <a:p>
                      <a:r>
                        <a:rPr lang="fr-FR" sz="1800" b="1">
                          <a:solidFill>
                            <a:srgbClr val="007F83"/>
                          </a:solidFill>
                          <a:latin typeface="Aptos"/>
                          <a:ea typeface="Aptos"/>
                          <a:cs typeface="Aptos"/>
                        </a:rPr>
                        <a:t>2026</a:t>
                      </a:r>
                    </a:p>
                  </a:txBody>
                  <a:tcPr marL="133350" marR="133350" marT="133350" marB="133350" anchor="ctr">
                    <a:solidFill>
                      <a:srgbClr val="F3F7F9"/>
                    </a:solidFill>
                  </a:tcPr>
                </a:tc>
                <a:tc>
                  <a:txBody>
                    <a:bodyPr/>
                    <a:lstStyle/>
                    <a:p>
                      <a:r>
                        <a:rPr lang="en-US" sz="1800" b="1" dirty="0">
                          <a:solidFill>
                            <a:srgbClr val="122C49"/>
                          </a:solidFill>
                          <a:latin typeface="Aptos"/>
                          <a:ea typeface="Aptos"/>
                          <a:cs typeface="Aptos"/>
                        </a:rPr>
                        <a:t>Unit 1. Liquidity, Solvency, and Leverage Ratios</a:t>
                      </a:r>
                    </a:p>
                  </a:txBody>
                  <a:tcPr marL="133350" marR="133350" marT="133350" marB="133350" anchor="ctr">
                    <a:solidFill>
                      <a:srgbClr val="F3F7F9"/>
                    </a:solidFill>
                  </a:tcPr>
                </a:tc>
                <a:tc>
                  <a:txBody>
                    <a:bodyPr/>
                    <a:lstStyle/>
                    <a:p>
                      <a:pPr marL="285750" indent="-285750">
                        <a:buFont typeface="Arial" panose="020B0604020202020204" pitchFamily="34" charset="0"/>
                        <a:buChar char="•"/>
                      </a:pPr>
                      <a:r>
                        <a:rPr lang="en-US" sz="1800" dirty="0">
                          <a:solidFill>
                            <a:srgbClr val="233B50"/>
                          </a:solidFill>
                          <a:latin typeface="Aptos"/>
                          <a:ea typeface="Aptos"/>
                          <a:cs typeface="Aptos"/>
                        </a:rPr>
                        <a:t>1.1 Common-Size Financial Statements</a:t>
                      </a:r>
                    </a:p>
                    <a:p>
                      <a:pPr marL="285750" indent="-285750">
                        <a:buFont typeface="Arial" panose="020B0604020202020204" pitchFamily="34" charset="0"/>
                        <a:buChar char="•"/>
                      </a:pPr>
                      <a:r>
                        <a:rPr lang="en-US" sz="1800" dirty="0">
                          <a:solidFill>
                            <a:srgbClr val="233B50"/>
                          </a:solidFill>
                          <a:latin typeface="Aptos"/>
                          <a:ea typeface="Aptos"/>
                          <a:cs typeface="Aptos"/>
                        </a:rPr>
                        <a:t>1.2 Liquidity</a:t>
                      </a:r>
                    </a:p>
                    <a:p>
                      <a:pPr marL="285750" indent="-285750">
                        <a:buFont typeface="Arial" panose="020B0604020202020204" pitchFamily="34" charset="0"/>
                        <a:buChar char="•"/>
                      </a:pPr>
                      <a:r>
                        <a:rPr lang="en-US" sz="1800" dirty="0">
                          <a:solidFill>
                            <a:srgbClr val="233B50"/>
                          </a:solidFill>
                          <a:latin typeface="Aptos"/>
                          <a:ea typeface="Aptos"/>
                          <a:cs typeface="Aptos"/>
                        </a:rPr>
                        <a:t>1.3 Solvency</a:t>
                      </a:r>
                    </a:p>
                    <a:p>
                      <a:pPr marL="285750" indent="-285750">
                        <a:buFont typeface="Arial" panose="020B0604020202020204" pitchFamily="34" charset="0"/>
                        <a:buChar char="•"/>
                      </a:pPr>
                      <a:r>
                        <a:rPr lang="en-US" sz="1800" dirty="0">
                          <a:solidFill>
                            <a:srgbClr val="233B50"/>
                          </a:solidFill>
                          <a:latin typeface="Aptos"/>
                          <a:ea typeface="Aptos"/>
                          <a:cs typeface="Aptos"/>
                        </a:rPr>
                        <a:t>1.4 Leverage</a:t>
                      </a:r>
                    </a:p>
                    <a:p>
                      <a:pPr marL="285750" indent="-285750">
                        <a:buFont typeface="Arial" panose="020B0604020202020204" pitchFamily="34" charset="0"/>
                        <a:buChar char="•"/>
                      </a:pPr>
                      <a:r>
                        <a:rPr lang="en-US" sz="1800" dirty="0">
                          <a:solidFill>
                            <a:srgbClr val="233B50"/>
                          </a:solidFill>
                          <a:latin typeface="Aptos"/>
                          <a:ea typeface="Aptos"/>
                          <a:cs typeface="Aptos"/>
                        </a:rPr>
                        <a:t>Practice working capital, liquidity, capital structure, coverage and leverage.</a:t>
                      </a:r>
                    </a:p>
                  </a:txBody>
                  <a:tcPr marL="133350" marR="133350" marT="133350" marB="133350" anchor="ctr">
                    <a:solidFill>
                      <a:srgbClr val="F3F7F9"/>
                    </a:solidFill>
                  </a:tcPr>
                </a:tc>
                <a:tc>
                  <a:txBody>
                    <a:bodyPr/>
                    <a:lstStyle/>
                    <a:p>
                      <a:pPr algn="ctr"/>
                      <a:r>
                        <a:rPr lang="en-US" sz="1800" dirty="0">
                          <a:solidFill>
                            <a:srgbClr val="233B50"/>
                          </a:solidFill>
                          <a:latin typeface="Aptos"/>
                          <a:ea typeface="Aptos"/>
                          <a:cs typeface="Aptos"/>
                        </a:rPr>
                        <a:t>1–18</a:t>
                      </a:r>
                    </a:p>
                  </a:txBody>
                  <a:tcPr marL="133350" marR="133350" marT="133350" marB="133350" anchor="ctr">
                    <a:solidFill>
                      <a:srgbClr val="F3F7F9"/>
                    </a:solidFill>
                  </a:tcPr>
                </a:tc>
                <a:extLst>
                  <a:ext uri="{0D108BD9-81ED-4DB2-BD59-A6C34878D82A}">
                    <a16:rowId xmlns:a16="http://schemas.microsoft.com/office/drawing/2014/main" val="10002"/>
                  </a:ext>
                </a:extLst>
              </a:tr>
              <a:tr h="1143000">
                <a:tc>
                  <a:txBody>
                    <a:bodyPr/>
                    <a:lstStyle/>
                    <a:p>
                      <a:r>
                        <a:rPr lang="nn-NO" sz="1800" b="1">
                          <a:solidFill>
                            <a:srgbClr val="007F83"/>
                          </a:solidFill>
                          <a:latin typeface="Aptos"/>
                          <a:ea typeface="Aptos"/>
                          <a:cs typeface="Aptos"/>
                        </a:rPr>
                        <a:t>03</a:t>
                      </a:r>
                    </a:p>
                    <a:p>
                      <a:r>
                        <a:rPr lang="nn-NO" sz="1800" b="1">
                          <a:solidFill>
                            <a:srgbClr val="007F83"/>
                          </a:solidFill>
                          <a:latin typeface="Aptos"/>
                          <a:ea typeface="Aptos"/>
                          <a:cs typeface="Aptos"/>
                        </a:rPr>
                        <a:t>Fri 06 Nov</a:t>
                      </a:r>
                    </a:p>
                    <a:p>
                      <a:r>
                        <a:rPr lang="nn-NO" sz="1800" b="1">
                          <a:solidFill>
                            <a:srgbClr val="007F83"/>
                          </a:solidFill>
                          <a:latin typeface="Aptos"/>
                          <a:ea typeface="Aptos"/>
                          <a:cs typeface="Aptos"/>
                        </a:rPr>
                        <a:t>2026</a:t>
                      </a:r>
                    </a:p>
                  </a:txBody>
                  <a:tcPr marL="133350" marR="133350" marT="133350" marB="133350" anchor="ctr">
                    <a:solidFill>
                      <a:srgbClr val="FFFFFF"/>
                    </a:solidFill>
                  </a:tcPr>
                </a:tc>
                <a:tc>
                  <a:txBody>
                    <a:bodyPr/>
                    <a:lstStyle/>
                    <a:p>
                      <a:r>
                        <a:rPr lang="en-US" sz="1800" b="1">
                          <a:solidFill>
                            <a:srgbClr val="122C49"/>
                          </a:solidFill>
                          <a:latin typeface="Aptos"/>
                          <a:ea typeface="Aptos"/>
                          <a:cs typeface="Aptos"/>
                        </a:rPr>
                        <a:t>Unit 2. Profitability and Per-Share Ratios</a:t>
                      </a:r>
                    </a:p>
                  </a:txBody>
                  <a:tcPr marL="133350" marR="133350" marT="133350" marB="133350" anchor="ctr">
                    <a:solidFill>
                      <a:srgbClr val="FFFFFF"/>
                    </a:solidFill>
                  </a:tcPr>
                </a:tc>
                <a:tc>
                  <a:txBody>
                    <a:bodyPr/>
                    <a:lstStyle/>
                    <a:p>
                      <a:pPr marL="285750" indent="-285750">
                        <a:buFont typeface="Arial" panose="020B0604020202020204" pitchFamily="34" charset="0"/>
                        <a:buChar char="•"/>
                      </a:pPr>
                      <a:r>
                        <a:rPr lang="en-US" sz="1800" dirty="0">
                          <a:solidFill>
                            <a:srgbClr val="233B50"/>
                          </a:solidFill>
                          <a:latin typeface="Aptos"/>
                          <a:ea typeface="Aptos"/>
                          <a:cs typeface="Aptos"/>
                        </a:rPr>
                        <a:t>2.1 Profitability</a:t>
                      </a:r>
                    </a:p>
                    <a:p>
                      <a:pPr marL="285750" indent="-285750">
                        <a:buFont typeface="Arial" panose="020B0604020202020204" pitchFamily="34" charset="0"/>
                        <a:buChar char="•"/>
                      </a:pPr>
                      <a:r>
                        <a:rPr lang="en-US" sz="1800" dirty="0">
                          <a:solidFill>
                            <a:srgbClr val="233B50"/>
                          </a:solidFill>
                          <a:latin typeface="Aptos"/>
                          <a:ea typeface="Aptos"/>
                          <a:cs typeface="Aptos"/>
                        </a:rPr>
                        <a:t>2.2 Factors Affecting Reported Profitability</a:t>
                      </a:r>
                    </a:p>
                    <a:p>
                      <a:pPr marL="285750" indent="-285750">
                        <a:buFont typeface="Arial" panose="020B0604020202020204" pitchFamily="34" charset="0"/>
                        <a:buChar char="•"/>
                      </a:pPr>
                      <a:r>
                        <a:rPr lang="en-US" sz="1800" dirty="0">
                          <a:solidFill>
                            <a:srgbClr val="233B50"/>
                          </a:solidFill>
                          <a:latin typeface="Aptos"/>
                          <a:ea typeface="Aptos"/>
                          <a:cs typeface="Aptos"/>
                        </a:rPr>
                        <a:t>2.3 Per-Share Ratios</a:t>
                      </a:r>
                    </a:p>
                  </a:txBody>
                  <a:tcPr marL="133350" marR="133350" marT="133350" marB="133350" anchor="ctr">
                    <a:solidFill>
                      <a:srgbClr val="FFFFFF"/>
                    </a:solidFill>
                  </a:tcPr>
                </a:tc>
                <a:tc>
                  <a:txBody>
                    <a:bodyPr/>
                    <a:lstStyle/>
                    <a:p>
                      <a:pPr algn="ctr"/>
                      <a:r>
                        <a:rPr lang="en-US" sz="1800" dirty="0">
                          <a:solidFill>
                            <a:srgbClr val="233B50"/>
                          </a:solidFill>
                          <a:latin typeface="Aptos"/>
                          <a:ea typeface="Aptos"/>
                          <a:cs typeface="Aptos"/>
                        </a:rPr>
                        <a:t>19–35</a:t>
                      </a:r>
                    </a:p>
                  </a:txBody>
                  <a:tcPr marL="133350" marR="133350" marT="133350" marB="133350" anchor="ctr">
                    <a:solidFill>
                      <a:srgbClr val="FFFFFF"/>
                    </a:solidFill>
                  </a:tcPr>
                </a:tc>
                <a:extLst>
                  <a:ext uri="{0D108BD9-81ED-4DB2-BD59-A6C34878D82A}">
                    <a16:rowId xmlns:a16="http://schemas.microsoft.com/office/drawing/2014/main" val="10003"/>
                  </a:ext>
                </a:extLst>
              </a:tr>
              <a:tr h="1047750">
                <a:tc>
                  <a:txBody>
                    <a:bodyPr/>
                    <a:lstStyle/>
                    <a:p>
                      <a:r>
                        <a:rPr lang="fr-FR" sz="1800" b="1">
                          <a:solidFill>
                            <a:srgbClr val="007F83"/>
                          </a:solidFill>
                          <a:latin typeface="Aptos"/>
                          <a:ea typeface="Aptos"/>
                          <a:cs typeface="Aptos"/>
                        </a:rPr>
                        <a:t>04</a:t>
                      </a:r>
                    </a:p>
                    <a:p>
                      <a:r>
                        <a:rPr lang="fr-FR" sz="1800" b="1">
                          <a:solidFill>
                            <a:srgbClr val="007F83"/>
                          </a:solidFill>
                          <a:latin typeface="Aptos"/>
                          <a:ea typeface="Aptos"/>
                          <a:cs typeface="Aptos"/>
                        </a:rPr>
                        <a:t>Tue 10 Nov</a:t>
                      </a:r>
                    </a:p>
                    <a:p>
                      <a:r>
                        <a:rPr lang="fr-FR" sz="1800" b="1">
                          <a:solidFill>
                            <a:srgbClr val="007F83"/>
                          </a:solidFill>
                          <a:latin typeface="Aptos"/>
                          <a:ea typeface="Aptos"/>
                          <a:cs typeface="Aptos"/>
                        </a:rPr>
                        <a:t>2026</a:t>
                      </a:r>
                    </a:p>
                  </a:txBody>
                  <a:tcPr marL="133350" marR="133350" marT="133350" marB="133350" anchor="ctr">
                    <a:solidFill>
                      <a:srgbClr val="F3F7F9"/>
                    </a:solidFill>
                  </a:tcPr>
                </a:tc>
                <a:tc>
                  <a:txBody>
                    <a:bodyPr/>
                    <a:lstStyle/>
                    <a:p>
                      <a:r>
                        <a:rPr lang="en-US" sz="1800" b="1">
                          <a:solidFill>
                            <a:srgbClr val="122C49"/>
                          </a:solidFill>
                          <a:latin typeface="Aptos"/>
                          <a:ea typeface="Aptos"/>
                          <a:cs typeface="Aptos"/>
                        </a:rPr>
                        <a:t>Unit 3. Activity Ratios and Earnings Quality</a:t>
                      </a:r>
                    </a:p>
                  </a:txBody>
                  <a:tcPr marL="133350" marR="133350" marT="133350" marB="133350" anchor="ctr">
                    <a:solidFill>
                      <a:srgbClr val="F3F7F9"/>
                    </a:solidFill>
                  </a:tcPr>
                </a:tc>
                <a:tc>
                  <a:txBody>
                    <a:bodyPr/>
                    <a:lstStyle/>
                    <a:p>
                      <a:pPr marL="285750" indent="-285750">
                        <a:buFont typeface="Arial" panose="020B0604020202020204" pitchFamily="34" charset="0"/>
                        <a:buChar char="•"/>
                      </a:pPr>
                      <a:r>
                        <a:rPr lang="en-US" sz="1800" dirty="0">
                          <a:solidFill>
                            <a:srgbClr val="233B50"/>
                          </a:solidFill>
                          <a:latin typeface="Aptos"/>
                          <a:ea typeface="Aptos"/>
                          <a:cs typeface="Aptos"/>
                        </a:rPr>
                        <a:t>3.1 Activity Ratios</a:t>
                      </a:r>
                    </a:p>
                    <a:p>
                      <a:pPr marL="285750" indent="-285750">
                        <a:buFont typeface="Arial" panose="020B0604020202020204" pitchFamily="34" charset="0"/>
                        <a:buChar char="•"/>
                      </a:pPr>
                      <a:r>
                        <a:rPr lang="en-US" sz="1800" dirty="0">
                          <a:solidFill>
                            <a:srgbClr val="233B50"/>
                          </a:solidFill>
                          <a:latin typeface="Aptos"/>
                          <a:ea typeface="Aptos"/>
                          <a:cs typeface="Aptos"/>
                        </a:rPr>
                        <a:t>3.2 Ratio Analysis and Earnings Quality</a:t>
                      </a:r>
                    </a:p>
                  </a:txBody>
                  <a:tcPr marL="133350" marR="133350" marT="133350" marB="133350" anchor="ctr">
                    <a:solidFill>
                      <a:srgbClr val="F3F7F9"/>
                    </a:solidFill>
                  </a:tcPr>
                </a:tc>
                <a:tc>
                  <a:txBody>
                    <a:bodyPr/>
                    <a:lstStyle/>
                    <a:p>
                      <a:pPr algn="ctr"/>
                      <a:r>
                        <a:rPr lang="en-US" sz="1800" dirty="0">
                          <a:solidFill>
                            <a:srgbClr val="233B50"/>
                          </a:solidFill>
                          <a:latin typeface="Aptos"/>
                          <a:ea typeface="Aptos"/>
                          <a:cs typeface="Aptos"/>
                        </a:rPr>
                        <a:t>36–47</a:t>
                      </a:r>
                    </a:p>
                  </a:txBody>
                  <a:tcPr marL="133350" marR="133350" marT="133350" marB="133350" anchor="ctr">
                    <a:solidFill>
                      <a:srgbClr val="F3F7F9"/>
                    </a:solidFill>
                  </a:tcPr>
                </a:tc>
                <a:extLst>
                  <a:ext uri="{0D108BD9-81ED-4DB2-BD59-A6C34878D82A}">
                    <a16:rowId xmlns:a16="http://schemas.microsoft.com/office/drawing/2014/main" val="10004"/>
                  </a:ext>
                </a:extLst>
              </a:tr>
            </a:tbl>
          </a:graphicData>
        </a:graphic>
      </p:graphicFrame>
      <p:sp>
        <p:nvSpPr>
          <p:cNvPr id="5" name="Rectangle 4">
            <a:extLst>
              <a:ext uri="{FF2B5EF4-FFF2-40B4-BE49-F238E27FC236}">
                <a16:creationId xmlns:a16="http://schemas.microsoft.com/office/drawing/2014/main" id="{00000002-0004-4000-8000-000000000000}"/>
              </a:ext>
            </a:extLst>
          </p:cNvPr>
          <p:cNvSpPr>
            <a:spLocks noGrp="1"/>
          </p:cNvSpPr>
          <p:nvPr/>
        </p:nvSpPr>
        <p:spPr>
          <a:xfrm>
            <a:off x="13811250" y="8077200"/>
            <a:ext cx="666750" cy="285750"/>
          </a:xfrm>
          <a:prstGeom prst="rect">
            <a:avLst/>
          </a:prstGeom>
          <a:noFill/>
          <a:ln w="0">
            <a:noFill/>
          </a:ln>
        </p:spPr>
        <p:txBody>
          <a:bodyPr wrap="square">
            <a:noAutofit/>
          </a:bodyPr>
          <a:lstStyle/>
          <a:p>
            <a:pPr>
              <a:defRPr sz="1350" b="0">
                <a:solidFill>
                  <a:srgbClr val="5C6F7F"/>
                </a:solidFill>
                <a:latin typeface="Aptos"/>
                <a:ea typeface="Aptos"/>
                <a:cs typeface="Aptos"/>
              </a:defRPr>
            </a:pPr>
            <a:r>
              <a:rPr lang="en-US" sz="1350" b="0">
                <a:solidFill>
                  <a:srgbClr val="5C6F7F"/>
                </a:solidFill>
                <a:latin typeface="Aptos"/>
                <a:ea typeface="Aptos"/>
                <a:cs typeface="Aptos"/>
              </a:rPr>
              <a:t>16</a:t>
            </a:r>
            <a:endParaRPr sz="1350" b="0">
              <a:solidFill>
                <a:srgbClr val="5C6F7F"/>
              </a:solidFill>
              <a:latin typeface="Aptos"/>
              <a:ea typeface="Aptos"/>
              <a:cs typeface="Aptos"/>
            </a:endParaRPr>
          </a:p>
        </p:txBody>
      </p:sp>
      <p:sp>
        <p:nvSpPr>
          <p:cNvPr id="7" name="Section exam weighting">
            <a:extLst>
              <a:ext uri="{FF2B5EF4-FFF2-40B4-BE49-F238E27FC236}">
                <a16:creationId xmlns:a16="http://schemas.microsoft.com/office/drawing/2014/main" id="{00000002-0002-4000-8000-000000000000}"/>
              </a:ext>
            </a:extLst>
          </p:cNvPr>
          <p:cNvSpPr>
            <a:spLocks noGrp="1"/>
          </p:cNvSpPr>
          <p:nvPr/>
        </p:nvSpPr>
        <p:spPr>
          <a:xfrm>
            <a:off x="762000" y="1657350"/>
            <a:ext cx="13811250" cy="276225"/>
          </a:xfrm>
          <a:prstGeom prst="rect">
            <a:avLst/>
          </a:prstGeom>
          <a:noFill/>
          <a:ln w="0">
            <a:noFill/>
          </a:ln>
        </p:spPr>
        <p:txBody>
          <a:bodyPr wrap="square" tIns="0" bIns="0">
            <a:noAutofit/>
          </a:bodyPr>
          <a:lstStyle/>
          <a:p>
            <a:pPr>
              <a:defRPr sz="2025" b="0">
                <a:solidFill>
                  <a:srgbClr val="007F83"/>
                </a:solidFill>
                <a:latin typeface="Aptos"/>
                <a:ea typeface="Aptos"/>
                <a:cs typeface="Aptos"/>
              </a:defRPr>
            </a:pPr>
            <a:r>
              <a:rPr b="1" dirty="0">
                <a:solidFill>
                  <a:srgbClr val="007F83"/>
                </a:solidFill>
                <a:latin typeface="Aptos"/>
                <a:ea typeface="Aptos"/>
                <a:cs typeface="Aptos"/>
              </a:rPr>
              <a:t>Section exam weight: Financial Statement Analysis 20% (Study Units 1–3 combined)</a:t>
            </a:r>
          </a:p>
        </p:txBody>
      </p:sp>
      <p:sp>
        <p:nvSpPr>
          <p:cNvPr id="9" name="Rectangle 8">
            <a:extLst>
              <a:ext uri="{FF2B5EF4-FFF2-40B4-BE49-F238E27FC236}">
                <a16:creationId xmlns:a16="http://schemas.microsoft.com/office/drawing/2014/main" id="{6CE23D8C-2F10-9AD4-D8B1-B7771914106C}"/>
              </a:ext>
            </a:extLst>
          </p:cNvPr>
          <p:cNvSpPr>
            <a:spLocks noGrp="1"/>
          </p:cNvSpPr>
          <p:nvPr/>
        </p:nvSpPr>
        <p:spPr>
          <a:xfrm>
            <a:off x="762000" y="8077200"/>
            <a:ext cx="11430000" cy="285750"/>
          </a:xfrm>
          <a:prstGeom prst="rect">
            <a:avLst/>
          </a:prstGeom>
          <a:noFill/>
          <a:ln w="0">
            <a:noFill/>
          </a:ln>
        </p:spPr>
        <p:txBody>
          <a:bodyPr wrap="square">
            <a:noAutofit/>
          </a:bodyPr>
          <a:lstStyle/>
          <a:p>
            <a:pPr>
              <a:defRPr sz="1350" b="0">
                <a:solidFill>
                  <a:srgbClr val="5C6F7F"/>
                </a:solidFill>
                <a:latin typeface="Aptos"/>
                <a:ea typeface="Aptos"/>
                <a:cs typeface="Aptos"/>
              </a:defRPr>
            </a:pPr>
            <a:r>
              <a:rPr sz="1350" b="0" dirty="0">
                <a:solidFill>
                  <a:srgbClr val="5C6F7F"/>
                </a:solidFill>
                <a:latin typeface="Aptos"/>
                <a:ea typeface="Aptos"/>
                <a:cs typeface="Aptos"/>
              </a:rPr>
              <a:t>CMA P2 202</a:t>
            </a:r>
            <a:r>
              <a:rPr lang="en-US" sz="1350" b="0" dirty="0">
                <a:solidFill>
                  <a:srgbClr val="5C6F7F"/>
                </a:solidFill>
                <a:latin typeface="Aptos"/>
                <a:ea typeface="Aptos"/>
                <a:cs typeface="Aptos"/>
              </a:rPr>
              <a:t>6</a:t>
            </a:r>
            <a:endParaRPr sz="1350" b="0" dirty="0">
              <a:solidFill>
                <a:srgbClr val="5C6F7F"/>
              </a:solidFill>
              <a:latin typeface="Aptos"/>
              <a:ea typeface="Aptos"/>
              <a:cs typeface="Apto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0000002-0001-4000-8000-000000000000}"/>
              </a:ext>
            </a:extLst>
          </p:cNvPr>
          <p:cNvSpPr>
            <a:spLocks noGrp="1"/>
          </p:cNvSpPr>
          <p:nvPr/>
        </p:nvSpPr>
        <p:spPr>
          <a:xfrm>
            <a:off x="762000" y="542925"/>
            <a:ext cx="13811250" cy="666750"/>
          </a:xfrm>
          <a:prstGeom prst="rect">
            <a:avLst/>
          </a:prstGeom>
          <a:noFill/>
          <a:ln w="0">
            <a:noFill/>
          </a:ln>
        </p:spPr>
        <p:txBody>
          <a:bodyPr wrap="square">
            <a:noAutofit/>
          </a:bodyPr>
          <a:lstStyle/>
          <a:p>
            <a:pPr>
              <a:defRPr sz="3675" b="1">
                <a:solidFill>
                  <a:srgbClr val="122C49"/>
                </a:solidFill>
                <a:latin typeface="Aptos"/>
                <a:ea typeface="Aptos"/>
                <a:cs typeface="Aptos"/>
              </a:defRPr>
            </a:pPr>
            <a:r>
              <a:rPr lang="en-US" sz="3675" b="1">
                <a:solidFill>
                  <a:srgbClr val="122C49"/>
                </a:solidFill>
                <a:latin typeface="Aptos"/>
                <a:ea typeface="Aptos"/>
                <a:cs typeface="Aptos"/>
              </a:rPr>
              <a:t>Financial Statement Analysis revision</a:t>
            </a:r>
            <a:endParaRPr sz="3675" b="1">
              <a:solidFill>
                <a:srgbClr val="122C49"/>
              </a:solidFill>
              <a:latin typeface="Aptos"/>
              <a:ea typeface="Aptos"/>
              <a:cs typeface="Aptos"/>
            </a:endParaRPr>
          </a:p>
        </p:txBody>
      </p:sp>
      <p:sp>
        <p:nvSpPr>
          <p:cNvPr id="2" name="Rectangle 1">
            <a:extLst>
              <a:ext uri="{FF2B5EF4-FFF2-40B4-BE49-F238E27FC236}">
                <a16:creationId xmlns:a16="http://schemas.microsoft.com/office/drawing/2014/main" id="{00000002-0002-4000-8000-000000000000}"/>
              </a:ext>
            </a:extLst>
          </p:cNvPr>
          <p:cNvSpPr>
            <a:spLocks noGrp="1"/>
          </p:cNvSpPr>
          <p:nvPr/>
        </p:nvSpPr>
        <p:spPr>
          <a:xfrm>
            <a:off x="762000" y="1185862"/>
            <a:ext cx="13811250" cy="400050"/>
          </a:xfrm>
          <a:prstGeom prst="rect">
            <a:avLst/>
          </a:prstGeom>
          <a:noFill/>
          <a:ln w="0">
            <a:noFill/>
          </a:ln>
        </p:spPr>
        <p:txBody>
          <a:bodyPr wrap="square">
            <a:noAutofit/>
          </a:bodyPr>
          <a:lstStyle/>
          <a:p>
            <a:pPr>
              <a:defRPr sz="2025" b="0">
                <a:solidFill>
                  <a:srgbClr val="007F83"/>
                </a:solidFill>
                <a:latin typeface="Aptos"/>
                <a:ea typeface="Aptos"/>
                <a:cs typeface="Aptos"/>
              </a:defRPr>
            </a:pPr>
            <a:r>
              <a:rPr lang="en-US" sz="2400" b="0">
                <a:solidFill>
                  <a:srgbClr val="007F83"/>
                </a:solidFill>
                <a:latin typeface="Aptos"/>
                <a:ea typeface="Aptos"/>
                <a:cs typeface="Aptos"/>
              </a:rPr>
              <a:t>13 Nov 2026   /   2025 PDF session 5</a:t>
            </a:r>
            <a:endParaRPr sz="2025" b="0">
              <a:solidFill>
                <a:srgbClr val="007F83"/>
              </a:solidFill>
              <a:latin typeface="Aptos"/>
              <a:ea typeface="Aptos"/>
              <a:cs typeface="Aptos"/>
            </a:endParaRPr>
          </a:p>
        </p:txBody>
      </p:sp>
      <p:graphicFrame>
        <p:nvGraphicFramePr>
          <p:cNvPr id="3" name="Table 2"/>
          <p:cNvGraphicFramePr/>
          <p:nvPr>
            <p:extLst>
              <p:ext uri="{D42A27DB-BD31-4B8C-83A1-F6EECF244321}">
                <p14:modId xmlns:p14="http://schemas.microsoft.com/office/powerpoint/2010/main" val="276764626"/>
              </p:ext>
            </p:extLst>
          </p:nvPr>
        </p:nvGraphicFramePr>
        <p:xfrm>
          <a:off x="762000" y="2028825"/>
          <a:ext cx="13811251" cy="2779395"/>
        </p:xfrm>
        <a:graphic>
          <a:graphicData uri="http://schemas.openxmlformats.org/drawingml/2006/table">
            <a:tbl>
              <a:tblPr/>
              <a:tblGrid>
                <a:gridCol w="1962652">
                  <a:extLst>
                    <a:ext uri="{9D8B030D-6E8A-4147-A177-3AD203B41FA5}">
                      <a16:colId xmlns:a16="http://schemas.microsoft.com/office/drawing/2014/main" val="20000"/>
                    </a:ext>
                  </a:extLst>
                </a:gridCol>
                <a:gridCol w="4984248">
                  <a:extLst>
                    <a:ext uri="{9D8B030D-6E8A-4147-A177-3AD203B41FA5}">
                      <a16:colId xmlns:a16="http://schemas.microsoft.com/office/drawing/2014/main" val="20001"/>
                    </a:ext>
                  </a:extLst>
                </a:gridCol>
                <a:gridCol w="5172911">
                  <a:extLst>
                    <a:ext uri="{9D8B030D-6E8A-4147-A177-3AD203B41FA5}">
                      <a16:colId xmlns:a16="http://schemas.microsoft.com/office/drawing/2014/main" val="20002"/>
                    </a:ext>
                  </a:extLst>
                </a:gridCol>
                <a:gridCol w="1691440">
                  <a:extLst>
                    <a:ext uri="{9D8B030D-6E8A-4147-A177-3AD203B41FA5}">
                      <a16:colId xmlns:a16="http://schemas.microsoft.com/office/drawing/2014/main" val="20003"/>
                    </a:ext>
                  </a:extLst>
                </a:gridCol>
              </a:tblGrid>
              <a:tr h="514350">
                <a:tc>
                  <a:txBody>
                    <a:bodyPr/>
                    <a:lstStyle/>
                    <a:p>
                      <a:pPr algn="ctr"/>
                      <a:r>
                        <a:rPr lang="en-US" sz="1800" b="1">
                          <a:solidFill>
                            <a:srgbClr val="FFFFFF"/>
                          </a:solidFill>
                          <a:latin typeface="Aptos"/>
                          <a:ea typeface="Aptos"/>
                          <a:cs typeface="Aptos"/>
                        </a:rPr>
                        <a:t>Session / date</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Study unit</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Revision coverage and practice</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Pages</a:t>
                      </a:r>
                    </a:p>
                  </a:txBody>
                  <a:tcPr marL="133350" marR="133350" marT="133350" marB="133350" anchor="ctr">
                    <a:solidFill>
                      <a:srgbClr val="122C49"/>
                    </a:solidFill>
                  </a:tcPr>
                </a:tc>
                <a:extLst>
                  <a:ext uri="{0D108BD9-81ED-4DB2-BD59-A6C34878D82A}">
                    <a16:rowId xmlns:a16="http://schemas.microsoft.com/office/drawing/2014/main" val="10000"/>
                  </a:ext>
                </a:extLst>
              </a:tr>
              <a:tr h="2238375">
                <a:tc>
                  <a:txBody>
                    <a:bodyPr/>
                    <a:lstStyle/>
                    <a:p>
                      <a:r>
                        <a:rPr lang="sv-SE" sz="1800" b="1">
                          <a:solidFill>
                            <a:srgbClr val="007F83"/>
                          </a:solidFill>
                          <a:latin typeface="Aptos"/>
                          <a:ea typeface="Aptos"/>
                          <a:cs typeface="Aptos"/>
                        </a:rPr>
                        <a:t>05</a:t>
                      </a:r>
                    </a:p>
                    <a:p>
                      <a:r>
                        <a:rPr lang="sv-SE" sz="1800" b="1">
                          <a:solidFill>
                            <a:srgbClr val="007F83"/>
                          </a:solidFill>
                          <a:latin typeface="Aptos"/>
                          <a:ea typeface="Aptos"/>
                          <a:cs typeface="Aptos"/>
                        </a:rPr>
                        <a:t>Fri 13 Nov</a:t>
                      </a:r>
                    </a:p>
                    <a:p>
                      <a:r>
                        <a:rPr lang="sv-SE" sz="1800" b="1">
                          <a:solidFill>
                            <a:srgbClr val="007F83"/>
                          </a:solidFill>
                          <a:latin typeface="Aptos"/>
                          <a:ea typeface="Aptos"/>
                          <a:cs typeface="Aptos"/>
                        </a:rPr>
                        <a:t>2026</a:t>
                      </a:r>
                    </a:p>
                  </a:txBody>
                  <a:tcPr marL="133350" marR="133350" marT="133350" marB="133350" anchor="ctr">
                    <a:solidFill>
                      <a:srgbClr val="F3F7F9"/>
                    </a:solidFill>
                  </a:tcPr>
                </a:tc>
                <a:tc>
                  <a:txBody>
                    <a:bodyPr/>
                    <a:lstStyle/>
                    <a:p>
                      <a:r>
                        <a:rPr lang="en-US" sz="1800" b="1">
                          <a:solidFill>
                            <a:srgbClr val="122C49"/>
                          </a:solidFill>
                          <a:latin typeface="Aptos"/>
                          <a:ea typeface="Aptos"/>
                          <a:cs typeface="Aptos"/>
                        </a:rPr>
                        <a:t>Financial Statement Analysis revision</a:t>
                      </a:r>
                    </a:p>
                    <a:p>
                      <a:r>
                        <a:rPr lang="en-US" sz="1800" b="1">
                          <a:solidFill>
                            <a:srgbClr val="122C49"/>
                          </a:solidFill>
                          <a:latin typeface="Aptos"/>
                          <a:ea typeface="Aptos"/>
                          <a:cs typeface="Aptos"/>
                        </a:rPr>
                        <a:t>Study Units 1–3 combined</a:t>
                      </a:r>
                    </a:p>
                  </a:txBody>
                  <a:tcPr marL="133350" marR="133350" marT="133350" marB="133350" anchor="ctr">
                    <a:solidFill>
                      <a:srgbClr val="F3F7F9"/>
                    </a:solidFill>
                  </a:tcPr>
                </a:tc>
                <a:tc>
                  <a:txBody>
                    <a:bodyPr/>
                    <a:lstStyle/>
                    <a:p>
                      <a:pPr marL="285750" indent="-285750">
                        <a:buFont typeface="Arial" panose="020B0604020202020204" pitchFamily="34" charset="0"/>
                        <a:buChar char="•"/>
                      </a:pPr>
                      <a:r>
                        <a:rPr lang="en-US" sz="1800">
                          <a:solidFill>
                            <a:srgbClr val="233B50"/>
                          </a:solidFill>
                          <a:latin typeface="Aptos"/>
                          <a:ea typeface="Aptos"/>
                          <a:cs typeface="Aptos"/>
                        </a:rPr>
                        <a:t>Unit 1: Liquidity, solvency and leverage ratios</a:t>
                      </a:r>
                    </a:p>
                    <a:p>
                      <a:pPr marL="285750" indent="-285750">
                        <a:buFont typeface="Arial" panose="020B0604020202020204" pitchFamily="34" charset="0"/>
                        <a:buChar char="•"/>
                      </a:pPr>
                      <a:r>
                        <a:rPr lang="en-US" sz="1800">
                          <a:solidFill>
                            <a:srgbClr val="233B50"/>
                          </a:solidFill>
                          <a:latin typeface="Aptos"/>
                          <a:ea typeface="Aptos"/>
                          <a:cs typeface="Aptos"/>
                        </a:rPr>
                        <a:t>Unit 2: Profitability and per-share ratios</a:t>
                      </a:r>
                    </a:p>
                    <a:p>
                      <a:pPr marL="285750" indent="-285750">
                        <a:buFont typeface="Arial" panose="020B0604020202020204" pitchFamily="34" charset="0"/>
                        <a:buChar char="•"/>
                      </a:pPr>
                      <a:r>
                        <a:rPr lang="en-US" sz="1800">
                          <a:solidFill>
                            <a:srgbClr val="233B50"/>
                          </a:solidFill>
                          <a:latin typeface="Aptos"/>
                          <a:ea typeface="Aptos"/>
                          <a:cs typeface="Aptos"/>
                        </a:rPr>
                        <a:t>Unit 3: Activity ratios and earnings quality</a:t>
                      </a:r>
                    </a:p>
                    <a:p>
                      <a:pPr marL="285750" indent="-285750">
                        <a:buFont typeface="Arial" panose="020B0604020202020204" pitchFamily="34" charset="0"/>
                        <a:buChar char="•"/>
                      </a:pPr>
                      <a:r>
                        <a:rPr lang="en-US" sz="1800">
                          <a:solidFill>
                            <a:srgbClr val="233B50"/>
                          </a:solidFill>
                          <a:latin typeface="Aptos"/>
                          <a:ea typeface="Aptos"/>
                          <a:cs typeface="Aptos"/>
                        </a:rPr>
                        <a:t>Mixed practice questions and review of errors</a:t>
                      </a:r>
                    </a:p>
                  </a:txBody>
                  <a:tcPr marL="133350" marR="133350" marT="133350" marB="133350" anchor="ctr">
                    <a:solidFill>
                      <a:srgbClr val="F3F7F9"/>
                    </a:solidFill>
                  </a:tcPr>
                </a:tc>
                <a:tc>
                  <a:txBody>
                    <a:bodyPr/>
                    <a:lstStyle/>
                    <a:p>
                      <a:pPr algn="ctr"/>
                      <a:r>
                        <a:rPr lang="en-US" sz="1800">
                          <a:solidFill>
                            <a:srgbClr val="233B50"/>
                          </a:solidFill>
                          <a:latin typeface="Aptos"/>
                          <a:ea typeface="Aptos"/>
                          <a:cs typeface="Aptos"/>
                        </a:rPr>
                        <a:t>1–47</a:t>
                      </a:r>
                    </a:p>
                  </a:txBody>
                  <a:tcPr marL="133350" marR="133350" marT="133350" marB="133350" anchor="ctr">
                    <a:solidFill>
                      <a:srgbClr val="F3F7F9"/>
                    </a:solidFill>
                  </a:tcPr>
                </a:tc>
                <a:extLst>
                  <a:ext uri="{0D108BD9-81ED-4DB2-BD59-A6C34878D82A}">
                    <a16:rowId xmlns:a16="http://schemas.microsoft.com/office/drawing/2014/main" val="10001"/>
                  </a:ext>
                </a:extLst>
              </a:tr>
            </a:tbl>
          </a:graphicData>
        </a:graphic>
      </p:graphicFrame>
      <p:sp>
        <p:nvSpPr>
          <p:cNvPr id="4" name="Rectangle 3">
            <a:extLst>
              <a:ext uri="{FF2B5EF4-FFF2-40B4-BE49-F238E27FC236}">
                <a16:creationId xmlns:a16="http://schemas.microsoft.com/office/drawing/2014/main" id="{00000002-0003-4000-8000-000000000000}"/>
              </a:ext>
            </a:extLst>
          </p:cNvPr>
          <p:cNvSpPr>
            <a:spLocks noGrp="1"/>
          </p:cNvSpPr>
          <p:nvPr/>
        </p:nvSpPr>
        <p:spPr>
          <a:xfrm>
            <a:off x="762000" y="8077200"/>
            <a:ext cx="11430000" cy="285750"/>
          </a:xfrm>
          <a:prstGeom prst="rect">
            <a:avLst/>
          </a:prstGeom>
          <a:noFill/>
          <a:ln w="0">
            <a:noFill/>
          </a:ln>
        </p:spPr>
        <p:txBody>
          <a:bodyPr wrap="square">
            <a:noAutofit/>
          </a:bodyPr>
          <a:lstStyle/>
          <a:p>
            <a:pPr>
              <a:defRPr sz="1350" b="0">
                <a:solidFill>
                  <a:srgbClr val="5C6F7F"/>
                </a:solidFill>
                <a:latin typeface="Aptos"/>
                <a:ea typeface="Aptos"/>
                <a:cs typeface="Aptos"/>
              </a:defRPr>
            </a:pPr>
            <a:r>
              <a:rPr sz="1350" b="0" dirty="0">
                <a:solidFill>
                  <a:srgbClr val="5C6F7F"/>
                </a:solidFill>
                <a:latin typeface="Aptos"/>
                <a:ea typeface="Aptos"/>
                <a:cs typeface="Aptos"/>
              </a:rPr>
              <a:t>CMA P2 2025</a:t>
            </a:r>
          </a:p>
        </p:txBody>
      </p:sp>
      <p:sp>
        <p:nvSpPr>
          <p:cNvPr id="5" name="Rectangle 4">
            <a:extLst>
              <a:ext uri="{FF2B5EF4-FFF2-40B4-BE49-F238E27FC236}">
                <a16:creationId xmlns:a16="http://schemas.microsoft.com/office/drawing/2014/main" id="{00000002-0004-4000-8000-000000000000}"/>
              </a:ext>
            </a:extLst>
          </p:cNvPr>
          <p:cNvSpPr>
            <a:spLocks noGrp="1"/>
          </p:cNvSpPr>
          <p:nvPr/>
        </p:nvSpPr>
        <p:spPr>
          <a:xfrm>
            <a:off x="13811250" y="8077200"/>
            <a:ext cx="666750" cy="285750"/>
          </a:xfrm>
          <a:prstGeom prst="rect">
            <a:avLst/>
          </a:prstGeom>
          <a:noFill/>
          <a:ln w="0">
            <a:noFill/>
          </a:ln>
        </p:spPr>
        <p:txBody>
          <a:bodyPr wrap="square">
            <a:noAutofit/>
          </a:bodyPr>
          <a:lstStyle/>
          <a:p>
            <a:pPr>
              <a:defRPr sz="1350" b="0">
                <a:solidFill>
                  <a:srgbClr val="5C6F7F"/>
                </a:solidFill>
                <a:latin typeface="Aptos"/>
                <a:ea typeface="Aptos"/>
                <a:cs typeface="Aptos"/>
              </a:defRPr>
            </a:pPr>
            <a:r>
              <a:rPr lang="en-US" sz="1350" b="0">
                <a:solidFill>
                  <a:srgbClr val="5C6F7F"/>
                </a:solidFill>
                <a:latin typeface="Aptos"/>
                <a:ea typeface="Aptos"/>
                <a:cs typeface="Aptos"/>
              </a:rPr>
              <a:t>17</a:t>
            </a:r>
            <a:endParaRPr sz="1350" b="0">
              <a:solidFill>
                <a:srgbClr val="5C6F7F"/>
              </a:solidFill>
              <a:latin typeface="Aptos"/>
              <a:ea typeface="Aptos"/>
              <a:cs typeface="Aptos"/>
            </a:endParaRPr>
          </a:p>
        </p:txBody>
      </p:sp>
      <p:sp>
        <p:nvSpPr>
          <p:cNvPr id="7" name="Section exam weighting">
            <a:extLst>
              <a:ext uri="{FF2B5EF4-FFF2-40B4-BE49-F238E27FC236}">
                <a16:creationId xmlns:a16="http://schemas.microsoft.com/office/drawing/2014/main" id="{00000002-0002-4000-8000-000000000000}"/>
              </a:ext>
            </a:extLst>
          </p:cNvPr>
          <p:cNvSpPr>
            <a:spLocks noGrp="1"/>
          </p:cNvSpPr>
          <p:nvPr/>
        </p:nvSpPr>
        <p:spPr>
          <a:xfrm>
            <a:off x="762000" y="1657350"/>
            <a:ext cx="13811250" cy="276225"/>
          </a:xfrm>
          <a:prstGeom prst="rect">
            <a:avLst/>
          </a:prstGeom>
          <a:noFill/>
          <a:ln w="0">
            <a:noFill/>
          </a:ln>
        </p:spPr>
        <p:txBody>
          <a:bodyPr wrap="square" tIns="0" bIns="0">
            <a:noAutofit/>
          </a:bodyPr>
          <a:lstStyle/>
          <a:p>
            <a:pPr>
              <a:defRPr sz="2025" b="0">
                <a:solidFill>
                  <a:srgbClr val="007F83"/>
                </a:solidFill>
                <a:latin typeface="Aptos"/>
                <a:ea typeface="Aptos"/>
                <a:cs typeface="Aptos"/>
              </a:defRPr>
            </a:pPr>
            <a:r>
              <a:rPr lang="en-US" b="1">
                <a:solidFill>
                  <a:srgbClr val="007F83"/>
                </a:solidFill>
                <a:latin typeface="Aptos"/>
                <a:ea typeface="Aptos"/>
                <a:cs typeface="Aptos"/>
              </a:rPr>
              <a:t>Section exam weight: Financial Statement Analysis 20% (Study Units 1–3 combined)</a:t>
            </a:r>
            <a:endParaRPr sz="1650" b="1">
              <a:solidFill>
                <a:srgbClr val="007F83"/>
              </a:solidFill>
              <a:latin typeface="Aptos"/>
              <a:ea typeface="Aptos"/>
              <a:cs typeface="Apto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0000002-0001-4000-8000-000000000000}"/>
              </a:ext>
            </a:extLst>
          </p:cNvPr>
          <p:cNvSpPr>
            <a:spLocks noGrp="1"/>
          </p:cNvSpPr>
          <p:nvPr/>
        </p:nvSpPr>
        <p:spPr>
          <a:xfrm>
            <a:off x="762000" y="542925"/>
            <a:ext cx="13811250" cy="666750"/>
          </a:xfrm>
          <a:prstGeom prst="rect">
            <a:avLst/>
          </a:prstGeom>
          <a:noFill/>
          <a:ln w="0">
            <a:noFill/>
          </a:ln>
        </p:spPr>
        <p:txBody>
          <a:bodyPr wrap="square">
            <a:noAutofit/>
          </a:bodyPr>
          <a:lstStyle/>
          <a:p>
            <a:pPr>
              <a:defRPr sz="3675" b="1">
                <a:solidFill>
                  <a:srgbClr val="122C49"/>
                </a:solidFill>
                <a:latin typeface="Aptos"/>
                <a:ea typeface="Aptos"/>
                <a:cs typeface="Aptos"/>
              </a:defRPr>
            </a:pPr>
            <a:r>
              <a:rPr lang="en-US" sz="3675" b="1">
                <a:solidFill>
                  <a:srgbClr val="122C49"/>
                </a:solidFill>
                <a:latin typeface="Aptos"/>
                <a:ea typeface="Aptos"/>
                <a:cs typeface="Aptos"/>
              </a:rPr>
              <a:t>Corporate Finance</a:t>
            </a:r>
          </a:p>
        </p:txBody>
      </p:sp>
      <p:sp>
        <p:nvSpPr>
          <p:cNvPr id="2" name="Rectangle 1">
            <a:extLst>
              <a:ext uri="{FF2B5EF4-FFF2-40B4-BE49-F238E27FC236}">
                <a16:creationId xmlns:a16="http://schemas.microsoft.com/office/drawing/2014/main" id="{00000002-0002-4000-8000-000000000000}"/>
              </a:ext>
            </a:extLst>
          </p:cNvPr>
          <p:cNvSpPr>
            <a:spLocks noGrp="1"/>
          </p:cNvSpPr>
          <p:nvPr/>
        </p:nvSpPr>
        <p:spPr>
          <a:xfrm>
            <a:off x="762000" y="1185862"/>
            <a:ext cx="13811250" cy="400050"/>
          </a:xfrm>
          <a:prstGeom prst="rect">
            <a:avLst/>
          </a:prstGeom>
          <a:noFill/>
          <a:ln w="0">
            <a:noFill/>
          </a:ln>
        </p:spPr>
        <p:txBody>
          <a:bodyPr wrap="square">
            <a:noAutofit/>
          </a:bodyPr>
          <a:lstStyle/>
          <a:p>
            <a:pPr>
              <a:defRPr sz="2025" b="0">
                <a:solidFill>
                  <a:srgbClr val="007F83"/>
                </a:solidFill>
                <a:latin typeface="Aptos"/>
                <a:ea typeface="Aptos"/>
                <a:cs typeface="Aptos"/>
              </a:defRPr>
            </a:pPr>
            <a:r>
              <a:rPr lang="en-US" sz="2400" b="0">
                <a:solidFill>
                  <a:srgbClr val="007F83"/>
                </a:solidFill>
                <a:latin typeface="Aptos"/>
                <a:ea typeface="Aptos"/>
                <a:cs typeface="Aptos"/>
              </a:rPr>
              <a:t>17–24 November 2026   /   2025 PDF sessions 6–8</a:t>
            </a:r>
          </a:p>
        </p:txBody>
      </p:sp>
      <p:graphicFrame>
        <p:nvGraphicFramePr>
          <p:cNvPr id="3" name="Table 2"/>
          <p:cNvGraphicFramePr/>
          <p:nvPr>
            <p:extLst>
              <p:ext uri="{D42A27DB-BD31-4B8C-83A1-F6EECF244321}">
                <p14:modId xmlns:p14="http://schemas.microsoft.com/office/powerpoint/2010/main" val="350296283"/>
              </p:ext>
            </p:extLst>
          </p:nvPr>
        </p:nvGraphicFramePr>
        <p:xfrm>
          <a:off x="762000" y="2028825"/>
          <a:ext cx="13811251" cy="3970020"/>
        </p:xfrm>
        <a:graphic>
          <a:graphicData uri="http://schemas.openxmlformats.org/drawingml/2006/table">
            <a:tbl>
              <a:tblPr/>
              <a:tblGrid>
                <a:gridCol w="1962652">
                  <a:extLst>
                    <a:ext uri="{9D8B030D-6E8A-4147-A177-3AD203B41FA5}">
                      <a16:colId xmlns:a16="http://schemas.microsoft.com/office/drawing/2014/main" val="20000"/>
                    </a:ext>
                  </a:extLst>
                </a:gridCol>
                <a:gridCol w="4984248">
                  <a:extLst>
                    <a:ext uri="{9D8B030D-6E8A-4147-A177-3AD203B41FA5}">
                      <a16:colId xmlns:a16="http://schemas.microsoft.com/office/drawing/2014/main" val="20001"/>
                    </a:ext>
                  </a:extLst>
                </a:gridCol>
                <a:gridCol w="5172911">
                  <a:extLst>
                    <a:ext uri="{9D8B030D-6E8A-4147-A177-3AD203B41FA5}">
                      <a16:colId xmlns:a16="http://schemas.microsoft.com/office/drawing/2014/main" val="20002"/>
                    </a:ext>
                  </a:extLst>
                </a:gridCol>
                <a:gridCol w="1691440">
                  <a:extLst>
                    <a:ext uri="{9D8B030D-6E8A-4147-A177-3AD203B41FA5}">
                      <a16:colId xmlns:a16="http://schemas.microsoft.com/office/drawing/2014/main" val="20003"/>
                    </a:ext>
                  </a:extLst>
                </a:gridCol>
              </a:tblGrid>
              <a:tr h="514350">
                <a:tc>
                  <a:txBody>
                    <a:bodyPr/>
                    <a:lstStyle/>
                    <a:p>
                      <a:pPr algn="ctr"/>
                      <a:r>
                        <a:rPr lang="en-US" sz="1800" b="1">
                          <a:solidFill>
                            <a:srgbClr val="FFFFFF"/>
                          </a:solidFill>
                          <a:latin typeface="Aptos"/>
                          <a:ea typeface="Aptos"/>
                          <a:cs typeface="Aptos"/>
                        </a:rPr>
                        <a:t>Session / date</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Topic in source order</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Coverage and practice</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Pages</a:t>
                      </a:r>
                    </a:p>
                  </a:txBody>
                  <a:tcPr marL="133350" marR="133350" marT="133350" marB="133350" anchor="ctr">
                    <a:solidFill>
                      <a:srgbClr val="122C49"/>
                    </a:solidFill>
                  </a:tcPr>
                </a:tc>
                <a:extLst>
                  <a:ext uri="{0D108BD9-81ED-4DB2-BD59-A6C34878D82A}">
                    <a16:rowId xmlns:a16="http://schemas.microsoft.com/office/drawing/2014/main" val="10000"/>
                  </a:ext>
                </a:extLst>
              </a:tr>
              <a:tr h="1143000">
                <a:tc>
                  <a:txBody>
                    <a:bodyPr/>
                    <a:lstStyle/>
                    <a:p>
                      <a:r>
                        <a:rPr lang="fr-FR" sz="1800" b="1">
                          <a:solidFill>
                            <a:srgbClr val="007F83"/>
                          </a:solidFill>
                          <a:latin typeface="Aptos"/>
                          <a:ea typeface="Aptos"/>
                          <a:cs typeface="Aptos"/>
                        </a:rPr>
                        <a:t>06</a:t>
                      </a:r>
                    </a:p>
                    <a:p>
                      <a:r>
                        <a:rPr lang="fr-FR" sz="1800" b="1">
                          <a:solidFill>
                            <a:srgbClr val="007F83"/>
                          </a:solidFill>
                          <a:latin typeface="Aptos"/>
                          <a:ea typeface="Aptos"/>
                          <a:cs typeface="Aptos"/>
                        </a:rPr>
                        <a:t>Tue 17 Nov</a:t>
                      </a:r>
                    </a:p>
                    <a:p>
                      <a:r>
                        <a:rPr lang="fr-FR" sz="1800" b="1">
                          <a:solidFill>
                            <a:srgbClr val="007F83"/>
                          </a:solidFill>
                          <a:latin typeface="Aptos"/>
                          <a:ea typeface="Aptos"/>
                          <a:cs typeface="Aptos"/>
                        </a:rPr>
                        <a:t>2026</a:t>
                      </a:r>
                    </a:p>
                  </a:txBody>
                  <a:tcPr marL="133350" marR="133350" marT="133350" marB="133350" anchor="ctr">
                    <a:solidFill>
                      <a:srgbClr val="F3F7F9"/>
                    </a:solidFill>
                  </a:tcPr>
                </a:tc>
                <a:tc>
                  <a:txBody>
                    <a:bodyPr/>
                    <a:lstStyle/>
                    <a:p>
                      <a:r>
                        <a:rPr lang="en-US" sz="1800" b="1">
                          <a:solidFill>
                            <a:srgbClr val="122C49"/>
                          </a:solidFill>
                          <a:latin typeface="Aptos"/>
                          <a:ea typeface="Aptos"/>
                          <a:cs typeface="Aptos"/>
                        </a:rPr>
                        <a:t>SU 4. Types of Securities</a:t>
                      </a:r>
                    </a:p>
                  </a:txBody>
                  <a:tcPr marL="133350" marR="133350" marT="133350" marB="133350" anchor="ctr">
                    <a:solidFill>
                      <a:srgbClr val="F3F7F9"/>
                    </a:solidFill>
                  </a:tcPr>
                </a:tc>
                <a:tc>
                  <a:txBody>
                    <a:bodyPr/>
                    <a:lstStyle/>
                    <a:p>
                      <a:pPr marL="285750" indent="-285750">
                        <a:buFont typeface="Arial" panose="020B0604020202020204" pitchFamily="34" charset="0"/>
                        <a:buChar char="•"/>
                      </a:pPr>
                      <a:r>
                        <a:rPr lang="en-US" sz="1800">
                          <a:solidFill>
                            <a:srgbClr val="233B50"/>
                          </a:solidFill>
                          <a:latin typeface="Aptos"/>
                          <a:ea typeface="Aptos"/>
                          <a:cs typeface="Aptos"/>
                        </a:rPr>
                        <a:t>4.1 Bonds. 4.2 Stock. Study the features and valuation examples in source order.</a:t>
                      </a:r>
                    </a:p>
                  </a:txBody>
                  <a:tcPr marL="133350" marR="133350" marT="133350" marB="133350" anchor="ctr">
                    <a:solidFill>
                      <a:srgbClr val="F3F7F9"/>
                    </a:solidFill>
                  </a:tcPr>
                </a:tc>
                <a:tc>
                  <a:txBody>
                    <a:bodyPr/>
                    <a:lstStyle/>
                    <a:p>
                      <a:pPr algn="ctr"/>
                      <a:r>
                        <a:rPr lang="en-US" sz="1800">
                          <a:solidFill>
                            <a:srgbClr val="233B50"/>
                          </a:solidFill>
                          <a:latin typeface="Aptos"/>
                          <a:ea typeface="Aptos"/>
                          <a:cs typeface="Aptos"/>
                        </a:rPr>
                        <a:t>48–58</a:t>
                      </a:r>
                    </a:p>
                  </a:txBody>
                  <a:tcPr marL="133350" marR="133350" marT="133350" marB="133350" anchor="ctr">
                    <a:solidFill>
                      <a:srgbClr val="F3F7F9"/>
                    </a:solidFill>
                  </a:tcPr>
                </a:tc>
                <a:extLst>
                  <a:ext uri="{0D108BD9-81ED-4DB2-BD59-A6C34878D82A}">
                    <a16:rowId xmlns:a16="http://schemas.microsoft.com/office/drawing/2014/main" val="10002"/>
                  </a:ext>
                </a:extLst>
              </a:tr>
              <a:tr h="1143000">
                <a:tc>
                  <a:txBody>
                    <a:bodyPr/>
                    <a:lstStyle/>
                    <a:p>
                      <a:r>
                        <a:rPr lang="nn-NO" sz="1800" b="1">
                          <a:solidFill>
                            <a:srgbClr val="007F83"/>
                          </a:solidFill>
                          <a:latin typeface="Aptos"/>
                          <a:ea typeface="Aptos"/>
                          <a:cs typeface="Aptos"/>
                        </a:rPr>
                        <a:t>07</a:t>
                      </a:r>
                    </a:p>
                    <a:p>
                      <a:r>
                        <a:rPr lang="nn-NO" sz="1800" b="1">
                          <a:solidFill>
                            <a:srgbClr val="007F83"/>
                          </a:solidFill>
                          <a:latin typeface="Aptos"/>
                          <a:ea typeface="Aptos"/>
                          <a:cs typeface="Aptos"/>
                        </a:rPr>
                        <a:t>Fri 20 Nov</a:t>
                      </a:r>
                    </a:p>
                    <a:p>
                      <a:r>
                        <a:rPr lang="nn-NO" sz="1800" b="1">
                          <a:solidFill>
                            <a:srgbClr val="007F83"/>
                          </a:solidFill>
                          <a:latin typeface="Aptos"/>
                          <a:ea typeface="Aptos"/>
                          <a:cs typeface="Aptos"/>
                        </a:rPr>
                        <a:t>2026</a:t>
                      </a:r>
                    </a:p>
                  </a:txBody>
                  <a:tcPr marL="133350" marR="133350" marT="133350" marB="133350" anchor="ctr">
                    <a:solidFill>
                      <a:srgbClr val="FFFFFF"/>
                    </a:solidFill>
                  </a:tcPr>
                </a:tc>
                <a:tc>
                  <a:txBody>
                    <a:bodyPr/>
                    <a:lstStyle/>
                    <a:p>
                      <a:r>
                        <a:rPr lang="en-US" sz="1800" b="1">
                          <a:solidFill>
                            <a:srgbClr val="122C49"/>
                          </a:solidFill>
                          <a:latin typeface="Aptos"/>
                          <a:ea typeface="Aptos"/>
                          <a:cs typeface="Aptos"/>
                        </a:rPr>
                        <a:t>SU 4. Types of Securities</a:t>
                      </a:r>
                    </a:p>
                  </a:txBody>
                  <a:tcPr marL="133350" marR="133350" marT="133350" marB="133350" anchor="ctr">
                    <a:solidFill>
                      <a:srgbClr val="FFFFFF"/>
                    </a:solidFill>
                  </a:tcPr>
                </a:tc>
                <a:tc>
                  <a:txBody>
                    <a:bodyPr/>
                    <a:lstStyle/>
                    <a:p>
                      <a:pPr marL="285750" indent="-285750">
                        <a:buFont typeface="Arial" panose="020B0604020202020204" pitchFamily="34" charset="0"/>
                        <a:buChar char="•"/>
                      </a:pPr>
                      <a:r>
                        <a:rPr lang="en-US" sz="1800">
                          <a:solidFill>
                            <a:srgbClr val="233B50"/>
                          </a:solidFill>
                          <a:latin typeface="Aptos"/>
                          <a:ea typeface="Aptos"/>
                          <a:cs typeface="Aptos"/>
                        </a:rPr>
                        <a:t>4.3 Dividends, including dividend types, stock splits, dividend policy and share repurchases.</a:t>
                      </a:r>
                    </a:p>
                  </a:txBody>
                  <a:tcPr marL="133350" marR="133350" marT="133350" marB="133350" anchor="ctr">
                    <a:solidFill>
                      <a:srgbClr val="FFFFFF"/>
                    </a:solidFill>
                  </a:tcPr>
                </a:tc>
                <a:tc>
                  <a:txBody>
                    <a:bodyPr/>
                    <a:lstStyle/>
                    <a:p>
                      <a:pPr algn="ctr"/>
                      <a:r>
                        <a:rPr lang="en-US" sz="1800">
                          <a:solidFill>
                            <a:srgbClr val="233B50"/>
                          </a:solidFill>
                          <a:latin typeface="Aptos"/>
                          <a:ea typeface="Aptos"/>
                          <a:cs typeface="Aptos"/>
                        </a:rPr>
                        <a:t>59–63</a:t>
                      </a:r>
                    </a:p>
                  </a:txBody>
                  <a:tcPr marL="133350" marR="133350" marT="133350" marB="133350" anchor="ctr">
                    <a:solidFill>
                      <a:srgbClr val="FFFFFF"/>
                    </a:solidFill>
                  </a:tcPr>
                </a:tc>
                <a:extLst>
                  <a:ext uri="{0D108BD9-81ED-4DB2-BD59-A6C34878D82A}">
                    <a16:rowId xmlns:a16="http://schemas.microsoft.com/office/drawing/2014/main" val="10003"/>
                  </a:ext>
                </a:extLst>
              </a:tr>
              <a:tr h="1143000">
                <a:tc>
                  <a:txBody>
                    <a:bodyPr/>
                    <a:lstStyle/>
                    <a:p>
                      <a:r>
                        <a:rPr lang="fr-FR" sz="1800" b="1">
                          <a:solidFill>
                            <a:srgbClr val="007F83"/>
                          </a:solidFill>
                          <a:latin typeface="Aptos"/>
                          <a:ea typeface="Aptos"/>
                          <a:cs typeface="Aptos"/>
                        </a:rPr>
                        <a:t>08</a:t>
                      </a:r>
                    </a:p>
                    <a:p>
                      <a:r>
                        <a:rPr lang="fr-FR" sz="1800" b="1">
                          <a:solidFill>
                            <a:srgbClr val="007F83"/>
                          </a:solidFill>
                          <a:latin typeface="Aptos"/>
                          <a:ea typeface="Aptos"/>
                          <a:cs typeface="Aptos"/>
                        </a:rPr>
                        <a:t>Tue 24 Nov</a:t>
                      </a:r>
                    </a:p>
                    <a:p>
                      <a:r>
                        <a:rPr lang="fr-FR" sz="1800" b="1">
                          <a:solidFill>
                            <a:srgbClr val="007F83"/>
                          </a:solidFill>
                          <a:latin typeface="Aptos"/>
                          <a:ea typeface="Aptos"/>
                          <a:cs typeface="Aptos"/>
                        </a:rPr>
                        <a:t>2026</a:t>
                      </a:r>
                    </a:p>
                  </a:txBody>
                  <a:tcPr marL="133350" marR="133350" marT="133350" marB="133350" anchor="ctr">
                    <a:solidFill>
                      <a:srgbClr val="F3F7F9"/>
                    </a:solidFill>
                  </a:tcPr>
                </a:tc>
                <a:tc>
                  <a:txBody>
                    <a:bodyPr/>
                    <a:lstStyle/>
                    <a:p>
                      <a:r>
                        <a:rPr lang="en-US" sz="1800" b="1">
                          <a:solidFill>
                            <a:srgbClr val="122C49"/>
                          </a:solidFill>
                          <a:latin typeface="Aptos"/>
                          <a:ea typeface="Aptos"/>
                          <a:cs typeface="Aptos"/>
                        </a:rPr>
                        <a:t>SU 5. Financial Markets and Financing</a:t>
                      </a:r>
                    </a:p>
                  </a:txBody>
                  <a:tcPr marL="133350" marR="133350" marT="133350" marB="133350" anchor="ctr">
                    <a:solidFill>
                      <a:srgbClr val="F3F7F9"/>
                    </a:solidFill>
                  </a:tcPr>
                </a:tc>
                <a:tc>
                  <a:txBody>
                    <a:bodyPr/>
                    <a:lstStyle/>
                    <a:p>
                      <a:pPr marL="285750" indent="-285750">
                        <a:buFont typeface="Arial" panose="020B0604020202020204" pitchFamily="34" charset="0"/>
                        <a:buChar char="•"/>
                      </a:pPr>
                      <a:r>
                        <a:rPr lang="en-US" sz="1800">
                          <a:solidFill>
                            <a:srgbClr val="233B50"/>
                          </a:solidFill>
                          <a:latin typeface="Aptos"/>
                          <a:ea typeface="Aptos"/>
                          <a:cs typeface="Aptos"/>
                        </a:rPr>
                        <a:t>5.1 Financial Markets and Securities Offerings. 5.2 Financial Risk and Return.</a:t>
                      </a:r>
                    </a:p>
                  </a:txBody>
                  <a:tcPr marL="133350" marR="133350" marT="133350" marB="133350" anchor="ctr">
                    <a:solidFill>
                      <a:srgbClr val="F3F7F9"/>
                    </a:solidFill>
                  </a:tcPr>
                </a:tc>
                <a:tc>
                  <a:txBody>
                    <a:bodyPr/>
                    <a:lstStyle/>
                    <a:p>
                      <a:pPr algn="ctr"/>
                      <a:r>
                        <a:rPr lang="en-US" sz="1800">
                          <a:solidFill>
                            <a:srgbClr val="233B50"/>
                          </a:solidFill>
                          <a:latin typeface="Aptos"/>
                          <a:ea typeface="Aptos"/>
                          <a:cs typeface="Aptos"/>
                        </a:rPr>
                        <a:t>64–74</a:t>
                      </a:r>
                    </a:p>
                  </a:txBody>
                  <a:tcPr marL="133350" marR="133350" marT="133350" marB="133350" anchor="ctr">
                    <a:solidFill>
                      <a:srgbClr val="F3F7F9"/>
                    </a:solidFill>
                  </a:tcPr>
                </a:tc>
                <a:extLst>
                  <a:ext uri="{0D108BD9-81ED-4DB2-BD59-A6C34878D82A}">
                    <a16:rowId xmlns:a16="http://schemas.microsoft.com/office/drawing/2014/main" val="10004"/>
                  </a:ext>
                </a:extLst>
              </a:tr>
            </a:tbl>
          </a:graphicData>
        </a:graphic>
      </p:graphicFrame>
      <p:sp>
        <p:nvSpPr>
          <p:cNvPr id="5" name="Rectangle 4">
            <a:extLst>
              <a:ext uri="{FF2B5EF4-FFF2-40B4-BE49-F238E27FC236}">
                <a16:creationId xmlns:a16="http://schemas.microsoft.com/office/drawing/2014/main" id="{00000002-0004-4000-8000-000000000000}"/>
              </a:ext>
            </a:extLst>
          </p:cNvPr>
          <p:cNvSpPr>
            <a:spLocks noGrp="1"/>
          </p:cNvSpPr>
          <p:nvPr/>
        </p:nvSpPr>
        <p:spPr>
          <a:xfrm>
            <a:off x="13811250" y="8077200"/>
            <a:ext cx="666750" cy="285750"/>
          </a:xfrm>
          <a:prstGeom prst="rect">
            <a:avLst/>
          </a:prstGeom>
          <a:noFill/>
          <a:ln w="0">
            <a:noFill/>
          </a:ln>
        </p:spPr>
        <p:txBody>
          <a:bodyPr wrap="square">
            <a:noAutofit/>
          </a:bodyPr>
          <a:lstStyle/>
          <a:p>
            <a:pPr>
              <a:defRPr sz="1350" b="0">
                <a:solidFill>
                  <a:srgbClr val="5C6F7F"/>
                </a:solidFill>
                <a:latin typeface="Aptos"/>
                <a:ea typeface="Aptos"/>
                <a:cs typeface="Aptos"/>
              </a:defRPr>
            </a:pPr>
            <a:r>
              <a:rPr lang="en-US" sz="1350" b="0">
                <a:solidFill>
                  <a:srgbClr val="5C6F7F"/>
                </a:solidFill>
                <a:latin typeface="Aptos"/>
                <a:ea typeface="Aptos"/>
                <a:cs typeface="Aptos"/>
              </a:rPr>
              <a:t>18</a:t>
            </a:r>
            <a:endParaRPr sz="1350" b="0">
              <a:solidFill>
                <a:srgbClr val="5C6F7F"/>
              </a:solidFill>
              <a:latin typeface="Aptos"/>
              <a:ea typeface="Aptos"/>
              <a:cs typeface="Aptos"/>
            </a:endParaRPr>
          </a:p>
        </p:txBody>
      </p:sp>
      <p:sp>
        <p:nvSpPr>
          <p:cNvPr id="7" name="Section exam weighting">
            <a:extLst>
              <a:ext uri="{FF2B5EF4-FFF2-40B4-BE49-F238E27FC236}">
                <a16:creationId xmlns:a16="http://schemas.microsoft.com/office/drawing/2014/main" id="{00000002-0002-4000-8000-000000000000}"/>
              </a:ext>
            </a:extLst>
          </p:cNvPr>
          <p:cNvSpPr>
            <a:spLocks noGrp="1"/>
          </p:cNvSpPr>
          <p:nvPr/>
        </p:nvSpPr>
        <p:spPr>
          <a:xfrm>
            <a:off x="762000" y="1657350"/>
            <a:ext cx="13811250" cy="276225"/>
          </a:xfrm>
          <a:prstGeom prst="rect">
            <a:avLst/>
          </a:prstGeom>
          <a:noFill/>
          <a:ln w="0">
            <a:noFill/>
          </a:ln>
        </p:spPr>
        <p:txBody>
          <a:bodyPr wrap="square" tIns="0" bIns="0">
            <a:noAutofit/>
          </a:bodyPr>
          <a:lstStyle/>
          <a:p>
            <a:pPr>
              <a:defRPr sz="2025" b="0">
                <a:solidFill>
                  <a:srgbClr val="007F83"/>
                </a:solidFill>
                <a:latin typeface="Aptos"/>
                <a:ea typeface="Aptos"/>
                <a:cs typeface="Aptos"/>
              </a:defRPr>
            </a:pPr>
            <a:r>
              <a:rPr lang="en-US" b="1">
                <a:solidFill>
                  <a:srgbClr val="007F83"/>
                </a:solidFill>
                <a:latin typeface="Aptos"/>
                <a:ea typeface="Aptos"/>
                <a:cs typeface="Aptos"/>
              </a:rPr>
              <a:t>Section exam weight: Corporate Finance 20%</a:t>
            </a:r>
          </a:p>
        </p:txBody>
      </p:sp>
      <p:sp>
        <p:nvSpPr>
          <p:cNvPr id="9" name="Rectangle 8">
            <a:extLst>
              <a:ext uri="{FF2B5EF4-FFF2-40B4-BE49-F238E27FC236}">
                <a16:creationId xmlns:a16="http://schemas.microsoft.com/office/drawing/2014/main" id="{469DE775-885F-8B4B-1F32-415E4D940F5A}"/>
              </a:ext>
            </a:extLst>
          </p:cNvPr>
          <p:cNvSpPr>
            <a:spLocks noGrp="1"/>
          </p:cNvSpPr>
          <p:nvPr/>
        </p:nvSpPr>
        <p:spPr>
          <a:xfrm>
            <a:off x="762000" y="8077200"/>
            <a:ext cx="11430000" cy="285750"/>
          </a:xfrm>
          <a:prstGeom prst="rect">
            <a:avLst/>
          </a:prstGeom>
          <a:noFill/>
          <a:ln w="0">
            <a:noFill/>
          </a:ln>
        </p:spPr>
        <p:txBody>
          <a:bodyPr wrap="square">
            <a:noAutofit/>
          </a:bodyPr>
          <a:lstStyle/>
          <a:p>
            <a:pPr>
              <a:defRPr sz="1350" b="0">
                <a:solidFill>
                  <a:srgbClr val="5C6F7F"/>
                </a:solidFill>
                <a:latin typeface="Aptos"/>
                <a:ea typeface="Aptos"/>
                <a:cs typeface="Aptos"/>
              </a:defRPr>
            </a:pPr>
            <a:r>
              <a:rPr sz="1350" b="0" dirty="0">
                <a:solidFill>
                  <a:srgbClr val="5C6F7F"/>
                </a:solidFill>
                <a:latin typeface="Aptos"/>
                <a:ea typeface="Aptos"/>
                <a:cs typeface="Aptos"/>
              </a:rPr>
              <a:t>CMA P2 202</a:t>
            </a:r>
            <a:r>
              <a:rPr lang="en-US" sz="1350" b="0">
                <a:solidFill>
                  <a:srgbClr val="5C6F7F"/>
                </a:solidFill>
                <a:latin typeface="Aptos"/>
                <a:ea typeface="Aptos"/>
                <a:cs typeface="Aptos"/>
              </a:rPr>
              <a:t>6</a:t>
            </a:r>
            <a:endParaRPr sz="1350" b="0" dirty="0">
              <a:solidFill>
                <a:srgbClr val="5C6F7F"/>
              </a:solidFill>
              <a:latin typeface="Aptos"/>
              <a:ea typeface="Aptos"/>
              <a:cs typeface="Apto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0000002-0001-4000-8000-000000000000}"/>
              </a:ext>
            </a:extLst>
          </p:cNvPr>
          <p:cNvSpPr>
            <a:spLocks noGrp="1"/>
          </p:cNvSpPr>
          <p:nvPr/>
        </p:nvSpPr>
        <p:spPr>
          <a:xfrm>
            <a:off x="762000" y="542925"/>
            <a:ext cx="13811250" cy="666750"/>
          </a:xfrm>
          <a:prstGeom prst="rect">
            <a:avLst/>
          </a:prstGeom>
          <a:noFill/>
          <a:ln w="0">
            <a:noFill/>
          </a:ln>
        </p:spPr>
        <p:txBody>
          <a:bodyPr wrap="square">
            <a:noAutofit/>
          </a:bodyPr>
          <a:lstStyle/>
          <a:p>
            <a:pPr>
              <a:defRPr sz="3675" b="1">
                <a:solidFill>
                  <a:srgbClr val="122C49"/>
                </a:solidFill>
                <a:latin typeface="Aptos"/>
                <a:ea typeface="Aptos"/>
                <a:cs typeface="Aptos"/>
              </a:defRPr>
            </a:pPr>
            <a:r>
              <a:rPr lang="en-US" sz="3675" b="1">
                <a:solidFill>
                  <a:srgbClr val="122C49"/>
                </a:solidFill>
                <a:latin typeface="Aptos"/>
                <a:ea typeface="Aptos"/>
                <a:cs typeface="Aptos"/>
              </a:rPr>
              <a:t>Financing, Valuation and Cost of Capital</a:t>
            </a:r>
          </a:p>
        </p:txBody>
      </p:sp>
      <p:sp>
        <p:nvSpPr>
          <p:cNvPr id="2" name="Rectangle 1">
            <a:extLst>
              <a:ext uri="{FF2B5EF4-FFF2-40B4-BE49-F238E27FC236}">
                <a16:creationId xmlns:a16="http://schemas.microsoft.com/office/drawing/2014/main" id="{00000002-0002-4000-8000-000000000000}"/>
              </a:ext>
            </a:extLst>
          </p:cNvPr>
          <p:cNvSpPr>
            <a:spLocks noGrp="1"/>
          </p:cNvSpPr>
          <p:nvPr/>
        </p:nvSpPr>
        <p:spPr>
          <a:xfrm>
            <a:off x="762000" y="1185862"/>
            <a:ext cx="13811250" cy="400050"/>
          </a:xfrm>
          <a:prstGeom prst="rect">
            <a:avLst/>
          </a:prstGeom>
          <a:noFill/>
          <a:ln w="0">
            <a:noFill/>
          </a:ln>
        </p:spPr>
        <p:txBody>
          <a:bodyPr wrap="square">
            <a:noAutofit/>
          </a:bodyPr>
          <a:lstStyle/>
          <a:p>
            <a:pPr>
              <a:defRPr sz="2025" b="0">
                <a:solidFill>
                  <a:srgbClr val="007F83"/>
                </a:solidFill>
                <a:latin typeface="Aptos"/>
                <a:ea typeface="Aptos"/>
                <a:cs typeface="Aptos"/>
              </a:defRPr>
            </a:pPr>
            <a:r>
              <a:rPr lang="en-US" sz="2400" b="0">
                <a:solidFill>
                  <a:srgbClr val="007F83"/>
                </a:solidFill>
                <a:latin typeface="Aptos"/>
                <a:ea typeface="Aptos"/>
                <a:cs typeface="Aptos"/>
              </a:rPr>
              <a:t>27 Nov – 8 Dec 2026   /   2025 PDF sessions 9–12</a:t>
            </a:r>
          </a:p>
        </p:txBody>
      </p:sp>
      <p:graphicFrame>
        <p:nvGraphicFramePr>
          <p:cNvPr id="3" name="Table 2"/>
          <p:cNvGraphicFramePr/>
          <p:nvPr>
            <p:extLst>
              <p:ext uri="{D42A27DB-BD31-4B8C-83A1-F6EECF244321}">
                <p14:modId xmlns:p14="http://schemas.microsoft.com/office/powerpoint/2010/main" val="2314652137"/>
              </p:ext>
            </p:extLst>
          </p:nvPr>
        </p:nvGraphicFramePr>
        <p:xfrm>
          <a:off x="762000" y="2028825"/>
          <a:ext cx="13811251" cy="5113020"/>
        </p:xfrm>
        <a:graphic>
          <a:graphicData uri="http://schemas.openxmlformats.org/drawingml/2006/table">
            <a:tbl>
              <a:tblPr/>
              <a:tblGrid>
                <a:gridCol w="1962652">
                  <a:extLst>
                    <a:ext uri="{9D8B030D-6E8A-4147-A177-3AD203B41FA5}">
                      <a16:colId xmlns:a16="http://schemas.microsoft.com/office/drawing/2014/main" val="20000"/>
                    </a:ext>
                  </a:extLst>
                </a:gridCol>
                <a:gridCol w="5060448">
                  <a:extLst>
                    <a:ext uri="{9D8B030D-6E8A-4147-A177-3AD203B41FA5}">
                      <a16:colId xmlns:a16="http://schemas.microsoft.com/office/drawing/2014/main" val="20001"/>
                    </a:ext>
                  </a:extLst>
                </a:gridCol>
                <a:gridCol w="5096711">
                  <a:extLst>
                    <a:ext uri="{9D8B030D-6E8A-4147-A177-3AD203B41FA5}">
                      <a16:colId xmlns:a16="http://schemas.microsoft.com/office/drawing/2014/main" val="20002"/>
                    </a:ext>
                  </a:extLst>
                </a:gridCol>
                <a:gridCol w="1691440">
                  <a:extLst>
                    <a:ext uri="{9D8B030D-6E8A-4147-A177-3AD203B41FA5}">
                      <a16:colId xmlns:a16="http://schemas.microsoft.com/office/drawing/2014/main" val="20003"/>
                    </a:ext>
                  </a:extLst>
                </a:gridCol>
              </a:tblGrid>
              <a:tr h="514350">
                <a:tc>
                  <a:txBody>
                    <a:bodyPr/>
                    <a:lstStyle/>
                    <a:p>
                      <a:pPr algn="ctr"/>
                      <a:r>
                        <a:rPr lang="en-US" sz="1800" b="1">
                          <a:solidFill>
                            <a:srgbClr val="FFFFFF"/>
                          </a:solidFill>
                          <a:latin typeface="Aptos"/>
                          <a:ea typeface="Aptos"/>
                          <a:cs typeface="Aptos"/>
                        </a:rPr>
                        <a:t>Session / date</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Topic in source order</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Coverage and practice</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Pages</a:t>
                      </a:r>
                    </a:p>
                  </a:txBody>
                  <a:tcPr marL="133350" marR="133350" marT="133350" marB="133350" anchor="ctr">
                    <a:solidFill>
                      <a:srgbClr val="122C49"/>
                    </a:solidFill>
                  </a:tcPr>
                </a:tc>
                <a:extLst>
                  <a:ext uri="{0D108BD9-81ED-4DB2-BD59-A6C34878D82A}">
                    <a16:rowId xmlns:a16="http://schemas.microsoft.com/office/drawing/2014/main" val="10000"/>
                  </a:ext>
                </a:extLst>
              </a:tr>
              <a:tr h="1143000">
                <a:tc>
                  <a:txBody>
                    <a:bodyPr/>
                    <a:lstStyle/>
                    <a:p>
                      <a:r>
                        <a:rPr lang="nn-NO" sz="1800" b="1">
                          <a:solidFill>
                            <a:srgbClr val="007F83"/>
                          </a:solidFill>
                          <a:latin typeface="Aptos"/>
                          <a:ea typeface="Aptos"/>
                          <a:cs typeface="Aptos"/>
                        </a:rPr>
                        <a:t>09</a:t>
                      </a:r>
                    </a:p>
                    <a:p>
                      <a:r>
                        <a:rPr lang="nn-NO" sz="1800" b="1">
                          <a:solidFill>
                            <a:srgbClr val="007F83"/>
                          </a:solidFill>
                          <a:latin typeface="Aptos"/>
                          <a:ea typeface="Aptos"/>
                          <a:cs typeface="Aptos"/>
                        </a:rPr>
                        <a:t>Fri 27 Nov</a:t>
                      </a:r>
                    </a:p>
                    <a:p>
                      <a:r>
                        <a:rPr lang="nn-NO" sz="1800" b="1">
                          <a:solidFill>
                            <a:srgbClr val="007F83"/>
                          </a:solidFill>
                          <a:latin typeface="Aptos"/>
                          <a:ea typeface="Aptos"/>
                          <a:cs typeface="Aptos"/>
                        </a:rPr>
                        <a:t>2026</a:t>
                      </a:r>
                    </a:p>
                  </a:txBody>
                  <a:tcPr marL="133350" marR="133350" marT="133350" marB="133350" anchor="ctr">
                    <a:solidFill>
                      <a:srgbClr val="F3F7F9"/>
                    </a:solidFill>
                  </a:tcPr>
                </a:tc>
                <a:tc>
                  <a:txBody>
                    <a:bodyPr/>
                    <a:lstStyle/>
                    <a:p>
                      <a:r>
                        <a:rPr lang="en-US" sz="1800" b="1">
                          <a:solidFill>
                            <a:srgbClr val="122C49"/>
                          </a:solidFill>
                          <a:latin typeface="Aptos"/>
                          <a:ea typeface="Aptos"/>
                          <a:cs typeface="Aptos"/>
                        </a:rPr>
                        <a:t>SU 5. Financial Markets and Financing</a:t>
                      </a:r>
                    </a:p>
                  </a:txBody>
                  <a:tcPr marL="133350" marR="133350" marT="133350" marB="133350" anchor="ctr">
                    <a:solidFill>
                      <a:srgbClr val="F3F7F9"/>
                    </a:solidFill>
                  </a:tcPr>
                </a:tc>
                <a:tc>
                  <a:txBody>
                    <a:bodyPr/>
                    <a:lstStyle/>
                    <a:p>
                      <a:pPr marL="285750" indent="-285750">
                        <a:buFont typeface="Arial" panose="020B0604020202020204" pitchFamily="34" charset="0"/>
                        <a:buChar char="•"/>
                      </a:pPr>
                      <a:r>
                        <a:rPr lang="en-US" sz="1800">
                          <a:solidFill>
                            <a:srgbClr val="233B50"/>
                          </a:solidFill>
                          <a:latin typeface="Aptos"/>
                          <a:ea typeface="Aptos"/>
                          <a:cs typeface="Aptos"/>
                        </a:rPr>
                        <a:t>5.3 Portfolio Management. 5.4 Short-Term Financing.</a:t>
                      </a:r>
                    </a:p>
                  </a:txBody>
                  <a:tcPr marL="133350" marR="133350" marT="133350" marB="133350" anchor="ctr">
                    <a:solidFill>
                      <a:srgbClr val="F3F7F9"/>
                    </a:solidFill>
                  </a:tcPr>
                </a:tc>
                <a:tc>
                  <a:txBody>
                    <a:bodyPr/>
                    <a:lstStyle/>
                    <a:p>
                      <a:pPr algn="ctr"/>
                      <a:r>
                        <a:rPr lang="en-US" sz="1800">
                          <a:solidFill>
                            <a:srgbClr val="233B50"/>
                          </a:solidFill>
                          <a:latin typeface="Aptos"/>
                          <a:ea typeface="Aptos"/>
                          <a:cs typeface="Aptos"/>
                        </a:rPr>
                        <a:t>75–88</a:t>
                      </a:r>
                    </a:p>
                  </a:txBody>
                  <a:tcPr marL="133350" marR="133350" marT="133350" marB="133350" anchor="ctr">
                    <a:solidFill>
                      <a:srgbClr val="F3F7F9"/>
                    </a:solidFill>
                  </a:tcPr>
                </a:tc>
                <a:extLst>
                  <a:ext uri="{0D108BD9-81ED-4DB2-BD59-A6C34878D82A}">
                    <a16:rowId xmlns:a16="http://schemas.microsoft.com/office/drawing/2014/main" val="10001"/>
                  </a:ext>
                </a:extLst>
              </a:tr>
              <a:tr h="1143000">
                <a:tc>
                  <a:txBody>
                    <a:bodyPr/>
                    <a:lstStyle/>
                    <a:p>
                      <a:r>
                        <a:rPr lang="fr-FR" sz="1800" b="1">
                          <a:solidFill>
                            <a:srgbClr val="007F83"/>
                          </a:solidFill>
                          <a:latin typeface="Aptos"/>
                          <a:ea typeface="Aptos"/>
                          <a:cs typeface="Aptos"/>
                        </a:rPr>
                        <a:t>10</a:t>
                      </a:r>
                    </a:p>
                    <a:p>
                      <a:r>
                        <a:rPr lang="fr-FR" sz="1800" b="1">
                          <a:solidFill>
                            <a:srgbClr val="007F83"/>
                          </a:solidFill>
                          <a:latin typeface="Aptos"/>
                          <a:ea typeface="Aptos"/>
                          <a:cs typeface="Aptos"/>
                        </a:rPr>
                        <a:t>Tue 01 Dec</a:t>
                      </a:r>
                    </a:p>
                    <a:p>
                      <a:r>
                        <a:rPr lang="fr-FR" sz="1800" b="1">
                          <a:solidFill>
                            <a:srgbClr val="007F83"/>
                          </a:solidFill>
                          <a:latin typeface="Aptos"/>
                          <a:ea typeface="Aptos"/>
                          <a:cs typeface="Aptos"/>
                        </a:rPr>
                        <a:t>2026</a:t>
                      </a:r>
                    </a:p>
                  </a:txBody>
                  <a:tcPr marL="133350" marR="133350" marT="133350" marB="133350" anchor="ctr">
                    <a:solidFill>
                      <a:srgbClr val="FFFFFF"/>
                    </a:solidFill>
                  </a:tcPr>
                </a:tc>
                <a:tc>
                  <a:txBody>
                    <a:bodyPr/>
                    <a:lstStyle/>
                    <a:p>
                      <a:r>
                        <a:rPr lang="en-US" sz="1800" b="1">
                          <a:solidFill>
                            <a:srgbClr val="122C49"/>
                          </a:solidFill>
                          <a:latin typeface="Aptos"/>
                          <a:ea typeface="Aptos"/>
                          <a:cs typeface="Aptos"/>
                        </a:rPr>
                        <a:t>SU 5–6. Financing and Stock Valuation</a:t>
                      </a:r>
                    </a:p>
                  </a:txBody>
                  <a:tcPr marL="133350" marR="133350" marT="133350" marB="133350" anchor="ctr">
                    <a:solidFill>
                      <a:srgbClr val="FFFFFF"/>
                    </a:solidFill>
                  </a:tcPr>
                </a:tc>
                <a:tc>
                  <a:txBody>
                    <a:bodyPr/>
                    <a:lstStyle/>
                    <a:p>
                      <a:pPr marL="285750" indent="-285750">
                        <a:buFont typeface="Arial" panose="020B0604020202020204" pitchFamily="34" charset="0"/>
                        <a:buChar char="•"/>
                      </a:pPr>
                      <a:r>
                        <a:rPr lang="en-US" sz="1800">
                          <a:solidFill>
                            <a:srgbClr val="233B50"/>
                          </a:solidFill>
                          <a:latin typeface="Aptos"/>
                          <a:ea typeface="Aptos"/>
                          <a:cs typeface="Aptos"/>
                        </a:rPr>
                        <a:t>5.5 Long-Term Financing, followed by 6.1 Stock Valuation Methods in SU 6: Valuation Methods and Cost of Capital.</a:t>
                      </a:r>
                    </a:p>
                  </a:txBody>
                  <a:tcPr marL="133350" marR="133350" marT="133350" marB="133350" anchor="ctr">
                    <a:solidFill>
                      <a:srgbClr val="FFFFFF"/>
                    </a:solidFill>
                  </a:tcPr>
                </a:tc>
                <a:tc>
                  <a:txBody>
                    <a:bodyPr/>
                    <a:lstStyle/>
                    <a:p>
                      <a:pPr algn="ctr"/>
                      <a:r>
                        <a:rPr lang="en-US" sz="1800">
                          <a:solidFill>
                            <a:srgbClr val="233B50"/>
                          </a:solidFill>
                          <a:latin typeface="Aptos"/>
                          <a:ea typeface="Aptos"/>
                          <a:cs typeface="Aptos"/>
                        </a:rPr>
                        <a:t>89–95</a:t>
                      </a:r>
                    </a:p>
                  </a:txBody>
                  <a:tcPr marL="133350" marR="133350" marT="133350" marB="133350" anchor="ctr">
                    <a:solidFill>
                      <a:srgbClr val="FFFFFF"/>
                    </a:solidFill>
                  </a:tcPr>
                </a:tc>
                <a:extLst>
                  <a:ext uri="{0D108BD9-81ED-4DB2-BD59-A6C34878D82A}">
                    <a16:rowId xmlns:a16="http://schemas.microsoft.com/office/drawing/2014/main" val="10002"/>
                  </a:ext>
                </a:extLst>
              </a:tr>
              <a:tr h="1143000">
                <a:tc>
                  <a:txBody>
                    <a:bodyPr/>
                    <a:lstStyle/>
                    <a:p>
                      <a:r>
                        <a:rPr lang="nn-NO" sz="1800" b="1">
                          <a:solidFill>
                            <a:srgbClr val="007F83"/>
                          </a:solidFill>
                          <a:latin typeface="Aptos"/>
                          <a:ea typeface="Aptos"/>
                          <a:cs typeface="Aptos"/>
                        </a:rPr>
                        <a:t>11</a:t>
                      </a:r>
                    </a:p>
                    <a:p>
                      <a:r>
                        <a:rPr lang="nn-NO" sz="1800" b="1">
                          <a:solidFill>
                            <a:srgbClr val="007F83"/>
                          </a:solidFill>
                          <a:latin typeface="Aptos"/>
                          <a:ea typeface="Aptos"/>
                          <a:cs typeface="Aptos"/>
                        </a:rPr>
                        <a:t>Fri 04 Dec</a:t>
                      </a:r>
                    </a:p>
                    <a:p>
                      <a:r>
                        <a:rPr lang="nn-NO" sz="1800" b="1">
                          <a:solidFill>
                            <a:srgbClr val="007F83"/>
                          </a:solidFill>
                          <a:latin typeface="Aptos"/>
                          <a:ea typeface="Aptos"/>
                          <a:cs typeface="Aptos"/>
                        </a:rPr>
                        <a:t>2026</a:t>
                      </a:r>
                    </a:p>
                  </a:txBody>
                  <a:tcPr marL="133350" marR="133350" marT="133350" marB="133350" anchor="ctr">
                    <a:solidFill>
                      <a:srgbClr val="F3F7F9"/>
                    </a:solidFill>
                  </a:tcPr>
                </a:tc>
                <a:tc>
                  <a:txBody>
                    <a:bodyPr/>
                    <a:lstStyle/>
                    <a:p>
                      <a:r>
                        <a:rPr lang="en-US" sz="1800" b="1">
                          <a:solidFill>
                            <a:srgbClr val="122C49"/>
                          </a:solidFill>
                          <a:latin typeface="Aptos"/>
                          <a:ea typeface="Aptos"/>
                          <a:cs typeface="Aptos"/>
                        </a:rPr>
                        <a:t>SU 6. Valuation Methods and Cost of Capital</a:t>
                      </a:r>
                    </a:p>
                  </a:txBody>
                  <a:tcPr marL="133350" marR="133350" marT="133350" marB="133350" anchor="ctr">
                    <a:solidFill>
                      <a:srgbClr val="F3F7F9"/>
                    </a:solidFill>
                  </a:tcPr>
                </a:tc>
                <a:tc>
                  <a:txBody>
                    <a:bodyPr/>
                    <a:lstStyle/>
                    <a:p>
                      <a:pPr marL="285750" indent="-285750">
                        <a:buFont typeface="Arial" panose="020B0604020202020204" pitchFamily="34" charset="0"/>
                        <a:buChar char="•"/>
                      </a:pPr>
                      <a:r>
                        <a:rPr lang="en-US" sz="1800">
                          <a:solidFill>
                            <a:srgbClr val="233B50"/>
                          </a:solidFill>
                          <a:latin typeface="Aptos"/>
                          <a:ea typeface="Aptos"/>
                          <a:cs typeface="Aptos"/>
                        </a:rPr>
                        <a:t>6.2 Cost of Capital: Current. 6.3 Cost of Capital: New.</a:t>
                      </a:r>
                    </a:p>
                  </a:txBody>
                  <a:tcPr marL="133350" marR="133350" marT="133350" marB="133350" anchor="ctr">
                    <a:solidFill>
                      <a:srgbClr val="F3F7F9"/>
                    </a:solidFill>
                  </a:tcPr>
                </a:tc>
                <a:tc>
                  <a:txBody>
                    <a:bodyPr/>
                    <a:lstStyle/>
                    <a:p>
                      <a:pPr algn="ctr"/>
                      <a:r>
                        <a:rPr lang="en-US" sz="1800">
                          <a:solidFill>
                            <a:srgbClr val="233B50"/>
                          </a:solidFill>
                          <a:latin typeface="Aptos"/>
                          <a:ea typeface="Aptos"/>
                          <a:cs typeface="Aptos"/>
                        </a:rPr>
                        <a:t>96–103</a:t>
                      </a:r>
                    </a:p>
                  </a:txBody>
                  <a:tcPr marL="133350" marR="133350" marT="133350" marB="133350" anchor="ctr">
                    <a:solidFill>
                      <a:srgbClr val="F3F7F9"/>
                    </a:solidFill>
                  </a:tcPr>
                </a:tc>
                <a:extLst>
                  <a:ext uri="{0D108BD9-81ED-4DB2-BD59-A6C34878D82A}">
                    <a16:rowId xmlns:a16="http://schemas.microsoft.com/office/drawing/2014/main" val="10003"/>
                  </a:ext>
                </a:extLst>
              </a:tr>
              <a:tr h="1143000">
                <a:tc>
                  <a:txBody>
                    <a:bodyPr/>
                    <a:lstStyle/>
                    <a:p>
                      <a:r>
                        <a:rPr lang="fr-FR" sz="1800" b="1">
                          <a:solidFill>
                            <a:srgbClr val="007F83"/>
                          </a:solidFill>
                          <a:latin typeface="Aptos"/>
                          <a:ea typeface="Aptos"/>
                          <a:cs typeface="Aptos"/>
                        </a:rPr>
                        <a:t>12</a:t>
                      </a:r>
                    </a:p>
                    <a:p>
                      <a:r>
                        <a:rPr lang="fr-FR" sz="1800" b="1">
                          <a:solidFill>
                            <a:srgbClr val="007F83"/>
                          </a:solidFill>
                          <a:latin typeface="Aptos"/>
                          <a:ea typeface="Aptos"/>
                          <a:cs typeface="Aptos"/>
                        </a:rPr>
                        <a:t>Tue 08 Dec</a:t>
                      </a:r>
                    </a:p>
                    <a:p>
                      <a:r>
                        <a:rPr lang="fr-FR" sz="1800" b="1">
                          <a:solidFill>
                            <a:srgbClr val="007F83"/>
                          </a:solidFill>
                          <a:latin typeface="Aptos"/>
                          <a:ea typeface="Aptos"/>
                          <a:cs typeface="Aptos"/>
                        </a:rPr>
                        <a:t>2026</a:t>
                      </a:r>
                    </a:p>
                  </a:txBody>
                  <a:tcPr marL="133350" marR="133350" marT="133350" marB="133350" anchor="ctr">
                    <a:solidFill>
                      <a:srgbClr val="FFFFFF"/>
                    </a:solidFill>
                  </a:tcPr>
                </a:tc>
                <a:tc>
                  <a:txBody>
                    <a:bodyPr/>
                    <a:lstStyle/>
                    <a:p>
                      <a:r>
                        <a:rPr lang="en-US" sz="1800" b="1">
                          <a:solidFill>
                            <a:srgbClr val="122C49"/>
                          </a:solidFill>
                          <a:latin typeface="Aptos"/>
                          <a:ea typeface="Aptos"/>
                          <a:cs typeface="Aptos"/>
                        </a:rPr>
                        <a:t>SU 6. Valuation Methods and Cost of Capital</a:t>
                      </a:r>
                    </a:p>
                  </a:txBody>
                  <a:tcPr marL="133350" marR="133350" marT="133350" marB="133350" anchor="ctr">
                    <a:solidFill>
                      <a:srgbClr val="FFFFFF"/>
                    </a:solidFill>
                  </a:tcPr>
                </a:tc>
                <a:tc>
                  <a:txBody>
                    <a:bodyPr/>
                    <a:lstStyle/>
                    <a:p>
                      <a:pPr marL="285750" indent="-285750">
                        <a:buFont typeface="Arial" panose="020B0604020202020204" pitchFamily="34" charset="0"/>
                        <a:buChar char="•"/>
                      </a:pPr>
                      <a:r>
                        <a:rPr lang="en-US" sz="1800">
                          <a:solidFill>
                            <a:srgbClr val="233B50"/>
                          </a:solidFill>
                          <a:latin typeface="Aptos"/>
                          <a:ea typeface="Aptos"/>
                          <a:cs typeface="Aptos"/>
                        </a:rPr>
                        <a:t>6.4 Options and Derivatives, including hedging, options, forward contracts, futures contracts and swaps.</a:t>
                      </a:r>
                    </a:p>
                  </a:txBody>
                  <a:tcPr marL="133350" marR="133350" marT="133350" marB="133350" anchor="ctr">
                    <a:solidFill>
                      <a:srgbClr val="FFFFFF"/>
                    </a:solidFill>
                  </a:tcPr>
                </a:tc>
                <a:tc>
                  <a:txBody>
                    <a:bodyPr/>
                    <a:lstStyle/>
                    <a:p>
                      <a:pPr algn="ctr"/>
                      <a:r>
                        <a:rPr lang="en-US" sz="1800" dirty="0">
                          <a:solidFill>
                            <a:srgbClr val="233B50"/>
                          </a:solidFill>
                          <a:latin typeface="Aptos"/>
                          <a:ea typeface="Aptos"/>
                          <a:cs typeface="Aptos"/>
                        </a:rPr>
                        <a:t>104–113</a:t>
                      </a:r>
                    </a:p>
                  </a:txBody>
                  <a:tcPr marL="133350" marR="133350" marT="133350" marB="133350" anchor="ctr">
                    <a:solidFill>
                      <a:srgbClr val="FFFFFF"/>
                    </a:solidFill>
                  </a:tcPr>
                </a:tc>
                <a:extLst>
                  <a:ext uri="{0D108BD9-81ED-4DB2-BD59-A6C34878D82A}">
                    <a16:rowId xmlns:a16="http://schemas.microsoft.com/office/drawing/2014/main" val="10004"/>
                  </a:ext>
                </a:extLst>
              </a:tr>
            </a:tbl>
          </a:graphicData>
        </a:graphic>
      </p:graphicFrame>
      <p:sp>
        <p:nvSpPr>
          <p:cNvPr id="5" name="Rectangle 4">
            <a:extLst>
              <a:ext uri="{FF2B5EF4-FFF2-40B4-BE49-F238E27FC236}">
                <a16:creationId xmlns:a16="http://schemas.microsoft.com/office/drawing/2014/main" id="{00000002-0004-4000-8000-000000000000}"/>
              </a:ext>
            </a:extLst>
          </p:cNvPr>
          <p:cNvSpPr>
            <a:spLocks noGrp="1"/>
          </p:cNvSpPr>
          <p:nvPr/>
        </p:nvSpPr>
        <p:spPr>
          <a:xfrm>
            <a:off x="13811250" y="8077200"/>
            <a:ext cx="666750" cy="285750"/>
          </a:xfrm>
          <a:prstGeom prst="rect">
            <a:avLst/>
          </a:prstGeom>
          <a:noFill/>
          <a:ln w="0">
            <a:noFill/>
          </a:ln>
        </p:spPr>
        <p:txBody>
          <a:bodyPr wrap="square">
            <a:noAutofit/>
          </a:bodyPr>
          <a:lstStyle/>
          <a:p>
            <a:pPr>
              <a:defRPr sz="1350" b="0">
                <a:solidFill>
                  <a:srgbClr val="5C6F7F"/>
                </a:solidFill>
                <a:latin typeface="Aptos"/>
                <a:ea typeface="Aptos"/>
                <a:cs typeface="Aptos"/>
              </a:defRPr>
            </a:pPr>
            <a:r>
              <a:rPr lang="en-US" sz="1350" b="0">
                <a:solidFill>
                  <a:srgbClr val="5C6F7F"/>
                </a:solidFill>
                <a:latin typeface="Aptos"/>
                <a:ea typeface="Aptos"/>
                <a:cs typeface="Aptos"/>
              </a:rPr>
              <a:t>19</a:t>
            </a:r>
            <a:endParaRPr sz="1350" b="0">
              <a:solidFill>
                <a:srgbClr val="5C6F7F"/>
              </a:solidFill>
              <a:latin typeface="Aptos"/>
              <a:ea typeface="Aptos"/>
              <a:cs typeface="Aptos"/>
            </a:endParaRPr>
          </a:p>
        </p:txBody>
      </p:sp>
      <p:sp>
        <p:nvSpPr>
          <p:cNvPr id="7" name="Section exam weighting">
            <a:extLst>
              <a:ext uri="{FF2B5EF4-FFF2-40B4-BE49-F238E27FC236}">
                <a16:creationId xmlns:a16="http://schemas.microsoft.com/office/drawing/2014/main" id="{00000002-0002-4000-8000-000000000000}"/>
              </a:ext>
            </a:extLst>
          </p:cNvPr>
          <p:cNvSpPr>
            <a:spLocks noGrp="1"/>
          </p:cNvSpPr>
          <p:nvPr/>
        </p:nvSpPr>
        <p:spPr>
          <a:xfrm>
            <a:off x="762000" y="1657350"/>
            <a:ext cx="13811250" cy="276225"/>
          </a:xfrm>
          <a:prstGeom prst="rect">
            <a:avLst/>
          </a:prstGeom>
          <a:noFill/>
          <a:ln w="0">
            <a:noFill/>
          </a:ln>
        </p:spPr>
        <p:txBody>
          <a:bodyPr wrap="square" tIns="0" bIns="0">
            <a:noAutofit/>
          </a:bodyPr>
          <a:lstStyle/>
          <a:p>
            <a:pPr>
              <a:defRPr sz="2025" b="0">
                <a:solidFill>
                  <a:srgbClr val="007F83"/>
                </a:solidFill>
                <a:latin typeface="Aptos"/>
                <a:ea typeface="Aptos"/>
                <a:cs typeface="Aptos"/>
              </a:defRPr>
            </a:pPr>
            <a:r>
              <a:rPr lang="en-US" b="1">
                <a:solidFill>
                  <a:srgbClr val="007F83"/>
                </a:solidFill>
                <a:latin typeface="Aptos"/>
                <a:ea typeface="Aptos"/>
                <a:cs typeface="Aptos"/>
              </a:rPr>
              <a:t>Section exam weight: Corporate Finance 20% (Study Units 4–8 combined)</a:t>
            </a:r>
          </a:p>
        </p:txBody>
      </p:sp>
      <p:sp>
        <p:nvSpPr>
          <p:cNvPr id="9" name="Rectangle 8">
            <a:extLst>
              <a:ext uri="{FF2B5EF4-FFF2-40B4-BE49-F238E27FC236}">
                <a16:creationId xmlns:a16="http://schemas.microsoft.com/office/drawing/2014/main" id="{EA2D0C6A-9E97-DADC-34B3-4FF3F62DC424}"/>
              </a:ext>
            </a:extLst>
          </p:cNvPr>
          <p:cNvSpPr>
            <a:spLocks noGrp="1"/>
          </p:cNvSpPr>
          <p:nvPr/>
        </p:nvSpPr>
        <p:spPr>
          <a:xfrm>
            <a:off x="762000" y="8077200"/>
            <a:ext cx="11430000" cy="285750"/>
          </a:xfrm>
          <a:prstGeom prst="rect">
            <a:avLst/>
          </a:prstGeom>
          <a:noFill/>
          <a:ln w="0">
            <a:noFill/>
          </a:ln>
        </p:spPr>
        <p:txBody>
          <a:bodyPr wrap="square">
            <a:noAutofit/>
          </a:bodyPr>
          <a:lstStyle/>
          <a:p>
            <a:pPr>
              <a:defRPr sz="1350" b="0">
                <a:solidFill>
                  <a:srgbClr val="5C6F7F"/>
                </a:solidFill>
                <a:latin typeface="Aptos"/>
                <a:ea typeface="Aptos"/>
                <a:cs typeface="Aptos"/>
              </a:defRPr>
            </a:pPr>
            <a:r>
              <a:rPr sz="1350" b="0" dirty="0">
                <a:solidFill>
                  <a:srgbClr val="5C6F7F"/>
                </a:solidFill>
                <a:latin typeface="Aptos"/>
                <a:ea typeface="Aptos"/>
                <a:cs typeface="Aptos"/>
              </a:rPr>
              <a:t>CMA P2 202</a:t>
            </a:r>
            <a:r>
              <a:rPr lang="en-US" sz="1350" b="0">
                <a:solidFill>
                  <a:srgbClr val="5C6F7F"/>
                </a:solidFill>
                <a:latin typeface="Aptos"/>
                <a:ea typeface="Aptos"/>
                <a:cs typeface="Aptos"/>
              </a:rPr>
              <a:t>6</a:t>
            </a:r>
            <a:endParaRPr sz="1350" b="0" dirty="0">
              <a:solidFill>
                <a:srgbClr val="5C6F7F"/>
              </a:solidFill>
              <a:latin typeface="Aptos"/>
              <a:ea typeface="Aptos"/>
              <a:cs typeface="Apto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0000002-0001-4000-8000-000000000000}"/>
              </a:ext>
            </a:extLst>
          </p:cNvPr>
          <p:cNvSpPr>
            <a:spLocks noGrp="1"/>
          </p:cNvSpPr>
          <p:nvPr/>
        </p:nvSpPr>
        <p:spPr>
          <a:xfrm>
            <a:off x="762000" y="542925"/>
            <a:ext cx="13811250" cy="666750"/>
          </a:xfrm>
          <a:prstGeom prst="rect">
            <a:avLst/>
          </a:prstGeom>
          <a:noFill/>
          <a:ln w="0">
            <a:noFill/>
          </a:ln>
        </p:spPr>
        <p:txBody>
          <a:bodyPr wrap="square">
            <a:noAutofit/>
          </a:bodyPr>
          <a:lstStyle/>
          <a:p>
            <a:pPr>
              <a:defRPr sz="3675" b="1">
                <a:solidFill>
                  <a:srgbClr val="122C49"/>
                </a:solidFill>
                <a:latin typeface="Aptos"/>
                <a:ea typeface="Aptos"/>
                <a:cs typeface="Aptos"/>
              </a:defRPr>
            </a:pPr>
            <a:r>
              <a:rPr lang="en-US" sz="3675" b="1">
                <a:solidFill>
                  <a:srgbClr val="122C49"/>
                </a:solidFill>
                <a:latin typeface="Aptos"/>
                <a:ea typeface="Aptos"/>
                <a:cs typeface="Aptos"/>
              </a:rPr>
              <a:t>Corporate Finance</a:t>
            </a:r>
          </a:p>
        </p:txBody>
      </p:sp>
      <p:sp>
        <p:nvSpPr>
          <p:cNvPr id="2" name="Rectangle 1">
            <a:extLst>
              <a:ext uri="{FF2B5EF4-FFF2-40B4-BE49-F238E27FC236}">
                <a16:creationId xmlns:a16="http://schemas.microsoft.com/office/drawing/2014/main" id="{00000002-0002-4000-8000-000000000000}"/>
              </a:ext>
            </a:extLst>
          </p:cNvPr>
          <p:cNvSpPr>
            <a:spLocks noGrp="1"/>
          </p:cNvSpPr>
          <p:nvPr/>
        </p:nvSpPr>
        <p:spPr>
          <a:xfrm>
            <a:off x="762000" y="1185862"/>
            <a:ext cx="13811250" cy="400050"/>
          </a:xfrm>
          <a:prstGeom prst="rect">
            <a:avLst/>
          </a:prstGeom>
          <a:noFill/>
          <a:ln w="0">
            <a:noFill/>
          </a:ln>
        </p:spPr>
        <p:txBody>
          <a:bodyPr wrap="square">
            <a:noAutofit/>
          </a:bodyPr>
          <a:lstStyle/>
          <a:p>
            <a:pPr>
              <a:defRPr sz="2025" b="0">
                <a:solidFill>
                  <a:srgbClr val="007F83"/>
                </a:solidFill>
                <a:latin typeface="Aptos"/>
                <a:ea typeface="Aptos"/>
                <a:cs typeface="Aptos"/>
              </a:defRPr>
            </a:pPr>
            <a:r>
              <a:rPr lang="en-US" sz="2400" b="0">
                <a:solidFill>
                  <a:srgbClr val="007F83"/>
                </a:solidFill>
                <a:latin typeface="Aptos"/>
                <a:ea typeface="Aptos"/>
                <a:cs typeface="Aptos"/>
              </a:rPr>
              <a:t>11–18 December 2026   /   2025 PDF sessions 13–15</a:t>
            </a:r>
            <a:endParaRPr sz="2025" b="0">
              <a:solidFill>
                <a:srgbClr val="007F83"/>
              </a:solidFill>
              <a:latin typeface="Aptos"/>
              <a:ea typeface="Aptos"/>
              <a:cs typeface="Aptos"/>
            </a:endParaRPr>
          </a:p>
        </p:txBody>
      </p:sp>
      <p:graphicFrame>
        <p:nvGraphicFramePr>
          <p:cNvPr id="3" name="Table 2"/>
          <p:cNvGraphicFramePr/>
          <p:nvPr>
            <p:extLst>
              <p:ext uri="{D42A27DB-BD31-4B8C-83A1-F6EECF244321}">
                <p14:modId xmlns:p14="http://schemas.microsoft.com/office/powerpoint/2010/main" val="207949436"/>
              </p:ext>
            </p:extLst>
          </p:nvPr>
        </p:nvGraphicFramePr>
        <p:xfrm>
          <a:off x="762000" y="2028825"/>
          <a:ext cx="13811251" cy="4733925"/>
        </p:xfrm>
        <a:graphic>
          <a:graphicData uri="http://schemas.openxmlformats.org/drawingml/2006/table">
            <a:tbl>
              <a:tblPr/>
              <a:tblGrid>
                <a:gridCol w="1962652">
                  <a:extLst>
                    <a:ext uri="{9D8B030D-6E8A-4147-A177-3AD203B41FA5}">
                      <a16:colId xmlns:a16="http://schemas.microsoft.com/office/drawing/2014/main" val="20000"/>
                    </a:ext>
                  </a:extLst>
                </a:gridCol>
                <a:gridCol w="4984248">
                  <a:extLst>
                    <a:ext uri="{9D8B030D-6E8A-4147-A177-3AD203B41FA5}">
                      <a16:colId xmlns:a16="http://schemas.microsoft.com/office/drawing/2014/main" val="20001"/>
                    </a:ext>
                  </a:extLst>
                </a:gridCol>
                <a:gridCol w="5172911">
                  <a:extLst>
                    <a:ext uri="{9D8B030D-6E8A-4147-A177-3AD203B41FA5}">
                      <a16:colId xmlns:a16="http://schemas.microsoft.com/office/drawing/2014/main" val="20002"/>
                    </a:ext>
                  </a:extLst>
                </a:gridCol>
                <a:gridCol w="1691440">
                  <a:extLst>
                    <a:ext uri="{9D8B030D-6E8A-4147-A177-3AD203B41FA5}">
                      <a16:colId xmlns:a16="http://schemas.microsoft.com/office/drawing/2014/main" val="20003"/>
                    </a:ext>
                  </a:extLst>
                </a:gridCol>
              </a:tblGrid>
              <a:tr h="514350">
                <a:tc>
                  <a:txBody>
                    <a:bodyPr/>
                    <a:lstStyle/>
                    <a:p>
                      <a:pPr algn="ctr"/>
                      <a:r>
                        <a:rPr lang="en-US" sz="1800" b="1">
                          <a:solidFill>
                            <a:srgbClr val="FFFFFF"/>
                          </a:solidFill>
                          <a:latin typeface="Aptos"/>
                          <a:ea typeface="Aptos"/>
                          <a:cs typeface="Aptos"/>
                        </a:rPr>
                        <a:t>Session / date</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Topic in source order</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Coverage and practice</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Pages</a:t>
                      </a:r>
                    </a:p>
                  </a:txBody>
                  <a:tcPr marL="133350" marR="133350" marT="133350" marB="133350" anchor="ctr">
                    <a:solidFill>
                      <a:srgbClr val="122C49"/>
                    </a:solidFill>
                  </a:tcPr>
                </a:tc>
                <a:extLst>
                  <a:ext uri="{0D108BD9-81ED-4DB2-BD59-A6C34878D82A}">
                    <a16:rowId xmlns:a16="http://schemas.microsoft.com/office/drawing/2014/main" val="10000"/>
                  </a:ext>
                </a:extLst>
              </a:tr>
              <a:tr h="1685925">
                <a:tc>
                  <a:txBody>
                    <a:bodyPr/>
                    <a:lstStyle/>
                    <a:p>
                      <a:r>
                        <a:rPr lang="nn-NO" sz="1800" b="1">
                          <a:solidFill>
                            <a:srgbClr val="007F83"/>
                          </a:solidFill>
                          <a:latin typeface="Aptos"/>
                          <a:ea typeface="Aptos"/>
                          <a:cs typeface="Aptos"/>
                        </a:rPr>
                        <a:t>13</a:t>
                      </a:r>
                    </a:p>
                    <a:p>
                      <a:r>
                        <a:rPr lang="nn-NO" sz="1800" b="1">
                          <a:solidFill>
                            <a:srgbClr val="007F83"/>
                          </a:solidFill>
                          <a:latin typeface="Aptos"/>
                          <a:ea typeface="Aptos"/>
                          <a:cs typeface="Aptos"/>
                        </a:rPr>
                        <a:t>Fri 11 Dec</a:t>
                      </a:r>
                    </a:p>
                    <a:p>
                      <a:r>
                        <a:rPr lang="nn-NO" sz="1800" b="1">
                          <a:solidFill>
                            <a:srgbClr val="007F83"/>
                          </a:solidFill>
                          <a:latin typeface="Aptos"/>
                          <a:ea typeface="Aptos"/>
                          <a:cs typeface="Aptos"/>
                        </a:rPr>
                        <a:t>2026</a:t>
                      </a:r>
                    </a:p>
                  </a:txBody>
                  <a:tcPr marL="133350" marR="133350" marT="133350" marB="133350" anchor="ctr">
                    <a:solidFill>
                      <a:srgbClr val="F3F7F9"/>
                    </a:solidFill>
                  </a:tcPr>
                </a:tc>
                <a:tc>
                  <a:txBody>
                    <a:bodyPr/>
                    <a:lstStyle/>
                    <a:p>
                      <a:r>
                        <a:rPr lang="en-US" sz="1800" b="1">
                          <a:solidFill>
                            <a:srgbClr val="122C49"/>
                          </a:solidFill>
                          <a:latin typeface="Aptos"/>
                          <a:ea typeface="Aptos"/>
                          <a:cs typeface="Aptos"/>
                        </a:rPr>
                        <a:t>SU 7. Working Capital Management</a:t>
                      </a:r>
                    </a:p>
                  </a:txBody>
                  <a:tcPr marL="133350" marR="133350" marT="133350" marB="133350" anchor="ctr">
                    <a:solidFill>
                      <a:srgbClr val="F3F7F9"/>
                    </a:solidFill>
                  </a:tcPr>
                </a:tc>
                <a:tc>
                  <a:txBody>
                    <a:bodyPr/>
                    <a:lstStyle/>
                    <a:p>
                      <a:pPr marL="285750" indent="-285750">
                        <a:buFont typeface="Arial" panose="020B0604020202020204" pitchFamily="34" charset="0"/>
                        <a:buChar char="•"/>
                      </a:pPr>
                      <a:r>
                        <a:rPr lang="en-US" sz="1800" dirty="0">
                          <a:solidFill>
                            <a:srgbClr val="233B50"/>
                          </a:solidFill>
                          <a:latin typeface="Aptos"/>
                          <a:ea typeface="Aptos"/>
                          <a:cs typeface="Aptos"/>
                        </a:rPr>
                        <a:t>7.1 Working Capital. </a:t>
                      </a:r>
                    </a:p>
                    <a:p>
                      <a:pPr marL="285750" indent="-285750">
                        <a:buFont typeface="Arial" panose="020B0604020202020204" pitchFamily="34" charset="0"/>
                        <a:buChar char="•"/>
                      </a:pPr>
                      <a:r>
                        <a:rPr lang="en-US" sz="1800" dirty="0">
                          <a:solidFill>
                            <a:srgbClr val="233B50"/>
                          </a:solidFill>
                          <a:latin typeface="Aptos"/>
                          <a:ea typeface="Aptos"/>
                          <a:cs typeface="Aptos"/>
                        </a:rPr>
                        <a:t>7.2 Cash Management. </a:t>
                      </a:r>
                    </a:p>
                    <a:p>
                      <a:pPr marL="285750" indent="-285750">
                        <a:buFont typeface="Arial" panose="020B0604020202020204" pitchFamily="34" charset="0"/>
                        <a:buChar char="•"/>
                      </a:pPr>
                      <a:r>
                        <a:rPr lang="en-US" sz="1800" dirty="0">
                          <a:solidFill>
                            <a:srgbClr val="233B50"/>
                          </a:solidFill>
                          <a:latin typeface="Aptos"/>
                          <a:ea typeface="Aptos"/>
                          <a:cs typeface="Aptos"/>
                        </a:rPr>
                        <a:t>7.3 Marketable Securities Management. </a:t>
                      </a:r>
                    </a:p>
                    <a:p>
                      <a:pPr marL="285750" indent="-285750">
                        <a:buFont typeface="Arial" panose="020B0604020202020204" pitchFamily="34" charset="0"/>
                        <a:buChar char="•"/>
                      </a:pPr>
                      <a:r>
                        <a:rPr lang="en-US" sz="1800" dirty="0">
                          <a:solidFill>
                            <a:srgbClr val="233B50"/>
                          </a:solidFill>
                          <a:latin typeface="Aptos"/>
                          <a:ea typeface="Aptos"/>
                          <a:cs typeface="Aptos"/>
                        </a:rPr>
                        <a:t>7.4 Receivables Management. </a:t>
                      </a:r>
                    </a:p>
                    <a:p>
                      <a:pPr marL="285750" indent="-285750">
                        <a:buFont typeface="Arial" panose="020B0604020202020204" pitchFamily="34" charset="0"/>
                        <a:buChar char="•"/>
                      </a:pPr>
                      <a:r>
                        <a:rPr lang="en-US" sz="1800" dirty="0">
                          <a:solidFill>
                            <a:srgbClr val="233B50"/>
                          </a:solidFill>
                          <a:latin typeface="Aptos"/>
                          <a:ea typeface="Aptos"/>
                          <a:cs typeface="Aptos"/>
                        </a:rPr>
                        <a:t>7.5 Inventory Management.</a:t>
                      </a:r>
                    </a:p>
                  </a:txBody>
                  <a:tcPr marL="133350" marR="133350" marT="133350" marB="133350" anchor="ctr">
                    <a:solidFill>
                      <a:srgbClr val="F3F7F9"/>
                    </a:solidFill>
                  </a:tcPr>
                </a:tc>
                <a:tc>
                  <a:txBody>
                    <a:bodyPr/>
                    <a:lstStyle/>
                    <a:p>
                      <a:pPr algn="ctr"/>
                      <a:r>
                        <a:rPr lang="en-US" sz="1800">
                          <a:solidFill>
                            <a:srgbClr val="233B50"/>
                          </a:solidFill>
                          <a:latin typeface="Aptos"/>
                          <a:ea typeface="Aptos"/>
                          <a:cs typeface="Aptos"/>
                        </a:rPr>
                        <a:t>114–129</a:t>
                      </a:r>
                    </a:p>
                  </a:txBody>
                  <a:tcPr marL="133350" marR="133350" marT="133350" marB="133350" anchor="ctr">
                    <a:solidFill>
                      <a:srgbClr val="F3F7F9"/>
                    </a:solidFill>
                  </a:tcPr>
                </a:tc>
                <a:extLst>
                  <a:ext uri="{0D108BD9-81ED-4DB2-BD59-A6C34878D82A}">
                    <a16:rowId xmlns:a16="http://schemas.microsoft.com/office/drawing/2014/main" val="10001"/>
                  </a:ext>
                </a:extLst>
              </a:tr>
              <a:tr h="1143000">
                <a:tc>
                  <a:txBody>
                    <a:bodyPr/>
                    <a:lstStyle/>
                    <a:p>
                      <a:r>
                        <a:rPr lang="fr-FR" sz="1800" b="1">
                          <a:solidFill>
                            <a:srgbClr val="007F83"/>
                          </a:solidFill>
                          <a:latin typeface="Aptos"/>
                          <a:ea typeface="Aptos"/>
                          <a:cs typeface="Aptos"/>
                        </a:rPr>
                        <a:t>14</a:t>
                      </a:r>
                    </a:p>
                    <a:p>
                      <a:r>
                        <a:rPr lang="fr-FR" sz="1800" b="1">
                          <a:solidFill>
                            <a:srgbClr val="007F83"/>
                          </a:solidFill>
                          <a:latin typeface="Aptos"/>
                          <a:ea typeface="Aptos"/>
                          <a:cs typeface="Aptos"/>
                        </a:rPr>
                        <a:t>Tue 15 Dec</a:t>
                      </a:r>
                    </a:p>
                    <a:p>
                      <a:r>
                        <a:rPr lang="fr-FR" sz="1800" b="1">
                          <a:solidFill>
                            <a:srgbClr val="007F83"/>
                          </a:solidFill>
                          <a:latin typeface="Aptos"/>
                          <a:ea typeface="Aptos"/>
                          <a:cs typeface="Aptos"/>
                        </a:rPr>
                        <a:t>2026</a:t>
                      </a:r>
                    </a:p>
                  </a:txBody>
                  <a:tcPr marL="133350" marR="133350" marT="133350" marB="133350" anchor="ctr">
                    <a:solidFill>
                      <a:srgbClr val="FFFFFF"/>
                    </a:solidFill>
                  </a:tcPr>
                </a:tc>
                <a:tc>
                  <a:txBody>
                    <a:bodyPr/>
                    <a:lstStyle/>
                    <a:p>
                      <a:r>
                        <a:rPr lang="en-US" sz="1800" b="1">
                          <a:solidFill>
                            <a:srgbClr val="122C49"/>
                          </a:solidFill>
                          <a:latin typeface="Aptos"/>
                          <a:ea typeface="Aptos"/>
                          <a:cs typeface="Aptos"/>
                        </a:rPr>
                        <a:t>SU 8. Corporate Restructuring, International Trade, and Exchange Rates</a:t>
                      </a:r>
                    </a:p>
                  </a:txBody>
                  <a:tcPr marL="133350" marR="133350" marT="133350" marB="133350" anchor="ctr">
                    <a:solidFill>
                      <a:srgbClr val="FFFFFF"/>
                    </a:solidFill>
                  </a:tcPr>
                </a:tc>
                <a:tc>
                  <a:txBody>
                    <a:bodyPr/>
                    <a:lstStyle/>
                    <a:p>
                      <a:pPr marL="285750" indent="-285750">
                        <a:buFont typeface="Arial" panose="020B0604020202020204" pitchFamily="34" charset="0"/>
                        <a:buChar char="•"/>
                      </a:pPr>
                      <a:r>
                        <a:rPr lang="en-US" sz="1800" dirty="0">
                          <a:solidFill>
                            <a:srgbClr val="233B50"/>
                          </a:solidFill>
                          <a:latin typeface="Aptos"/>
                          <a:ea typeface="Aptos"/>
                          <a:cs typeface="Aptos"/>
                        </a:rPr>
                        <a:t>8.1 Mergers and Acquisitions.</a:t>
                      </a:r>
                    </a:p>
                    <a:p>
                      <a:pPr marL="285750" indent="-285750">
                        <a:buFont typeface="Arial" panose="020B0604020202020204" pitchFamily="34" charset="0"/>
                        <a:buChar char="•"/>
                      </a:pPr>
                      <a:r>
                        <a:rPr lang="en-US" sz="1800" dirty="0">
                          <a:solidFill>
                            <a:srgbClr val="233B50"/>
                          </a:solidFill>
                          <a:latin typeface="Aptos"/>
                          <a:ea typeface="Aptos"/>
                          <a:cs typeface="Aptos"/>
                        </a:rPr>
                        <a:t>8.2 International Trade. </a:t>
                      </a:r>
                    </a:p>
                    <a:p>
                      <a:pPr marL="285750" indent="-285750">
                        <a:buFont typeface="Arial" panose="020B0604020202020204" pitchFamily="34" charset="0"/>
                        <a:buChar char="•"/>
                      </a:pPr>
                      <a:r>
                        <a:rPr lang="en-US" sz="1800" dirty="0">
                          <a:solidFill>
                            <a:srgbClr val="233B50"/>
                          </a:solidFill>
                          <a:latin typeface="Aptos"/>
                          <a:ea typeface="Aptos"/>
                          <a:cs typeface="Aptos"/>
                        </a:rPr>
                        <a:t>8.3 Exchange Rates: Systems and Calculations.</a:t>
                      </a:r>
                    </a:p>
                  </a:txBody>
                  <a:tcPr marL="133350" marR="133350" marT="133350" marB="133350" anchor="ctr">
                    <a:solidFill>
                      <a:srgbClr val="FFFFFF"/>
                    </a:solidFill>
                  </a:tcPr>
                </a:tc>
                <a:tc>
                  <a:txBody>
                    <a:bodyPr/>
                    <a:lstStyle/>
                    <a:p>
                      <a:pPr algn="ctr"/>
                      <a:r>
                        <a:rPr lang="en-US" sz="1800">
                          <a:solidFill>
                            <a:srgbClr val="233B50"/>
                          </a:solidFill>
                          <a:latin typeface="Aptos"/>
                          <a:ea typeface="Aptos"/>
                          <a:cs typeface="Aptos"/>
                        </a:rPr>
                        <a:t>130–144</a:t>
                      </a:r>
                    </a:p>
                  </a:txBody>
                  <a:tcPr marL="133350" marR="133350" marT="133350" marB="133350" anchor="ctr">
                    <a:solidFill>
                      <a:srgbClr val="FFFFFF"/>
                    </a:solidFill>
                  </a:tcPr>
                </a:tc>
                <a:extLst>
                  <a:ext uri="{0D108BD9-81ED-4DB2-BD59-A6C34878D82A}">
                    <a16:rowId xmlns:a16="http://schemas.microsoft.com/office/drawing/2014/main" val="10002"/>
                  </a:ext>
                </a:extLst>
              </a:tr>
              <a:tr h="1143000">
                <a:tc>
                  <a:txBody>
                    <a:bodyPr/>
                    <a:lstStyle/>
                    <a:p>
                      <a:r>
                        <a:rPr lang="en-US" sz="1800" b="1">
                          <a:solidFill>
                            <a:srgbClr val="007F83"/>
                          </a:solidFill>
                          <a:latin typeface="Aptos"/>
                          <a:ea typeface="Aptos"/>
                          <a:cs typeface="Aptos"/>
                        </a:rPr>
                        <a:t>15</a:t>
                      </a:r>
                    </a:p>
                    <a:p>
                      <a:r>
                        <a:rPr lang="en-US" sz="1800" b="1">
                          <a:solidFill>
                            <a:srgbClr val="007F83"/>
                          </a:solidFill>
                          <a:latin typeface="Aptos"/>
                          <a:ea typeface="Aptos"/>
                          <a:cs typeface="Aptos"/>
                        </a:rPr>
                        <a:t>Fri 18 Dec</a:t>
                      </a:r>
                    </a:p>
                    <a:p>
                      <a:r>
                        <a:rPr lang="en-US" sz="1800" b="1">
                          <a:solidFill>
                            <a:srgbClr val="007F83"/>
                          </a:solidFill>
                          <a:latin typeface="Aptos"/>
                          <a:ea typeface="Aptos"/>
                          <a:cs typeface="Aptos"/>
                        </a:rPr>
                        <a:t>2026</a:t>
                      </a:r>
                    </a:p>
                  </a:txBody>
                  <a:tcPr marL="133350" marR="133350" marT="133350" marB="133350" anchor="ctr">
                    <a:solidFill>
                      <a:srgbClr val="F3F7F9"/>
                    </a:solidFill>
                  </a:tcPr>
                </a:tc>
                <a:tc>
                  <a:txBody>
                    <a:bodyPr/>
                    <a:lstStyle/>
                    <a:p>
                      <a:r>
                        <a:rPr lang="en-US" sz="1800" b="1">
                          <a:solidFill>
                            <a:srgbClr val="122C49"/>
                          </a:solidFill>
                          <a:latin typeface="Aptos"/>
                          <a:ea typeface="Aptos"/>
                          <a:cs typeface="Aptos"/>
                        </a:rPr>
                        <a:t>SU 8. Corporate Restructuring, International Trade, and Exchange Rates</a:t>
                      </a:r>
                    </a:p>
                  </a:txBody>
                  <a:tcPr marL="133350" marR="133350" marT="133350" marB="133350" anchor="ctr">
                    <a:solidFill>
                      <a:srgbClr val="F3F7F9"/>
                    </a:solidFill>
                  </a:tcPr>
                </a:tc>
                <a:tc>
                  <a:txBody>
                    <a:bodyPr/>
                    <a:lstStyle/>
                    <a:p>
                      <a:pPr marL="285750" indent="-285750">
                        <a:buFont typeface="Arial" panose="020B0604020202020204" pitchFamily="34" charset="0"/>
                        <a:buChar char="•"/>
                      </a:pPr>
                      <a:r>
                        <a:rPr lang="en-US" sz="1800" dirty="0">
                          <a:solidFill>
                            <a:srgbClr val="233B50"/>
                          </a:solidFill>
                          <a:latin typeface="Aptos"/>
                          <a:ea typeface="Aptos"/>
                          <a:cs typeface="Aptos"/>
                        </a:rPr>
                        <a:t>8.4 Exchange Rates: Factors and Risk Mitigation. </a:t>
                      </a:r>
                    </a:p>
                    <a:p>
                      <a:pPr marL="285750" indent="-285750">
                        <a:buFont typeface="Arial" panose="020B0604020202020204" pitchFamily="34" charset="0"/>
                        <a:buChar char="•"/>
                      </a:pPr>
                      <a:r>
                        <a:rPr lang="en-US" sz="1800" dirty="0">
                          <a:solidFill>
                            <a:srgbClr val="233B50"/>
                          </a:solidFill>
                          <a:latin typeface="Aptos"/>
                          <a:ea typeface="Aptos"/>
                          <a:cs typeface="Aptos"/>
                        </a:rPr>
                        <a:t>8.5 Effects of Foreign Exchange Fluctuations.</a:t>
                      </a:r>
                    </a:p>
                  </a:txBody>
                  <a:tcPr marL="133350" marR="133350" marT="133350" marB="133350" anchor="ctr">
                    <a:solidFill>
                      <a:srgbClr val="F3F7F9"/>
                    </a:solidFill>
                  </a:tcPr>
                </a:tc>
                <a:tc>
                  <a:txBody>
                    <a:bodyPr/>
                    <a:lstStyle/>
                    <a:p>
                      <a:pPr algn="ctr"/>
                      <a:r>
                        <a:rPr lang="en-US" sz="1800" dirty="0">
                          <a:solidFill>
                            <a:srgbClr val="233B50"/>
                          </a:solidFill>
                          <a:latin typeface="Aptos"/>
                          <a:ea typeface="Aptos"/>
                          <a:cs typeface="Aptos"/>
                        </a:rPr>
                        <a:t>145–160</a:t>
                      </a:r>
                    </a:p>
                  </a:txBody>
                  <a:tcPr marL="133350" marR="133350" marT="133350" marB="133350" anchor="ctr">
                    <a:solidFill>
                      <a:srgbClr val="F3F7F9"/>
                    </a:solidFill>
                  </a:tcPr>
                </a:tc>
                <a:extLst>
                  <a:ext uri="{0D108BD9-81ED-4DB2-BD59-A6C34878D82A}">
                    <a16:rowId xmlns:a16="http://schemas.microsoft.com/office/drawing/2014/main" val="10003"/>
                  </a:ext>
                </a:extLst>
              </a:tr>
            </a:tbl>
          </a:graphicData>
        </a:graphic>
      </p:graphicFrame>
      <p:sp>
        <p:nvSpPr>
          <p:cNvPr id="5" name="Rectangle 4">
            <a:extLst>
              <a:ext uri="{FF2B5EF4-FFF2-40B4-BE49-F238E27FC236}">
                <a16:creationId xmlns:a16="http://schemas.microsoft.com/office/drawing/2014/main" id="{00000002-0004-4000-8000-000000000000}"/>
              </a:ext>
            </a:extLst>
          </p:cNvPr>
          <p:cNvSpPr>
            <a:spLocks noGrp="1"/>
          </p:cNvSpPr>
          <p:nvPr/>
        </p:nvSpPr>
        <p:spPr>
          <a:xfrm>
            <a:off x="13811250" y="8077200"/>
            <a:ext cx="666750" cy="285750"/>
          </a:xfrm>
          <a:prstGeom prst="rect">
            <a:avLst/>
          </a:prstGeom>
          <a:noFill/>
          <a:ln w="0">
            <a:noFill/>
          </a:ln>
        </p:spPr>
        <p:txBody>
          <a:bodyPr wrap="square">
            <a:noAutofit/>
          </a:bodyPr>
          <a:lstStyle/>
          <a:p>
            <a:pPr>
              <a:defRPr sz="1350" b="0">
                <a:solidFill>
                  <a:srgbClr val="5C6F7F"/>
                </a:solidFill>
                <a:latin typeface="Aptos"/>
                <a:ea typeface="Aptos"/>
                <a:cs typeface="Aptos"/>
              </a:defRPr>
            </a:pPr>
            <a:r>
              <a:rPr lang="en-US" sz="1350" b="0">
                <a:solidFill>
                  <a:srgbClr val="5C6F7F"/>
                </a:solidFill>
                <a:latin typeface="Aptos"/>
                <a:ea typeface="Aptos"/>
                <a:cs typeface="Aptos"/>
              </a:rPr>
              <a:t>20</a:t>
            </a:r>
            <a:endParaRPr sz="1350" b="0">
              <a:solidFill>
                <a:srgbClr val="5C6F7F"/>
              </a:solidFill>
              <a:latin typeface="Aptos"/>
              <a:ea typeface="Aptos"/>
              <a:cs typeface="Aptos"/>
            </a:endParaRPr>
          </a:p>
        </p:txBody>
      </p:sp>
      <p:sp>
        <p:nvSpPr>
          <p:cNvPr id="7" name="Section exam weighting">
            <a:extLst>
              <a:ext uri="{FF2B5EF4-FFF2-40B4-BE49-F238E27FC236}">
                <a16:creationId xmlns:a16="http://schemas.microsoft.com/office/drawing/2014/main" id="{00000002-0002-4000-8000-000000000000}"/>
              </a:ext>
            </a:extLst>
          </p:cNvPr>
          <p:cNvSpPr>
            <a:spLocks noGrp="1"/>
          </p:cNvSpPr>
          <p:nvPr/>
        </p:nvSpPr>
        <p:spPr>
          <a:xfrm>
            <a:off x="762000" y="1657350"/>
            <a:ext cx="13811250" cy="276225"/>
          </a:xfrm>
          <a:prstGeom prst="rect">
            <a:avLst/>
          </a:prstGeom>
          <a:noFill/>
          <a:ln w="0">
            <a:noFill/>
          </a:ln>
        </p:spPr>
        <p:txBody>
          <a:bodyPr wrap="square" tIns="0" bIns="0">
            <a:noAutofit/>
          </a:bodyPr>
          <a:lstStyle/>
          <a:p>
            <a:pPr>
              <a:defRPr sz="2025" b="0">
                <a:solidFill>
                  <a:srgbClr val="007F83"/>
                </a:solidFill>
                <a:latin typeface="Aptos"/>
                <a:ea typeface="Aptos"/>
                <a:cs typeface="Aptos"/>
              </a:defRPr>
            </a:pPr>
            <a:r>
              <a:rPr lang="en-US" b="1">
                <a:solidFill>
                  <a:srgbClr val="007F83"/>
                </a:solidFill>
                <a:latin typeface="Aptos"/>
                <a:ea typeface="Aptos"/>
                <a:cs typeface="Aptos"/>
              </a:rPr>
              <a:t>Section exam weight: Corporate Finance 20%</a:t>
            </a:r>
          </a:p>
        </p:txBody>
      </p:sp>
      <p:sp>
        <p:nvSpPr>
          <p:cNvPr id="9" name="Rectangle 8">
            <a:extLst>
              <a:ext uri="{FF2B5EF4-FFF2-40B4-BE49-F238E27FC236}">
                <a16:creationId xmlns:a16="http://schemas.microsoft.com/office/drawing/2014/main" id="{769240ED-E110-FFA2-96F6-9619968F0D03}"/>
              </a:ext>
            </a:extLst>
          </p:cNvPr>
          <p:cNvSpPr>
            <a:spLocks noGrp="1"/>
          </p:cNvSpPr>
          <p:nvPr/>
        </p:nvSpPr>
        <p:spPr>
          <a:xfrm>
            <a:off x="762000" y="8077200"/>
            <a:ext cx="11430000" cy="285750"/>
          </a:xfrm>
          <a:prstGeom prst="rect">
            <a:avLst/>
          </a:prstGeom>
          <a:noFill/>
          <a:ln w="0">
            <a:noFill/>
          </a:ln>
        </p:spPr>
        <p:txBody>
          <a:bodyPr wrap="square">
            <a:noAutofit/>
          </a:bodyPr>
          <a:lstStyle/>
          <a:p>
            <a:pPr>
              <a:defRPr sz="1350" b="0">
                <a:solidFill>
                  <a:srgbClr val="5C6F7F"/>
                </a:solidFill>
                <a:latin typeface="Aptos"/>
                <a:ea typeface="Aptos"/>
                <a:cs typeface="Aptos"/>
              </a:defRPr>
            </a:pPr>
            <a:r>
              <a:rPr sz="1350" b="0" dirty="0">
                <a:solidFill>
                  <a:srgbClr val="5C6F7F"/>
                </a:solidFill>
                <a:latin typeface="Aptos"/>
                <a:ea typeface="Aptos"/>
                <a:cs typeface="Aptos"/>
              </a:rPr>
              <a:t>CMA P2 202</a:t>
            </a:r>
            <a:r>
              <a:rPr lang="en-US" sz="1350" b="0">
                <a:solidFill>
                  <a:srgbClr val="5C6F7F"/>
                </a:solidFill>
                <a:latin typeface="Aptos"/>
                <a:ea typeface="Aptos"/>
                <a:cs typeface="Aptos"/>
              </a:rPr>
              <a:t>6</a:t>
            </a:r>
            <a:endParaRPr sz="1350" b="0" dirty="0">
              <a:solidFill>
                <a:srgbClr val="5C6F7F"/>
              </a:solidFill>
              <a:latin typeface="Aptos"/>
              <a:ea typeface="Aptos"/>
              <a:cs typeface="Apto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0000002-0001-4000-8000-000000000000}"/>
              </a:ext>
            </a:extLst>
          </p:cNvPr>
          <p:cNvSpPr>
            <a:spLocks noGrp="1"/>
          </p:cNvSpPr>
          <p:nvPr/>
        </p:nvSpPr>
        <p:spPr>
          <a:xfrm>
            <a:off x="762000" y="542925"/>
            <a:ext cx="13811250" cy="666750"/>
          </a:xfrm>
          <a:prstGeom prst="rect">
            <a:avLst/>
          </a:prstGeom>
          <a:noFill/>
          <a:ln w="0">
            <a:noFill/>
          </a:ln>
        </p:spPr>
        <p:txBody>
          <a:bodyPr wrap="square">
            <a:noAutofit/>
          </a:bodyPr>
          <a:lstStyle/>
          <a:p>
            <a:pPr>
              <a:defRPr sz="3675" b="1">
                <a:solidFill>
                  <a:srgbClr val="122C49"/>
                </a:solidFill>
                <a:latin typeface="Aptos"/>
                <a:ea typeface="Aptos"/>
                <a:cs typeface="Aptos"/>
              </a:defRPr>
            </a:pPr>
            <a:r>
              <a:rPr lang="en-US" sz="3675" b="1">
                <a:solidFill>
                  <a:srgbClr val="122C49"/>
                </a:solidFill>
                <a:latin typeface="Aptos"/>
                <a:ea typeface="Aptos"/>
                <a:cs typeface="Aptos"/>
              </a:rPr>
              <a:t>Decision Analysis</a:t>
            </a:r>
          </a:p>
        </p:txBody>
      </p:sp>
      <p:sp>
        <p:nvSpPr>
          <p:cNvPr id="2" name="Rectangle 1">
            <a:extLst>
              <a:ext uri="{FF2B5EF4-FFF2-40B4-BE49-F238E27FC236}">
                <a16:creationId xmlns:a16="http://schemas.microsoft.com/office/drawing/2014/main" id="{00000002-0002-4000-8000-000000000000}"/>
              </a:ext>
            </a:extLst>
          </p:cNvPr>
          <p:cNvSpPr>
            <a:spLocks noGrp="1"/>
          </p:cNvSpPr>
          <p:nvPr/>
        </p:nvSpPr>
        <p:spPr>
          <a:xfrm>
            <a:off x="762000" y="1185862"/>
            <a:ext cx="13811250" cy="400050"/>
          </a:xfrm>
          <a:prstGeom prst="rect">
            <a:avLst/>
          </a:prstGeom>
          <a:noFill/>
          <a:ln w="0">
            <a:noFill/>
          </a:ln>
        </p:spPr>
        <p:txBody>
          <a:bodyPr wrap="square">
            <a:noAutofit/>
          </a:bodyPr>
          <a:lstStyle/>
          <a:p>
            <a:pPr>
              <a:defRPr sz="2025" b="0">
                <a:solidFill>
                  <a:srgbClr val="007F83"/>
                </a:solidFill>
                <a:latin typeface="Aptos"/>
                <a:ea typeface="Aptos"/>
                <a:cs typeface="Aptos"/>
              </a:defRPr>
            </a:pPr>
            <a:r>
              <a:rPr lang="en-US" sz="2400" b="0">
                <a:solidFill>
                  <a:srgbClr val="007F83"/>
                </a:solidFill>
                <a:latin typeface="Aptos"/>
                <a:ea typeface="Aptos"/>
                <a:cs typeface="Aptos"/>
              </a:rPr>
              <a:t>22 Dec 2026   /   2025 PDF session 16</a:t>
            </a:r>
          </a:p>
        </p:txBody>
      </p:sp>
      <p:graphicFrame>
        <p:nvGraphicFramePr>
          <p:cNvPr id="3" name="Table 2"/>
          <p:cNvGraphicFramePr/>
          <p:nvPr>
            <p:extLst>
              <p:ext uri="{D42A27DB-BD31-4B8C-83A1-F6EECF244321}">
                <p14:modId xmlns:p14="http://schemas.microsoft.com/office/powerpoint/2010/main" val="3081772848"/>
              </p:ext>
            </p:extLst>
          </p:nvPr>
        </p:nvGraphicFramePr>
        <p:xfrm>
          <a:off x="762000" y="2028825"/>
          <a:ext cx="13811251" cy="1684020"/>
        </p:xfrm>
        <a:graphic>
          <a:graphicData uri="http://schemas.openxmlformats.org/drawingml/2006/table">
            <a:tbl>
              <a:tblPr/>
              <a:tblGrid>
                <a:gridCol w="1962652">
                  <a:extLst>
                    <a:ext uri="{9D8B030D-6E8A-4147-A177-3AD203B41FA5}">
                      <a16:colId xmlns:a16="http://schemas.microsoft.com/office/drawing/2014/main" val="20000"/>
                    </a:ext>
                  </a:extLst>
                </a:gridCol>
                <a:gridCol w="4984248">
                  <a:extLst>
                    <a:ext uri="{9D8B030D-6E8A-4147-A177-3AD203B41FA5}">
                      <a16:colId xmlns:a16="http://schemas.microsoft.com/office/drawing/2014/main" val="20001"/>
                    </a:ext>
                  </a:extLst>
                </a:gridCol>
                <a:gridCol w="5172911">
                  <a:extLst>
                    <a:ext uri="{9D8B030D-6E8A-4147-A177-3AD203B41FA5}">
                      <a16:colId xmlns:a16="http://schemas.microsoft.com/office/drawing/2014/main" val="20002"/>
                    </a:ext>
                  </a:extLst>
                </a:gridCol>
                <a:gridCol w="1691440">
                  <a:extLst>
                    <a:ext uri="{9D8B030D-6E8A-4147-A177-3AD203B41FA5}">
                      <a16:colId xmlns:a16="http://schemas.microsoft.com/office/drawing/2014/main" val="20003"/>
                    </a:ext>
                  </a:extLst>
                </a:gridCol>
              </a:tblGrid>
              <a:tr h="514350">
                <a:tc>
                  <a:txBody>
                    <a:bodyPr/>
                    <a:lstStyle/>
                    <a:p>
                      <a:pPr algn="ctr"/>
                      <a:r>
                        <a:rPr lang="en-US" sz="1800" b="1">
                          <a:solidFill>
                            <a:srgbClr val="FFFFFF"/>
                          </a:solidFill>
                          <a:latin typeface="Aptos"/>
                          <a:ea typeface="Aptos"/>
                          <a:cs typeface="Aptos"/>
                        </a:rPr>
                        <a:t>Session / date</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Topic in source order</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Coverage and practice</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Pages</a:t>
                      </a:r>
                    </a:p>
                  </a:txBody>
                  <a:tcPr marL="133350" marR="133350" marT="133350" marB="133350" anchor="ctr">
                    <a:solidFill>
                      <a:srgbClr val="122C49"/>
                    </a:solidFill>
                  </a:tcPr>
                </a:tc>
                <a:extLst>
                  <a:ext uri="{0D108BD9-81ED-4DB2-BD59-A6C34878D82A}">
                    <a16:rowId xmlns:a16="http://schemas.microsoft.com/office/drawing/2014/main" val="10000"/>
                  </a:ext>
                </a:extLst>
              </a:tr>
              <a:tr h="1143000">
                <a:tc>
                  <a:txBody>
                    <a:bodyPr/>
                    <a:lstStyle/>
                    <a:p>
                      <a:r>
                        <a:rPr lang="fr-FR" sz="1800" b="1">
                          <a:solidFill>
                            <a:srgbClr val="007F83"/>
                          </a:solidFill>
                          <a:latin typeface="Aptos"/>
                          <a:ea typeface="Aptos"/>
                          <a:cs typeface="Aptos"/>
                        </a:rPr>
                        <a:t>16</a:t>
                      </a:r>
                    </a:p>
                    <a:p>
                      <a:r>
                        <a:rPr lang="fr-FR" sz="1800" b="1">
                          <a:solidFill>
                            <a:srgbClr val="007F83"/>
                          </a:solidFill>
                          <a:latin typeface="Aptos"/>
                          <a:ea typeface="Aptos"/>
                          <a:cs typeface="Aptos"/>
                        </a:rPr>
                        <a:t>Tue 22 Dec</a:t>
                      </a:r>
                    </a:p>
                    <a:p>
                      <a:r>
                        <a:rPr lang="fr-FR" sz="1800" b="1">
                          <a:solidFill>
                            <a:srgbClr val="007F83"/>
                          </a:solidFill>
                          <a:latin typeface="Aptos"/>
                          <a:ea typeface="Aptos"/>
                          <a:cs typeface="Aptos"/>
                        </a:rPr>
                        <a:t>2026</a:t>
                      </a:r>
                    </a:p>
                  </a:txBody>
                  <a:tcPr marL="133350" marR="133350" marT="133350" marB="133350" anchor="ctr">
                    <a:solidFill>
                      <a:srgbClr val="F3F7F9"/>
                    </a:solidFill>
                  </a:tcPr>
                </a:tc>
                <a:tc>
                  <a:txBody>
                    <a:bodyPr/>
                    <a:lstStyle/>
                    <a:p>
                      <a:r>
                        <a:rPr lang="en-US" sz="1800" b="1">
                          <a:solidFill>
                            <a:srgbClr val="122C49"/>
                          </a:solidFill>
                          <a:latin typeface="Aptos"/>
                          <a:ea typeface="Aptos"/>
                          <a:cs typeface="Aptos"/>
                        </a:rPr>
                        <a:t>SU 9. CVP Analysis</a:t>
                      </a:r>
                    </a:p>
                  </a:txBody>
                  <a:tcPr marL="133350" marR="133350" marT="133350" marB="133350" anchor="ctr">
                    <a:solidFill>
                      <a:srgbClr val="F3F7F9"/>
                    </a:solidFill>
                  </a:tcPr>
                </a:tc>
                <a:tc>
                  <a:txBody>
                    <a:bodyPr/>
                    <a:lstStyle/>
                    <a:p>
                      <a:pPr marL="285750" indent="-285750">
                        <a:buFont typeface="Arial" panose="020B0604020202020204" pitchFamily="34" charset="0"/>
                        <a:buChar char="•"/>
                      </a:pPr>
                      <a:r>
                        <a:rPr lang="en-US" sz="1800" dirty="0">
                          <a:solidFill>
                            <a:srgbClr val="233B50"/>
                          </a:solidFill>
                          <a:latin typeface="Aptos"/>
                          <a:ea typeface="Aptos"/>
                          <a:cs typeface="Aptos"/>
                        </a:rPr>
                        <a:t>9.1 Cost-Volume-Profit Analysis. </a:t>
                      </a:r>
                    </a:p>
                    <a:p>
                      <a:pPr marL="285750" indent="-285750">
                        <a:buFont typeface="Arial" panose="020B0604020202020204" pitchFamily="34" charset="0"/>
                        <a:buChar char="•"/>
                      </a:pPr>
                      <a:r>
                        <a:rPr lang="en-US" sz="1800" dirty="0">
                          <a:solidFill>
                            <a:srgbClr val="233B50"/>
                          </a:solidFill>
                          <a:latin typeface="Aptos"/>
                          <a:ea typeface="Aptos"/>
                          <a:cs typeface="Aptos"/>
                        </a:rPr>
                        <a:t>9.2 Target Income Calculations.</a:t>
                      </a:r>
                    </a:p>
                    <a:p>
                      <a:pPr marL="285750" indent="-285750">
                        <a:buFont typeface="Arial" panose="020B0604020202020204" pitchFamily="34" charset="0"/>
                        <a:buChar char="•"/>
                      </a:pPr>
                      <a:r>
                        <a:rPr lang="en-US" sz="1800" dirty="0">
                          <a:solidFill>
                            <a:srgbClr val="233B50"/>
                          </a:solidFill>
                          <a:latin typeface="Aptos"/>
                          <a:ea typeface="Aptos"/>
                          <a:cs typeface="Aptos"/>
                        </a:rPr>
                        <a:t>9.3 Multi-Product Calculations.</a:t>
                      </a:r>
                    </a:p>
                  </a:txBody>
                  <a:tcPr marL="133350" marR="133350" marT="133350" marB="133350" anchor="ctr">
                    <a:solidFill>
                      <a:srgbClr val="F3F7F9"/>
                    </a:solidFill>
                  </a:tcPr>
                </a:tc>
                <a:tc>
                  <a:txBody>
                    <a:bodyPr/>
                    <a:lstStyle/>
                    <a:p>
                      <a:pPr algn="ctr"/>
                      <a:r>
                        <a:rPr lang="en-US" sz="1800" dirty="0">
                          <a:solidFill>
                            <a:srgbClr val="233B50"/>
                          </a:solidFill>
                          <a:latin typeface="Aptos"/>
                          <a:ea typeface="Aptos"/>
                          <a:cs typeface="Aptos"/>
                        </a:rPr>
                        <a:t>161–171</a:t>
                      </a:r>
                    </a:p>
                  </a:txBody>
                  <a:tcPr marL="133350" marR="133350" marT="133350" marB="133350" anchor="ctr">
                    <a:solidFill>
                      <a:srgbClr val="F3F7F9"/>
                    </a:solidFill>
                  </a:tcPr>
                </a:tc>
                <a:extLst>
                  <a:ext uri="{0D108BD9-81ED-4DB2-BD59-A6C34878D82A}">
                    <a16:rowId xmlns:a16="http://schemas.microsoft.com/office/drawing/2014/main" val="10004"/>
                  </a:ext>
                </a:extLst>
              </a:tr>
            </a:tbl>
          </a:graphicData>
        </a:graphic>
      </p:graphicFrame>
      <p:sp>
        <p:nvSpPr>
          <p:cNvPr id="5" name="Rectangle 4">
            <a:extLst>
              <a:ext uri="{FF2B5EF4-FFF2-40B4-BE49-F238E27FC236}">
                <a16:creationId xmlns:a16="http://schemas.microsoft.com/office/drawing/2014/main" id="{00000002-0004-4000-8000-000000000000}"/>
              </a:ext>
            </a:extLst>
          </p:cNvPr>
          <p:cNvSpPr>
            <a:spLocks noGrp="1"/>
          </p:cNvSpPr>
          <p:nvPr/>
        </p:nvSpPr>
        <p:spPr>
          <a:xfrm>
            <a:off x="13811250" y="8077200"/>
            <a:ext cx="666750" cy="285750"/>
          </a:xfrm>
          <a:prstGeom prst="rect">
            <a:avLst/>
          </a:prstGeom>
          <a:noFill/>
          <a:ln w="0">
            <a:noFill/>
          </a:ln>
        </p:spPr>
        <p:txBody>
          <a:bodyPr wrap="square">
            <a:noAutofit/>
          </a:bodyPr>
          <a:lstStyle/>
          <a:p>
            <a:pPr>
              <a:defRPr sz="1350" b="0">
                <a:solidFill>
                  <a:srgbClr val="5C6F7F"/>
                </a:solidFill>
                <a:latin typeface="Aptos"/>
                <a:ea typeface="Aptos"/>
                <a:cs typeface="Aptos"/>
              </a:defRPr>
            </a:pPr>
            <a:r>
              <a:rPr lang="en-US" sz="1350" b="0">
                <a:solidFill>
                  <a:srgbClr val="5C6F7F"/>
                </a:solidFill>
                <a:latin typeface="Aptos"/>
                <a:ea typeface="Aptos"/>
                <a:cs typeface="Aptos"/>
              </a:rPr>
              <a:t>21</a:t>
            </a:r>
            <a:endParaRPr sz="1350" b="0">
              <a:solidFill>
                <a:srgbClr val="5C6F7F"/>
              </a:solidFill>
              <a:latin typeface="Aptos"/>
              <a:ea typeface="Aptos"/>
              <a:cs typeface="Aptos"/>
            </a:endParaRPr>
          </a:p>
        </p:txBody>
      </p:sp>
      <p:sp>
        <p:nvSpPr>
          <p:cNvPr id="7" name="Section exam weighting">
            <a:extLst>
              <a:ext uri="{FF2B5EF4-FFF2-40B4-BE49-F238E27FC236}">
                <a16:creationId xmlns:a16="http://schemas.microsoft.com/office/drawing/2014/main" id="{00000002-0002-4000-8000-000000000000}"/>
              </a:ext>
            </a:extLst>
          </p:cNvPr>
          <p:cNvSpPr>
            <a:spLocks noGrp="1"/>
          </p:cNvSpPr>
          <p:nvPr/>
        </p:nvSpPr>
        <p:spPr>
          <a:xfrm>
            <a:off x="762000" y="1657350"/>
            <a:ext cx="13811250" cy="276225"/>
          </a:xfrm>
          <a:prstGeom prst="rect">
            <a:avLst/>
          </a:prstGeom>
          <a:noFill/>
          <a:ln w="0">
            <a:noFill/>
          </a:ln>
        </p:spPr>
        <p:txBody>
          <a:bodyPr wrap="square" tIns="0" bIns="0">
            <a:noAutofit/>
          </a:bodyPr>
          <a:lstStyle/>
          <a:p>
            <a:pPr>
              <a:defRPr sz="2025" b="0">
                <a:solidFill>
                  <a:srgbClr val="007F83"/>
                </a:solidFill>
                <a:latin typeface="Aptos"/>
                <a:ea typeface="Aptos"/>
                <a:cs typeface="Aptos"/>
              </a:defRPr>
            </a:pPr>
            <a:r>
              <a:rPr lang="en-US" b="1">
                <a:solidFill>
                  <a:srgbClr val="007F83"/>
                </a:solidFill>
                <a:latin typeface="Aptos"/>
                <a:ea typeface="Aptos"/>
                <a:cs typeface="Aptos"/>
              </a:rPr>
              <a:t>Section exam weight: Decision Analysis 25%</a:t>
            </a:r>
          </a:p>
        </p:txBody>
      </p:sp>
      <p:sp>
        <p:nvSpPr>
          <p:cNvPr id="9" name="Rectangle 8">
            <a:extLst>
              <a:ext uri="{FF2B5EF4-FFF2-40B4-BE49-F238E27FC236}">
                <a16:creationId xmlns:a16="http://schemas.microsoft.com/office/drawing/2014/main" id="{BE725FD6-97E3-715A-F73C-03C97340D799}"/>
              </a:ext>
            </a:extLst>
          </p:cNvPr>
          <p:cNvSpPr>
            <a:spLocks noGrp="1"/>
          </p:cNvSpPr>
          <p:nvPr/>
        </p:nvSpPr>
        <p:spPr>
          <a:xfrm>
            <a:off x="762000" y="8077200"/>
            <a:ext cx="11430000" cy="285750"/>
          </a:xfrm>
          <a:prstGeom prst="rect">
            <a:avLst/>
          </a:prstGeom>
          <a:noFill/>
          <a:ln w="0">
            <a:noFill/>
          </a:ln>
        </p:spPr>
        <p:txBody>
          <a:bodyPr wrap="square">
            <a:noAutofit/>
          </a:bodyPr>
          <a:lstStyle/>
          <a:p>
            <a:pPr>
              <a:defRPr sz="1350" b="0">
                <a:solidFill>
                  <a:srgbClr val="5C6F7F"/>
                </a:solidFill>
                <a:latin typeface="Aptos"/>
                <a:ea typeface="Aptos"/>
                <a:cs typeface="Aptos"/>
              </a:defRPr>
            </a:pPr>
            <a:r>
              <a:rPr sz="1350" b="0" dirty="0">
                <a:solidFill>
                  <a:srgbClr val="5C6F7F"/>
                </a:solidFill>
                <a:latin typeface="Aptos"/>
                <a:ea typeface="Aptos"/>
                <a:cs typeface="Aptos"/>
              </a:rPr>
              <a:t>CMA P2 202</a:t>
            </a:r>
            <a:r>
              <a:rPr lang="en-US" sz="1350" b="0">
                <a:solidFill>
                  <a:srgbClr val="5C6F7F"/>
                </a:solidFill>
                <a:latin typeface="Aptos"/>
                <a:ea typeface="Aptos"/>
                <a:cs typeface="Aptos"/>
              </a:rPr>
              <a:t>6</a:t>
            </a:r>
            <a:endParaRPr sz="1350" b="0" dirty="0">
              <a:solidFill>
                <a:srgbClr val="5C6F7F"/>
              </a:solidFill>
              <a:latin typeface="Aptos"/>
              <a:ea typeface="Aptos"/>
              <a:cs typeface="Apto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0000002-0001-4000-8000-000000000000}"/>
              </a:ext>
            </a:extLst>
          </p:cNvPr>
          <p:cNvSpPr>
            <a:spLocks noGrp="1"/>
          </p:cNvSpPr>
          <p:nvPr/>
        </p:nvSpPr>
        <p:spPr>
          <a:xfrm>
            <a:off x="762000" y="542925"/>
            <a:ext cx="13811250" cy="666750"/>
          </a:xfrm>
          <a:prstGeom prst="rect">
            <a:avLst/>
          </a:prstGeom>
          <a:noFill/>
          <a:ln w="0">
            <a:noFill/>
          </a:ln>
        </p:spPr>
        <p:txBody>
          <a:bodyPr wrap="square">
            <a:noAutofit/>
          </a:bodyPr>
          <a:lstStyle/>
          <a:p>
            <a:pPr>
              <a:defRPr sz="3675" b="1">
                <a:solidFill>
                  <a:srgbClr val="122C49"/>
                </a:solidFill>
                <a:latin typeface="Aptos"/>
                <a:ea typeface="Aptos"/>
                <a:cs typeface="Aptos"/>
              </a:defRPr>
            </a:pPr>
            <a:r>
              <a:rPr lang="en-US" sz="3675" b="1">
                <a:solidFill>
                  <a:srgbClr val="122C49"/>
                </a:solidFill>
                <a:latin typeface="Aptos"/>
                <a:ea typeface="Aptos"/>
                <a:cs typeface="Aptos"/>
              </a:rPr>
              <a:t>Marginal Analysis and Pricing</a:t>
            </a:r>
          </a:p>
        </p:txBody>
      </p:sp>
      <p:sp>
        <p:nvSpPr>
          <p:cNvPr id="2" name="Rectangle 1">
            <a:extLst>
              <a:ext uri="{FF2B5EF4-FFF2-40B4-BE49-F238E27FC236}">
                <a16:creationId xmlns:a16="http://schemas.microsoft.com/office/drawing/2014/main" id="{00000002-0002-4000-8000-000000000000}"/>
              </a:ext>
            </a:extLst>
          </p:cNvPr>
          <p:cNvSpPr>
            <a:spLocks noGrp="1"/>
          </p:cNvSpPr>
          <p:nvPr/>
        </p:nvSpPr>
        <p:spPr>
          <a:xfrm>
            <a:off x="762000" y="1185862"/>
            <a:ext cx="13811250" cy="400050"/>
          </a:xfrm>
          <a:prstGeom prst="rect">
            <a:avLst/>
          </a:prstGeom>
          <a:noFill/>
          <a:ln w="0">
            <a:noFill/>
          </a:ln>
        </p:spPr>
        <p:txBody>
          <a:bodyPr wrap="square">
            <a:noAutofit/>
          </a:bodyPr>
          <a:lstStyle/>
          <a:p>
            <a:pPr>
              <a:defRPr sz="2025" b="0">
                <a:solidFill>
                  <a:srgbClr val="007F83"/>
                </a:solidFill>
                <a:latin typeface="Aptos"/>
                <a:ea typeface="Aptos"/>
                <a:cs typeface="Aptos"/>
              </a:defRPr>
            </a:pPr>
            <a:r>
              <a:rPr lang="en-US" sz="2400" b="0">
                <a:solidFill>
                  <a:srgbClr val="007F83"/>
                </a:solidFill>
                <a:latin typeface="Aptos"/>
                <a:ea typeface="Aptos"/>
                <a:cs typeface="Aptos"/>
              </a:rPr>
              <a:t>25 Dec 2026 – 05 Jan 2027   /   2025 PDF sessions 17–20</a:t>
            </a:r>
          </a:p>
        </p:txBody>
      </p:sp>
      <p:graphicFrame>
        <p:nvGraphicFramePr>
          <p:cNvPr id="3" name="Table 2"/>
          <p:cNvGraphicFramePr/>
          <p:nvPr>
            <p:extLst>
              <p:ext uri="{D42A27DB-BD31-4B8C-83A1-F6EECF244321}">
                <p14:modId xmlns:p14="http://schemas.microsoft.com/office/powerpoint/2010/main" val="3262990198"/>
              </p:ext>
            </p:extLst>
          </p:nvPr>
        </p:nvGraphicFramePr>
        <p:xfrm>
          <a:off x="762000" y="2028825"/>
          <a:ext cx="13811251" cy="5113020"/>
        </p:xfrm>
        <a:graphic>
          <a:graphicData uri="http://schemas.openxmlformats.org/drawingml/2006/table">
            <a:tbl>
              <a:tblPr/>
              <a:tblGrid>
                <a:gridCol w="1962652">
                  <a:extLst>
                    <a:ext uri="{9D8B030D-6E8A-4147-A177-3AD203B41FA5}">
                      <a16:colId xmlns:a16="http://schemas.microsoft.com/office/drawing/2014/main" val="20000"/>
                    </a:ext>
                  </a:extLst>
                </a:gridCol>
                <a:gridCol w="4984248">
                  <a:extLst>
                    <a:ext uri="{9D8B030D-6E8A-4147-A177-3AD203B41FA5}">
                      <a16:colId xmlns:a16="http://schemas.microsoft.com/office/drawing/2014/main" val="20001"/>
                    </a:ext>
                  </a:extLst>
                </a:gridCol>
                <a:gridCol w="5172911">
                  <a:extLst>
                    <a:ext uri="{9D8B030D-6E8A-4147-A177-3AD203B41FA5}">
                      <a16:colId xmlns:a16="http://schemas.microsoft.com/office/drawing/2014/main" val="20002"/>
                    </a:ext>
                  </a:extLst>
                </a:gridCol>
                <a:gridCol w="1691440">
                  <a:extLst>
                    <a:ext uri="{9D8B030D-6E8A-4147-A177-3AD203B41FA5}">
                      <a16:colId xmlns:a16="http://schemas.microsoft.com/office/drawing/2014/main" val="20003"/>
                    </a:ext>
                  </a:extLst>
                </a:gridCol>
              </a:tblGrid>
              <a:tr h="514350">
                <a:tc>
                  <a:txBody>
                    <a:bodyPr/>
                    <a:lstStyle/>
                    <a:p>
                      <a:pPr algn="ctr"/>
                      <a:r>
                        <a:rPr lang="en-US" sz="1800" b="1">
                          <a:solidFill>
                            <a:srgbClr val="FFFFFF"/>
                          </a:solidFill>
                          <a:latin typeface="Aptos"/>
                          <a:ea typeface="Aptos"/>
                          <a:cs typeface="Aptos"/>
                        </a:rPr>
                        <a:t>Session / date</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Topic in source order</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Coverage and practice</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Pages</a:t>
                      </a:r>
                    </a:p>
                  </a:txBody>
                  <a:tcPr marL="133350" marR="133350" marT="133350" marB="133350" anchor="ctr">
                    <a:solidFill>
                      <a:srgbClr val="122C49"/>
                    </a:solidFill>
                  </a:tcPr>
                </a:tc>
                <a:extLst>
                  <a:ext uri="{0D108BD9-81ED-4DB2-BD59-A6C34878D82A}">
                    <a16:rowId xmlns:a16="http://schemas.microsoft.com/office/drawing/2014/main" val="10000"/>
                  </a:ext>
                </a:extLst>
              </a:tr>
              <a:tr h="1143000">
                <a:tc>
                  <a:txBody>
                    <a:bodyPr/>
                    <a:lstStyle/>
                    <a:p>
                      <a:r>
                        <a:rPr lang="en-US" sz="1800" b="1">
                          <a:solidFill>
                            <a:srgbClr val="007F83"/>
                          </a:solidFill>
                          <a:latin typeface="Aptos"/>
                          <a:ea typeface="Aptos"/>
                          <a:cs typeface="Aptos"/>
                        </a:rPr>
                        <a:t>17</a:t>
                      </a:r>
                    </a:p>
                    <a:p>
                      <a:r>
                        <a:rPr lang="en-US" sz="1800" b="1">
                          <a:solidFill>
                            <a:srgbClr val="007F83"/>
                          </a:solidFill>
                          <a:latin typeface="Aptos"/>
                          <a:ea typeface="Aptos"/>
                          <a:cs typeface="Aptos"/>
                        </a:rPr>
                        <a:t>Fri 25 Dec</a:t>
                      </a:r>
                    </a:p>
                    <a:p>
                      <a:r>
                        <a:rPr lang="en-US" sz="1800" b="1">
                          <a:solidFill>
                            <a:srgbClr val="007F83"/>
                          </a:solidFill>
                          <a:latin typeface="Aptos"/>
                          <a:ea typeface="Aptos"/>
                          <a:cs typeface="Aptos"/>
                        </a:rPr>
                        <a:t>2026</a:t>
                      </a:r>
                    </a:p>
                  </a:txBody>
                  <a:tcPr marL="133350" marR="133350" marT="133350" marB="133350" anchor="ctr">
                    <a:solidFill>
                      <a:srgbClr val="F3F7F9"/>
                    </a:solidFill>
                  </a:tcPr>
                </a:tc>
                <a:tc>
                  <a:txBody>
                    <a:bodyPr/>
                    <a:lstStyle/>
                    <a:p>
                      <a:r>
                        <a:rPr lang="en-US" sz="1800" b="1">
                          <a:solidFill>
                            <a:srgbClr val="122C49"/>
                          </a:solidFill>
                          <a:latin typeface="Aptos"/>
                          <a:ea typeface="Aptos"/>
                          <a:cs typeface="Aptos"/>
                        </a:rPr>
                        <a:t>SU 10. Marginal Analysis</a:t>
                      </a:r>
                    </a:p>
                  </a:txBody>
                  <a:tcPr marL="133350" marR="133350" marT="133350" marB="133350" anchor="ctr">
                    <a:solidFill>
                      <a:srgbClr val="F3F7F9"/>
                    </a:solidFill>
                  </a:tcPr>
                </a:tc>
                <a:tc>
                  <a:txBody>
                    <a:bodyPr/>
                    <a:lstStyle/>
                    <a:p>
                      <a:pPr marL="285750" indent="-285750">
                        <a:buFont typeface="Arial" panose="020B0604020202020204" pitchFamily="34" charset="0"/>
                        <a:buChar char="•"/>
                      </a:pPr>
                      <a:r>
                        <a:rPr lang="en-US" sz="1800" dirty="0">
                          <a:solidFill>
                            <a:srgbClr val="233B50"/>
                          </a:solidFill>
                          <a:latin typeface="Aptos"/>
                          <a:ea typeface="Aptos"/>
                          <a:cs typeface="Aptos"/>
                        </a:rPr>
                        <a:t>10.1 Short-Run Profit Maximization. </a:t>
                      </a:r>
                    </a:p>
                    <a:p>
                      <a:pPr marL="285750" indent="-285750">
                        <a:buFont typeface="Arial" panose="020B0604020202020204" pitchFamily="34" charset="0"/>
                        <a:buChar char="•"/>
                      </a:pPr>
                      <a:r>
                        <a:rPr lang="en-US" sz="1800" dirty="0">
                          <a:solidFill>
                            <a:srgbClr val="233B50"/>
                          </a:solidFill>
                          <a:latin typeface="Aptos"/>
                          <a:ea typeface="Aptos"/>
                          <a:cs typeface="Aptos"/>
                        </a:rPr>
                        <a:t>10.2 Applying Marginal Analysis. </a:t>
                      </a:r>
                    </a:p>
                    <a:p>
                      <a:pPr marL="285750" indent="-285750">
                        <a:buFont typeface="Arial" panose="020B0604020202020204" pitchFamily="34" charset="0"/>
                        <a:buChar char="•"/>
                      </a:pPr>
                      <a:r>
                        <a:rPr lang="en-US" sz="1800" dirty="0">
                          <a:solidFill>
                            <a:srgbClr val="233B50"/>
                          </a:solidFill>
                          <a:latin typeface="Aptos"/>
                          <a:ea typeface="Aptos"/>
                          <a:cs typeface="Aptos"/>
                        </a:rPr>
                        <a:t>10.3 Special Orders.</a:t>
                      </a:r>
                    </a:p>
                  </a:txBody>
                  <a:tcPr marL="133350" marR="133350" marT="133350" marB="133350" anchor="ctr">
                    <a:solidFill>
                      <a:srgbClr val="F3F7F9"/>
                    </a:solidFill>
                  </a:tcPr>
                </a:tc>
                <a:tc>
                  <a:txBody>
                    <a:bodyPr/>
                    <a:lstStyle/>
                    <a:p>
                      <a:pPr algn="ctr"/>
                      <a:r>
                        <a:rPr lang="en-US" sz="1800">
                          <a:solidFill>
                            <a:srgbClr val="233B50"/>
                          </a:solidFill>
                          <a:latin typeface="Aptos"/>
                          <a:ea typeface="Aptos"/>
                          <a:cs typeface="Aptos"/>
                        </a:rPr>
                        <a:t>172–183</a:t>
                      </a:r>
                    </a:p>
                  </a:txBody>
                  <a:tcPr marL="133350" marR="133350" marT="133350" marB="133350" anchor="ctr">
                    <a:solidFill>
                      <a:srgbClr val="F3F7F9"/>
                    </a:solidFill>
                  </a:tcPr>
                </a:tc>
                <a:extLst>
                  <a:ext uri="{0D108BD9-81ED-4DB2-BD59-A6C34878D82A}">
                    <a16:rowId xmlns:a16="http://schemas.microsoft.com/office/drawing/2014/main" val="10001"/>
                  </a:ext>
                </a:extLst>
              </a:tr>
              <a:tr h="1143000">
                <a:tc>
                  <a:txBody>
                    <a:bodyPr/>
                    <a:lstStyle/>
                    <a:p>
                      <a:r>
                        <a:rPr lang="fr-FR" sz="1800" b="1">
                          <a:solidFill>
                            <a:srgbClr val="007F83"/>
                          </a:solidFill>
                          <a:latin typeface="Aptos"/>
                          <a:ea typeface="Aptos"/>
                          <a:cs typeface="Aptos"/>
                        </a:rPr>
                        <a:t>18</a:t>
                      </a:r>
                    </a:p>
                    <a:p>
                      <a:r>
                        <a:rPr lang="fr-FR" sz="1800" b="1">
                          <a:solidFill>
                            <a:srgbClr val="007F83"/>
                          </a:solidFill>
                          <a:latin typeface="Aptos"/>
                          <a:ea typeface="Aptos"/>
                          <a:cs typeface="Aptos"/>
                        </a:rPr>
                        <a:t>Tue 29 Dec</a:t>
                      </a:r>
                    </a:p>
                    <a:p>
                      <a:r>
                        <a:rPr lang="fr-FR" sz="1800" b="1">
                          <a:solidFill>
                            <a:srgbClr val="007F83"/>
                          </a:solidFill>
                          <a:latin typeface="Aptos"/>
                          <a:ea typeface="Aptos"/>
                          <a:cs typeface="Aptos"/>
                        </a:rPr>
                        <a:t>2026</a:t>
                      </a:r>
                    </a:p>
                  </a:txBody>
                  <a:tcPr marL="133350" marR="133350" marT="133350" marB="133350" anchor="ctr">
                    <a:solidFill>
                      <a:srgbClr val="FFFFFF"/>
                    </a:solidFill>
                  </a:tcPr>
                </a:tc>
                <a:tc>
                  <a:txBody>
                    <a:bodyPr/>
                    <a:lstStyle/>
                    <a:p>
                      <a:r>
                        <a:rPr lang="en-US" sz="1800" b="1">
                          <a:solidFill>
                            <a:srgbClr val="122C49"/>
                          </a:solidFill>
                          <a:latin typeface="Aptos"/>
                          <a:ea typeface="Aptos"/>
                          <a:cs typeface="Aptos"/>
                        </a:rPr>
                        <a:t>SU 10. Marginal Analysis</a:t>
                      </a:r>
                    </a:p>
                  </a:txBody>
                  <a:tcPr marL="133350" marR="133350" marT="133350" marB="133350" anchor="ctr">
                    <a:solidFill>
                      <a:srgbClr val="FFFFFF"/>
                    </a:solidFill>
                  </a:tcPr>
                </a:tc>
                <a:tc>
                  <a:txBody>
                    <a:bodyPr/>
                    <a:lstStyle/>
                    <a:p>
                      <a:pPr marL="285750" indent="-285750">
                        <a:buFont typeface="Arial" panose="020B0604020202020204" pitchFamily="34" charset="0"/>
                        <a:buChar char="•"/>
                      </a:pPr>
                      <a:r>
                        <a:rPr lang="en-US" sz="1800" dirty="0">
                          <a:solidFill>
                            <a:srgbClr val="233B50"/>
                          </a:solidFill>
                          <a:latin typeface="Aptos"/>
                          <a:ea typeface="Aptos"/>
                          <a:cs typeface="Aptos"/>
                        </a:rPr>
                        <a:t>10.4 Make or Buy. </a:t>
                      </a:r>
                    </a:p>
                    <a:p>
                      <a:pPr marL="285750" indent="-285750">
                        <a:buFont typeface="Arial" panose="020B0604020202020204" pitchFamily="34" charset="0"/>
                        <a:buChar char="•"/>
                      </a:pPr>
                      <a:r>
                        <a:rPr lang="en-US" sz="1800" dirty="0">
                          <a:solidFill>
                            <a:srgbClr val="233B50"/>
                          </a:solidFill>
                          <a:latin typeface="Aptos"/>
                          <a:ea typeface="Aptos"/>
                          <a:cs typeface="Aptos"/>
                        </a:rPr>
                        <a:t>10.5 Sell As Is or Process Further. </a:t>
                      </a:r>
                    </a:p>
                    <a:p>
                      <a:pPr marL="285750" indent="-285750">
                        <a:buFont typeface="Arial" panose="020B0604020202020204" pitchFamily="34" charset="0"/>
                        <a:buChar char="•"/>
                      </a:pPr>
                      <a:r>
                        <a:rPr lang="en-US" sz="1800" dirty="0">
                          <a:solidFill>
                            <a:srgbClr val="233B50"/>
                          </a:solidFill>
                          <a:latin typeface="Aptos"/>
                          <a:ea typeface="Aptos"/>
                          <a:cs typeface="Aptos"/>
                        </a:rPr>
                        <a:t>10.6 Keep or Drop.</a:t>
                      </a:r>
                    </a:p>
                  </a:txBody>
                  <a:tcPr marL="133350" marR="133350" marT="133350" marB="133350" anchor="ctr">
                    <a:solidFill>
                      <a:srgbClr val="FFFFFF"/>
                    </a:solidFill>
                  </a:tcPr>
                </a:tc>
                <a:tc>
                  <a:txBody>
                    <a:bodyPr/>
                    <a:lstStyle/>
                    <a:p>
                      <a:pPr algn="ctr"/>
                      <a:r>
                        <a:rPr lang="en-US" sz="1800">
                          <a:solidFill>
                            <a:srgbClr val="233B50"/>
                          </a:solidFill>
                          <a:latin typeface="Aptos"/>
                          <a:ea typeface="Aptos"/>
                          <a:cs typeface="Aptos"/>
                        </a:rPr>
                        <a:t>184–191</a:t>
                      </a:r>
                    </a:p>
                  </a:txBody>
                  <a:tcPr marL="133350" marR="133350" marT="133350" marB="133350" anchor="ctr">
                    <a:solidFill>
                      <a:srgbClr val="FFFFFF"/>
                    </a:solidFill>
                  </a:tcPr>
                </a:tc>
                <a:extLst>
                  <a:ext uri="{0D108BD9-81ED-4DB2-BD59-A6C34878D82A}">
                    <a16:rowId xmlns:a16="http://schemas.microsoft.com/office/drawing/2014/main" val="10002"/>
                  </a:ext>
                </a:extLst>
              </a:tr>
              <a:tr h="1143000">
                <a:tc>
                  <a:txBody>
                    <a:bodyPr/>
                    <a:lstStyle/>
                    <a:p>
                      <a:r>
                        <a:rPr lang="en-US" sz="1800" b="1">
                          <a:solidFill>
                            <a:srgbClr val="007F83"/>
                          </a:solidFill>
                          <a:latin typeface="Aptos"/>
                          <a:ea typeface="Aptos"/>
                          <a:cs typeface="Aptos"/>
                        </a:rPr>
                        <a:t>19</a:t>
                      </a:r>
                    </a:p>
                    <a:p>
                      <a:r>
                        <a:rPr lang="en-US" sz="1800" b="1">
                          <a:solidFill>
                            <a:srgbClr val="007F83"/>
                          </a:solidFill>
                          <a:latin typeface="Aptos"/>
                          <a:ea typeface="Aptos"/>
                          <a:cs typeface="Aptos"/>
                        </a:rPr>
                        <a:t>Fri 01 Jan</a:t>
                      </a:r>
                    </a:p>
                    <a:p>
                      <a:r>
                        <a:rPr lang="en-US" sz="1800" b="1">
                          <a:solidFill>
                            <a:srgbClr val="007F83"/>
                          </a:solidFill>
                          <a:latin typeface="Aptos"/>
                          <a:ea typeface="Aptos"/>
                          <a:cs typeface="Aptos"/>
                        </a:rPr>
                        <a:t>2027</a:t>
                      </a:r>
                    </a:p>
                  </a:txBody>
                  <a:tcPr marL="133350" marR="133350" marT="133350" marB="133350" anchor="ctr">
                    <a:solidFill>
                      <a:srgbClr val="F3F7F9"/>
                    </a:solidFill>
                  </a:tcPr>
                </a:tc>
                <a:tc>
                  <a:txBody>
                    <a:bodyPr/>
                    <a:lstStyle/>
                    <a:p>
                      <a:r>
                        <a:rPr lang="en-US" sz="1800" b="1">
                          <a:solidFill>
                            <a:srgbClr val="122C49"/>
                          </a:solidFill>
                          <a:latin typeface="Aptos"/>
                          <a:ea typeface="Aptos"/>
                          <a:cs typeface="Aptos"/>
                        </a:rPr>
                        <a:t>SU 11. Pricing Analysis</a:t>
                      </a:r>
                    </a:p>
                  </a:txBody>
                  <a:tcPr marL="133350" marR="133350" marT="133350" marB="133350" anchor="ctr">
                    <a:solidFill>
                      <a:srgbClr val="F3F7F9"/>
                    </a:solidFill>
                  </a:tcPr>
                </a:tc>
                <a:tc>
                  <a:txBody>
                    <a:bodyPr/>
                    <a:lstStyle/>
                    <a:p>
                      <a:pPr marL="285750" indent="-285750">
                        <a:buFont typeface="Arial" panose="020B0604020202020204" pitchFamily="34" charset="0"/>
                        <a:buChar char="•"/>
                      </a:pPr>
                      <a:r>
                        <a:rPr lang="en-US" sz="1800" dirty="0">
                          <a:solidFill>
                            <a:srgbClr val="233B50"/>
                          </a:solidFill>
                          <a:latin typeface="Aptos"/>
                          <a:ea typeface="Aptos"/>
                          <a:cs typeface="Aptos"/>
                        </a:rPr>
                        <a:t>11.1 Price Elasticity of Demand. </a:t>
                      </a:r>
                    </a:p>
                    <a:p>
                      <a:pPr marL="285750" indent="-285750">
                        <a:buFont typeface="Arial" panose="020B0604020202020204" pitchFamily="34" charset="0"/>
                        <a:buChar char="•"/>
                      </a:pPr>
                      <a:r>
                        <a:rPr lang="en-US" sz="1800" dirty="0">
                          <a:solidFill>
                            <a:srgbClr val="233B50"/>
                          </a:solidFill>
                          <a:latin typeface="Aptos"/>
                          <a:ea typeface="Aptos"/>
                          <a:cs typeface="Aptos"/>
                        </a:rPr>
                        <a:t>11.2 Market Structures.</a:t>
                      </a:r>
                    </a:p>
                  </a:txBody>
                  <a:tcPr marL="133350" marR="133350" marT="133350" marB="133350" anchor="ctr">
                    <a:solidFill>
                      <a:srgbClr val="F3F7F9"/>
                    </a:solidFill>
                  </a:tcPr>
                </a:tc>
                <a:tc>
                  <a:txBody>
                    <a:bodyPr/>
                    <a:lstStyle/>
                    <a:p>
                      <a:pPr algn="ctr"/>
                      <a:r>
                        <a:rPr lang="en-US" sz="1800">
                          <a:solidFill>
                            <a:srgbClr val="233B50"/>
                          </a:solidFill>
                          <a:latin typeface="Aptos"/>
                          <a:ea typeface="Aptos"/>
                          <a:cs typeface="Aptos"/>
                        </a:rPr>
                        <a:t>192–201</a:t>
                      </a:r>
                    </a:p>
                  </a:txBody>
                  <a:tcPr marL="133350" marR="133350" marT="133350" marB="133350" anchor="ctr">
                    <a:solidFill>
                      <a:srgbClr val="F3F7F9"/>
                    </a:solidFill>
                  </a:tcPr>
                </a:tc>
                <a:extLst>
                  <a:ext uri="{0D108BD9-81ED-4DB2-BD59-A6C34878D82A}">
                    <a16:rowId xmlns:a16="http://schemas.microsoft.com/office/drawing/2014/main" val="10003"/>
                  </a:ext>
                </a:extLst>
              </a:tr>
              <a:tr h="1143000">
                <a:tc>
                  <a:txBody>
                    <a:bodyPr/>
                    <a:lstStyle/>
                    <a:p>
                      <a:r>
                        <a:rPr lang="fr-FR" sz="1800" b="1">
                          <a:solidFill>
                            <a:srgbClr val="007F83"/>
                          </a:solidFill>
                          <a:latin typeface="Aptos"/>
                          <a:ea typeface="Aptos"/>
                          <a:cs typeface="Aptos"/>
                        </a:rPr>
                        <a:t>20</a:t>
                      </a:r>
                    </a:p>
                    <a:p>
                      <a:r>
                        <a:rPr lang="fr-FR" sz="1800" b="1">
                          <a:solidFill>
                            <a:srgbClr val="007F83"/>
                          </a:solidFill>
                          <a:latin typeface="Aptos"/>
                          <a:ea typeface="Aptos"/>
                          <a:cs typeface="Aptos"/>
                        </a:rPr>
                        <a:t>Tue 05 Jan</a:t>
                      </a:r>
                    </a:p>
                    <a:p>
                      <a:r>
                        <a:rPr lang="fr-FR" sz="1800" b="1">
                          <a:solidFill>
                            <a:srgbClr val="007F83"/>
                          </a:solidFill>
                          <a:latin typeface="Aptos"/>
                          <a:ea typeface="Aptos"/>
                          <a:cs typeface="Aptos"/>
                        </a:rPr>
                        <a:t>2027</a:t>
                      </a:r>
                    </a:p>
                  </a:txBody>
                  <a:tcPr marL="133350" marR="133350" marT="133350" marB="133350" anchor="ctr">
                    <a:solidFill>
                      <a:srgbClr val="FFFFFF"/>
                    </a:solidFill>
                  </a:tcPr>
                </a:tc>
                <a:tc>
                  <a:txBody>
                    <a:bodyPr/>
                    <a:lstStyle/>
                    <a:p>
                      <a:r>
                        <a:rPr lang="en-US" sz="1800" b="1">
                          <a:solidFill>
                            <a:srgbClr val="122C49"/>
                          </a:solidFill>
                          <a:latin typeface="Aptos"/>
                          <a:ea typeface="Aptos"/>
                          <a:cs typeface="Aptos"/>
                        </a:rPr>
                        <a:t>SU 11. Pricing Analysis</a:t>
                      </a:r>
                    </a:p>
                  </a:txBody>
                  <a:tcPr marL="133350" marR="133350" marT="133350" marB="133350" anchor="ctr">
                    <a:solidFill>
                      <a:srgbClr val="FFFFFF"/>
                    </a:solidFill>
                  </a:tcPr>
                </a:tc>
                <a:tc>
                  <a:txBody>
                    <a:bodyPr/>
                    <a:lstStyle/>
                    <a:p>
                      <a:pPr marL="285750" indent="-285750">
                        <a:buFont typeface="Arial" panose="020B0604020202020204" pitchFamily="34" charset="0"/>
                        <a:buChar char="•"/>
                      </a:pPr>
                      <a:r>
                        <a:rPr lang="en-US" sz="1800">
                          <a:solidFill>
                            <a:srgbClr val="233B50"/>
                          </a:solidFill>
                          <a:latin typeface="Aptos"/>
                          <a:ea typeface="Aptos"/>
                          <a:cs typeface="Aptos"/>
                        </a:rPr>
                        <a:t>11.3 Pricing, including buyer-based and cost-based pricing, target pricing and target costing.</a:t>
                      </a:r>
                    </a:p>
                  </a:txBody>
                  <a:tcPr marL="133350" marR="133350" marT="133350" marB="133350" anchor="ctr">
                    <a:solidFill>
                      <a:srgbClr val="FFFFFF"/>
                    </a:solidFill>
                  </a:tcPr>
                </a:tc>
                <a:tc>
                  <a:txBody>
                    <a:bodyPr/>
                    <a:lstStyle/>
                    <a:p>
                      <a:pPr algn="ctr"/>
                      <a:r>
                        <a:rPr lang="en-US" sz="1800" dirty="0">
                          <a:solidFill>
                            <a:srgbClr val="233B50"/>
                          </a:solidFill>
                          <a:latin typeface="Aptos"/>
                          <a:ea typeface="Aptos"/>
                          <a:cs typeface="Aptos"/>
                        </a:rPr>
                        <a:t>202–211</a:t>
                      </a:r>
                    </a:p>
                  </a:txBody>
                  <a:tcPr marL="133350" marR="133350" marT="133350" marB="133350" anchor="ctr">
                    <a:solidFill>
                      <a:srgbClr val="FFFFFF"/>
                    </a:solidFill>
                  </a:tcPr>
                </a:tc>
                <a:extLst>
                  <a:ext uri="{0D108BD9-81ED-4DB2-BD59-A6C34878D82A}">
                    <a16:rowId xmlns:a16="http://schemas.microsoft.com/office/drawing/2014/main" val="10004"/>
                  </a:ext>
                </a:extLst>
              </a:tr>
            </a:tbl>
          </a:graphicData>
        </a:graphic>
      </p:graphicFrame>
      <p:sp>
        <p:nvSpPr>
          <p:cNvPr id="5" name="Rectangle 4">
            <a:extLst>
              <a:ext uri="{FF2B5EF4-FFF2-40B4-BE49-F238E27FC236}">
                <a16:creationId xmlns:a16="http://schemas.microsoft.com/office/drawing/2014/main" id="{00000002-0004-4000-8000-000000000000}"/>
              </a:ext>
            </a:extLst>
          </p:cNvPr>
          <p:cNvSpPr>
            <a:spLocks noGrp="1"/>
          </p:cNvSpPr>
          <p:nvPr/>
        </p:nvSpPr>
        <p:spPr>
          <a:xfrm>
            <a:off x="13811250" y="8077200"/>
            <a:ext cx="666750" cy="285750"/>
          </a:xfrm>
          <a:prstGeom prst="rect">
            <a:avLst/>
          </a:prstGeom>
          <a:noFill/>
          <a:ln w="0">
            <a:noFill/>
          </a:ln>
        </p:spPr>
        <p:txBody>
          <a:bodyPr wrap="square">
            <a:noAutofit/>
          </a:bodyPr>
          <a:lstStyle/>
          <a:p>
            <a:pPr>
              <a:defRPr sz="1350" b="0">
                <a:solidFill>
                  <a:srgbClr val="5C6F7F"/>
                </a:solidFill>
                <a:latin typeface="Aptos"/>
                <a:ea typeface="Aptos"/>
                <a:cs typeface="Aptos"/>
              </a:defRPr>
            </a:pPr>
            <a:r>
              <a:rPr lang="en-US" sz="1350" b="0">
                <a:solidFill>
                  <a:srgbClr val="5C6F7F"/>
                </a:solidFill>
                <a:latin typeface="Aptos"/>
                <a:ea typeface="Aptos"/>
                <a:cs typeface="Aptos"/>
              </a:rPr>
              <a:t>22</a:t>
            </a:r>
            <a:endParaRPr sz="1350" b="0">
              <a:solidFill>
                <a:srgbClr val="5C6F7F"/>
              </a:solidFill>
              <a:latin typeface="Aptos"/>
              <a:ea typeface="Aptos"/>
              <a:cs typeface="Aptos"/>
            </a:endParaRPr>
          </a:p>
        </p:txBody>
      </p:sp>
      <p:sp>
        <p:nvSpPr>
          <p:cNvPr id="7" name="Section exam weighting">
            <a:extLst>
              <a:ext uri="{FF2B5EF4-FFF2-40B4-BE49-F238E27FC236}">
                <a16:creationId xmlns:a16="http://schemas.microsoft.com/office/drawing/2014/main" id="{00000002-0002-4000-8000-000000000000}"/>
              </a:ext>
            </a:extLst>
          </p:cNvPr>
          <p:cNvSpPr>
            <a:spLocks noGrp="1"/>
          </p:cNvSpPr>
          <p:nvPr/>
        </p:nvSpPr>
        <p:spPr>
          <a:xfrm>
            <a:off x="762000" y="1657350"/>
            <a:ext cx="13811250" cy="276225"/>
          </a:xfrm>
          <a:prstGeom prst="rect">
            <a:avLst/>
          </a:prstGeom>
          <a:noFill/>
          <a:ln w="0">
            <a:noFill/>
          </a:ln>
        </p:spPr>
        <p:txBody>
          <a:bodyPr wrap="square" tIns="0" bIns="0">
            <a:noAutofit/>
          </a:bodyPr>
          <a:lstStyle/>
          <a:p>
            <a:pPr>
              <a:defRPr sz="2025" b="0">
                <a:solidFill>
                  <a:srgbClr val="007F83"/>
                </a:solidFill>
                <a:latin typeface="Aptos"/>
                <a:ea typeface="Aptos"/>
                <a:cs typeface="Aptos"/>
              </a:defRPr>
            </a:pPr>
            <a:r>
              <a:rPr lang="en-US" b="1">
                <a:solidFill>
                  <a:srgbClr val="007F83"/>
                </a:solidFill>
                <a:latin typeface="Aptos"/>
                <a:ea typeface="Aptos"/>
                <a:cs typeface="Aptos"/>
              </a:rPr>
              <a:t>Section exam weight: Decision Analysis 25% (Study Units 9–11 combined)</a:t>
            </a:r>
          </a:p>
        </p:txBody>
      </p:sp>
      <p:sp>
        <p:nvSpPr>
          <p:cNvPr id="9" name="Rectangle 8">
            <a:extLst>
              <a:ext uri="{FF2B5EF4-FFF2-40B4-BE49-F238E27FC236}">
                <a16:creationId xmlns:a16="http://schemas.microsoft.com/office/drawing/2014/main" id="{95715576-CF84-6C96-356A-B61D85210F6F}"/>
              </a:ext>
            </a:extLst>
          </p:cNvPr>
          <p:cNvSpPr>
            <a:spLocks noGrp="1"/>
          </p:cNvSpPr>
          <p:nvPr/>
        </p:nvSpPr>
        <p:spPr>
          <a:xfrm>
            <a:off x="762000" y="8077200"/>
            <a:ext cx="11430000" cy="285750"/>
          </a:xfrm>
          <a:prstGeom prst="rect">
            <a:avLst/>
          </a:prstGeom>
          <a:noFill/>
          <a:ln w="0">
            <a:noFill/>
          </a:ln>
        </p:spPr>
        <p:txBody>
          <a:bodyPr wrap="square">
            <a:noAutofit/>
          </a:bodyPr>
          <a:lstStyle/>
          <a:p>
            <a:pPr>
              <a:defRPr sz="1350" b="0">
                <a:solidFill>
                  <a:srgbClr val="5C6F7F"/>
                </a:solidFill>
                <a:latin typeface="Aptos"/>
                <a:ea typeface="Aptos"/>
                <a:cs typeface="Aptos"/>
              </a:defRPr>
            </a:pPr>
            <a:r>
              <a:rPr sz="1350" b="0" dirty="0">
                <a:solidFill>
                  <a:srgbClr val="5C6F7F"/>
                </a:solidFill>
                <a:latin typeface="Aptos"/>
                <a:ea typeface="Aptos"/>
                <a:cs typeface="Aptos"/>
              </a:rPr>
              <a:t>CMA P2 202</a:t>
            </a:r>
            <a:r>
              <a:rPr lang="en-US" sz="1350" b="0">
                <a:solidFill>
                  <a:srgbClr val="5C6F7F"/>
                </a:solidFill>
                <a:latin typeface="Aptos"/>
                <a:ea typeface="Aptos"/>
                <a:cs typeface="Aptos"/>
              </a:rPr>
              <a:t>6</a:t>
            </a:r>
            <a:endParaRPr sz="1350" b="0" dirty="0">
              <a:solidFill>
                <a:srgbClr val="5C6F7F"/>
              </a:solidFill>
              <a:latin typeface="Aptos"/>
              <a:ea typeface="Aptos"/>
              <a:cs typeface="Apto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0000002-0001-4000-8000-000000000000}"/>
              </a:ext>
            </a:extLst>
          </p:cNvPr>
          <p:cNvSpPr>
            <a:spLocks noGrp="1"/>
          </p:cNvSpPr>
          <p:nvPr/>
        </p:nvSpPr>
        <p:spPr>
          <a:xfrm>
            <a:off x="762000" y="542925"/>
            <a:ext cx="13811250" cy="666750"/>
          </a:xfrm>
          <a:prstGeom prst="rect">
            <a:avLst/>
          </a:prstGeom>
          <a:noFill/>
          <a:ln w="0">
            <a:noFill/>
          </a:ln>
        </p:spPr>
        <p:txBody>
          <a:bodyPr wrap="square">
            <a:noAutofit/>
          </a:bodyPr>
          <a:lstStyle/>
          <a:p>
            <a:pPr>
              <a:defRPr sz="3675" b="1">
                <a:solidFill>
                  <a:srgbClr val="122C49"/>
                </a:solidFill>
                <a:latin typeface="Aptos"/>
                <a:ea typeface="Aptos"/>
                <a:cs typeface="Aptos"/>
              </a:defRPr>
            </a:pPr>
            <a:r>
              <a:rPr lang="en-US" sz="3675" b="1">
                <a:solidFill>
                  <a:srgbClr val="122C49"/>
                </a:solidFill>
                <a:latin typeface="Aptos"/>
                <a:ea typeface="Aptos"/>
                <a:cs typeface="Aptos"/>
              </a:rPr>
              <a:t>Risk Management</a:t>
            </a:r>
            <a:endParaRPr sz="3675" b="1">
              <a:solidFill>
                <a:srgbClr val="122C49"/>
              </a:solidFill>
              <a:latin typeface="Aptos"/>
              <a:ea typeface="Aptos"/>
              <a:cs typeface="Aptos"/>
            </a:endParaRPr>
          </a:p>
        </p:txBody>
      </p:sp>
      <p:sp>
        <p:nvSpPr>
          <p:cNvPr id="2" name="Rectangle 1">
            <a:extLst>
              <a:ext uri="{FF2B5EF4-FFF2-40B4-BE49-F238E27FC236}">
                <a16:creationId xmlns:a16="http://schemas.microsoft.com/office/drawing/2014/main" id="{00000002-0002-4000-8000-000000000000}"/>
              </a:ext>
            </a:extLst>
          </p:cNvPr>
          <p:cNvSpPr>
            <a:spLocks noGrp="1"/>
          </p:cNvSpPr>
          <p:nvPr/>
        </p:nvSpPr>
        <p:spPr>
          <a:xfrm>
            <a:off x="762000" y="1185862"/>
            <a:ext cx="13811250" cy="400050"/>
          </a:xfrm>
          <a:prstGeom prst="rect">
            <a:avLst/>
          </a:prstGeom>
          <a:noFill/>
          <a:ln w="0">
            <a:noFill/>
          </a:ln>
        </p:spPr>
        <p:txBody>
          <a:bodyPr wrap="square">
            <a:noAutofit/>
          </a:bodyPr>
          <a:lstStyle/>
          <a:p>
            <a:pPr>
              <a:defRPr sz="2025" b="0">
                <a:solidFill>
                  <a:srgbClr val="007F83"/>
                </a:solidFill>
                <a:latin typeface="Aptos"/>
                <a:ea typeface="Aptos"/>
                <a:cs typeface="Aptos"/>
              </a:defRPr>
            </a:pPr>
            <a:r>
              <a:rPr lang="en-US" sz="2400" b="0">
                <a:solidFill>
                  <a:srgbClr val="007F83"/>
                </a:solidFill>
                <a:latin typeface="Aptos"/>
                <a:ea typeface="Aptos"/>
                <a:cs typeface="Aptos"/>
              </a:rPr>
              <a:t>08 Jan 2027   /   2025 PDF session 21</a:t>
            </a:r>
            <a:endParaRPr sz="2025" b="0">
              <a:solidFill>
                <a:srgbClr val="007F83"/>
              </a:solidFill>
              <a:latin typeface="Aptos"/>
              <a:ea typeface="Aptos"/>
              <a:cs typeface="Aptos"/>
            </a:endParaRPr>
          </a:p>
        </p:txBody>
      </p:sp>
      <p:graphicFrame>
        <p:nvGraphicFramePr>
          <p:cNvPr id="3" name="Table 2"/>
          <p:cNvGraphicFramePr/>
          <p:nvPr>
            <p:extLst>
              <p:ext uri="{D42A27DB-BD31-4B8C-83A1-F6EECF244321}">
                <p14:modId xmlns:p14="http://schemas.microsoft.com/office/powerpoint/2010/main" val="3696479672"/>
              </p:ext>
            </p:extLst>
          </p:nvPr>
        </p:nvGraphicFramePr>
        <p:xfrm>
          <a:off x="762000" y="2028825"/>
          <a:ext cx="13811251" cy="1684020"/>
        </p:xfrm>
        <a:graphic>
          <a:graphicData uri="http://schemas.openxmlformats.org/drawingml/2006/table">
            <a:tbl>
              <a:tblPr/>
              <a:tblGrid>
                <a:gridCol w="1962652">
                  <a:extLst>
                    <a:ext uri="{9D8B030D-6E8A-4147-A177-3AD203B41FA5}">
                      <a16:colId xmlns:a16="http://schemas.microsoft.com/office/drawing/2014/main" val="20000"/>
                    </a:ext>
                  </a:extLst>
                </a:gridCol>
                <a:gridCol w="4984248">
                  <a:extLst>
                    <a:ext uri="{9D8B030D-6E8A-4147-A177-3AD203B41FA5}">
                      <a16:colId xmlns:a16="http://schemas.microsoft.com/office/drawing/2014/main" val="20001"/>
                    </a:ext>
                  </a:extLst>
                </a:gridCol>
                <a:gridCol w="5172911">
                  <a:extLst>
                    <a:ext uri="{9D8B030D-6E8A-4147-A177-3AD203B41FA5}">
                      <a16:colId xmlns:a16="http://schemas.microsoft.com/office/drawing/2014/main" val="20002"/>
                    </a:ext>
                  </a:extLst>
                </a:gridCol>
                <a:gridCol w="1691440">
                  <a:extLst>
                    <a:ext uri="{9D8B030D-6E8A-4147-A177-3AD203B41FA5}">
                      <a16:colId xmlns:a16="http://schemas.microsoft.com/office/drawing/2014/main" val="20003"/>
                    </a:ext>
                  </a:extLst>
                </a:gridCol>
              </a:tblGrid>
              <a:tr h="514350">
                <a:tc>
                  <a:txBody>
                    <a:bodyPr/>
                    <a:lstStyle/>
                    <a:p>
                      <a:pPr algn="ctr"/>
                      <a:r>
                        <a:rPr lang="en-US" sz="1800" b="1">
                          <a:solidFill>
                            <a:srgbClr val="FFFFFF"/>
                          </a:solidFill>
                          <a:latin typeface="Aptos"/>
                          <a:ea typeface="Aptos"/>
                          <a:cs typeface="Aptos"/>
                        </a:rPr>
                        <a:t>Session / date</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Topic in source order</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Coverage and practice</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Pages</a:t>
                      </a:r>
                    </a:p>
                  </a:txBody>
                  <a:tcPr marL="133350" marR="133350" marT="133350" marB="133350" anchor="ctr">
                    <a:solidFill>
                      <a:srgbClr val="122C49"/>
                    </a:solidFill>
                  </a:tcPr>
                </a:tc>
                <a:extLst>
                  <a:ext uri="{0D108BD9-81ED-4DB2-BD59-A6C34878D82A}">
                    <a16:rowId xmlns:a16="http://schemas.microsoft.com/office/drawing/2014/main" val="10000"/>
                  </a:ext>
                </a:extLst>
              </a:tr>
              <a:tr h="1143000">
                <a:tc>
                  <a:txBody>
                    <a:bodyPr/>
                    <a:lstStyle/>
                    <a:p>
                      <a:r>
                        <a:rPr lang="en-US" sz="1800" b="1">
                          <a:solidFill>
                            <a:srgbClr val="007F83"/>
                          </a:solidFill>
                          <a:latin typeface="Aptos"/>
                          <a:ea typeface="Aptos"/>
                          <a:cs typeface="Aptos"/>
                        </a:rPr>
                        <a:t>21</a:t>
                      </a:r>
                    </a:p>
                    <a:p>
                      <a:r>
                        <a:rPr lang="en-US" sz="1800" b="1">
                          <a:solidFill>
                            <a:srgbClr val="007F83"/>
                          </a:solidFill>
                          <a:latin typeface="Aptos"/>
                          <a:ea typeface="Aptos"/>
                          <a:cs typeface="Aptos"/>
                        </a:rPr>
                        <a:t>Fri 08 Jan</a:t>
                      </a:r>
                    </a:p>
                    <a:p>
                      <a:r>
                        <a:rPr lang="en-US" sz="1800" b="1">
                          <a:solidFill>
                            <a:srgbClr val="007F83"/>
                          </a:solidFill>
                          <a:latin typeface="Aptos"/>
                          <a:ea typeface="Aptos"/>
                          <a:cs typeface="Aptos"/>
                        </a:rPr>
                        <a:t>2027</a:t>
                      </a:r>
                    </a:p>
                  </a:txBody>
                  <a:tcPr marL="133350" marR="133350" marT="133350" marB="133350" anchor="ctr">
                    <a:solidFill>
                      <a:srgbClr val="F3F7F9"/>
                    </a:solidFill>
                  </a:tcPr>
                </a:tc>
                <a:tc>
                  <a:txBody>
                    <a:bodyPr/>
                    <a:lstStyle/>
                    <a:p>
                      <a:r>
                        <a:rPr lang="en-US" sz="1800" b="1">
                          <a:solidFill>
                            <a:srgbClr val="122C49"/>
                          </a:solidFill>
                          <a:latin typeface="Aptos"/>
                          <a:ea typeface="Aptos"/>
                          <a:cs typeface="Aptos"/>
                        </a:rPr>
                        <a:t>SU 12. Risk Management</a:t>
                      </a:r>
                    </a:p>
                  </a:txBody>
                  <a:tcPr marL="133350" marR="133350" marT="133350" marB="133350" anchor="ctr">
                    <a:solidFill>
                      <a:srgbClr val="F3F7F9"/>
                    </a:solidFill>
                  </a:tcPr>
                </a:tc>
                <a:tc>
                  <a:txBody>
                    <a:bodyPr/>
                    <a:lstStyle/>
                    <a:p>
                      <a:pPr marL="285750" indent="-285750">
                        <a:buFont typeface="Arial" panose="020B0604020202020204" pitchFamily="34" charset="0"/>
                        <a:buChar char="•"/>
                      </a:pPr>
                      <a:r>
                        <a:rPr lang="en-US" sz="1800" dirty="0">
                          <a:solidFill>
                            <a:srgbClr val="233B50"/>
                          </a:solidFill>
                          <a:latin typeface="Aptos"/>
                          <a:ea typeface="Aptos"/>
                          <a:cs typeface="Aptos"/>
                        </a:rPr>
                        <a:t>12.1 Risk Management.</a:t>
                      </a:r>
                    </a:p>
                    <a:p>
                      <a:pPr marL="285750" indent="-285750">
                        <a:buFont typeface="Arial" panose="020B0604020202020204" pitchFamily="34" charset="0"/>
                        <a:buChar char="•"/>
                      </a:pPr>
                      <a:r>
                        <a:rPr lang="en-US" sz="1800" dirty="0">
                          <a:solidFill>
                            <a:srgbClr val="233B50"/>
                          </a:solidFill>
                          <a:latin typeface="Aptos"/>
                          <a:ea typeface="Aptos"/>
                          <a:cs typeface="Aptos"/>
                        </a:rPr>
                        <a:t>12.2 COSO Enterprise Risk Management (ERM) Framework.</a:t>
                      </a:r>
                    </a:p>
                  </a:txBody>
                  <a:tcPr marL="133350" marR="133350" marT="133350" marB="133350" anchor="ctr">
                    <a:solidFill>
                      <a:srgbClr val="F3F7F9"/>
                    </a:solidFill>
                  </a:tcPr>
                </a:tc>
                <a:tc>
                  <a:txBody>
                    <a:bodyPr/>
                    <a:lstStyle/>
                    <a:p>
                      <a:pPr algn="ctr"/>
                      <a:r>
                        <a:rPr lang="en-US" sz="1800" dirty="0">
                          <a:solidFill>
                            <a:srgbClr val="233B50"/>
                          </a:solidFill>
                          <a:latin typeface="Aptos"/>
                          <a:ea typeface="Aptos"/>
                          <a:cs typeface="Aptos"/>
                        </a:rPr>
                        <a:t>212–230</a:t>
                      </a:r>
                    </a:p>
                  </a:txBody>
                  <a:tcPr marL="133350" marR="133350" marT="133350" marB="133350" anchor="ctr">
                    <a:solidFill>
                      <a:srgbClr val="F3F7F9"/>
                    </a:solidFill>
                  </a:tcPr>
                </a:tc>
                <a:extLst>
                  <a:ext uri="{0D108BD9-81ED-4DB2-BD59-A6C34878D82A}">
                    <a16:rowId xmlns:a16="http://schemas.microsoft.com/office/drawing/2014/main" val="10001"/>
                  </a:ext>
                </a:extLst>
              </a:tr>
            </a:tbl>
          </a:graphicData>
        </a:graphic>
      </p:graphicFrame>
      <p:sp>
        <p:nvSpPr>
          <p:cNvPr id="5" name="Rectangle 4">
            <a:extLst>
              <a:ext uri="{FF2B5EF4-FFF2-40B4-BE49-F238E27FC236}">
                <a16:creationId xmlns:a16="http://schemas.microsoft.com/office/drawing/2014/main" id="{00000002-0004-4000-8000-000000000000}"/>
              </a:ext>
            </a:extLst>
          </p:cNvPr>
          <p:cNvSpPr>
            <a:spLocks noGrp="1"/>
          </p:cNvSpPr>
          <p:nvPr/>
        </p:nvSpPr>
        <p:spPr>
          <a:xfrm>
            <a:off x="13811250" y="8077200"/>
            <a:ext cx="666750" cy="285750"/>
          </a:xfrm>
          <a:prstGeom prst="rect">
            <a:avLst/>
          </a:prstGeom>
          <a:noFill/>
          <a:ln w="0">
            <a:noFill/>
          </a:ln>
        </p:spPr>
        <p:txBody>
          <a:bodyPr wrap="square">
            <a:noAutofit/>
          </a:bodyPr>
          <a:lstStyle/>
          <a:p>
            <a:pPr>
              <a:defRPr sz="1350" b="0">
                <a:solidFill>
                  <a:srgbClr val="5C6F7F"/>
                </a:solidFill>
                <a:latin typeface="Aptos"/>
                <a:ea typeface="Aptos"/>
                <a:cs typeface="Aptos"/>
              </a:defRPr>
            </a:pPr>
            <a:r>
              <a:rPr lang="en-US" sz="1350" b="0">
                <a:solidFill>
                  <a:srgbClr val="5C6F7F"/>
                </a:solidFill>
                <a:latin typeface="Aptos"/>
                <a:ea typeface="Aptos"/>
                <a:cs typeface="Aptos"/>
              </a:rPr>
              <a:t>23</a:t>
            </a:r>
            <a:endParaRPr sz="1350" b="0">
              <a:solidFill>
                <a:srgbClr val="5C6F7F"/>
              </a:solidFill>
              <a:latin typeface="Aptos"/>
              <a:ea typeface="Aptos"/>
              <a:cs typeface="Aptos"/>
            </a:endParaRPr>
          </a:p>
        </p:txBody>
      </p:sp>
      <p:sp>
        <p:nvSpPr>
          <p:cNvPr id="7" name="Section exam weighting">
            <a:extLst>
              <a:ext uri="{FF2B5EF4-FFF2-40B4-BE49-F238E27FC236}">
                <a16:creationId xmlns:a16="http://schemas.microsoft.com/office/drawing/2014/main" id="{00000002-0002-4000-8000-000000000000}"/>
              </a:ext>
            </a:extLst>
          </p:cNvPr>
          <p:cNvSpPr>
            <a:spLocks noGrp="1"/>
          </p:cNvSpPr>
          <p:nvPr/>
        </p:nvSpPr>
        <p:spPr>
          <a:xfrm>
            <a:off x="762000" y="1657350"/>
            <a:ext cx="13811250" cy="276225"/>
          </a:xfrm>
          <a:prstGeom prst="rect">
            <a:avLst/>
          </a:prstGeom>
          <a:noFill/>
          <a:ln w="0">
            <a:noFill/>
          </a:ln>
        </p:spPr>
        <p:txBody>
          <a:bodyPr wrap="square" tIns="0" bIns="0">
            <a:noAutofit/>
          </a:bodyPr>
          <a:lstStyle/>
          <a:p>
            <a:pPr>
              <a:defRPr sz="2025" b="0">
                <a:solidFill>
                  <a:srgbClr val="007F83"/>
                </a:solidFill>
                <a:latin typeface="Aptos"/>
                <a:ea typeface="Aptos"/>
                <a:cs typeface="Aptos"/>
              </a:defRPr>
            </a:pPr>
            <a:r>
              <a:rPr lang="en-US" b="1">
                <a:solidFill>
                  <a:srgbClr val="007F83"/>
                </a:solidFill>
                <a:latin typeface="Aptos"/>
                <a:ea typeface="Aptos"/>
                <a:cs typeface="Aptos"/>
              </a:rPr>
              <a:t>Section exam weight: Risk Management 10%</a:t>
            </a:r>
          </a:p>
        </p:txBody>
      </p:sp>
      <p:sp>
        <p:nvSpPr>
          <p:cNvPr id="9" name="Rectangle 8">
            <a:extLst>
              <a:ext uri="{FF2B5EF4-FFF2-40B4-BE49-F238E27FC236}">
                <a16:creationId xmlns:a16="http://schemas.microsoft.com/office/drawing/2014/main" id="{8D21CC16-8359-53C9-ABFB-6D0F781E4434}"/>
              </a:ext>
            </a:extLst>
          </p:cNvPr>
          <p:cNvSpPr>
            <a:spLocks noGrp="1"/>
          </p:cNvSpPr>
          <p:nvPr/>
        </p:nvSpPr>
        <p:spPr>
          <a:xfrm>
            <a:off x="762000" y="8077200"/>
            <a:ext cx="11430000" cy="285750"/>
          </a:xfrm>
          <a:prstGeom prst="rect">
            <a:avLst/>
          </a:prstGeom>
          <a:noFill/>
          <a:ln w="0">
            <a:noFill/>
          </a:ln>
        </p:spPr>
        <p:txBody>
          <a:bodyPr wrap="square">
            <a:noAutofit/>
          </a:bodyPr>
          <a:lstStyle/>
          <a:p>
            <a:pPr>
              <a:defRPr sz="1350" b="0">
                <a:solidFill>
                  <a:srgbClr val="5C6F7F"/>
                </a:solidFill>
                <a:latin typeface="Aptos"/>
                <a:ea typeface="Aptos"/>
                <a:cs typeface="Aptos"/>
              </a:defRPr>
            </a:pPr>
            <a:r>
              <a:rPr sz="1350" b="0" dirty="0">
                <a:solidFill>
                  <a:srgbClr val="5C6F7F"/>
                </a:solidFill>
                <a:latin typeface="Aptos"/>
                <a:ea typeface="Aptos"/>
                <a:cs typeface="Aptos"/>
              </a:rPr>
              <a:t>CMA P2 202</a:t>
            </a:r>
            <a:r>
              <a:rPr lang="en-US" sz="1350" b="0">
                <a:solidFill>
                  <a:srgbClr val="5C6F7F"/>
                </a:solidFill>
                <a:latin typeface="Aptos"/>
                <a:ea typeface="Aptos"/>
                <a:cs typeface="Aptos"/>
              </a:rPr>
              <a:t>6</a:t>
            </a:r>
            <a:endParaRPr sz="1350" b="0" dirty="0">
              <a:solidFill>
                <a:srgbClr val="5C6F7F"/>
              </a:solidFill>
              <a:latin typeface="Aptos"/>
              <a:ea typeface="Aptos"/>
              <a:cs typeface="Apto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0000002-0001-4000-8000-000000000000}"/>
              </a:ext>
            </a:extLst>
          </p:cNvPr>
          <p:cNvSpPr>
            <a:spLocks noGrp="1"/>
          </p:cNvSpPr>
          <p:nvPr/>
        </p:nvSpPr>
        <p:spPr>
          <a:xfrm>
            <a:off x="762000" y="542925"/>
            <a:ext cx="13811250" cy="666750"/>
          </a:xfrm>
          <a:prstGeom prst="rect">
            <a:avLst/>
          </a:prstGeom>
          <a:noFill/>
          <a:ln w="0">
            <a:noFill/>
          </a:ln>
        </p:spPr>
        <p:txBody>
          <a:bodyPr wrap="square">
            <a:noAutofit/>
          </a:bodyPr>
          <a:lstStyle/>
          <a:p>
            <a:pPr>
              <a:defRPr sz="3675" b="1">
                <a:solidFill>
                  <a:srgbClr val="122C49"/>
                </a:solidFill>
                <a:latin typeface="Aptos"/>
                <a:ea typeface="Aptos"/>
                <a:cs typeface="Aptos"/>
              </a:defRPr>
            </a:pPr>
            <a:r>
              <a:rPr lang="en-US" sz="3675" b="1">
                <a:solidFill>
                  <a:srgbClr val="122C49"/>
                </a:solidFill>
                <a:latin typeface="Aptos"/>
                <a:ea typeface="Aptos"/>
                <a:cs typeface="Aptos"/>
              </a:rPr>
              <a:t>Investment Decisions</a:t>
            </a:r>
          </a:p>
        </p:txBody>
      </p:sp>
      <p:sp>
        <p:nvSpPr>
          <p:cNvPr id="2" name="Rectangle 1">
            <a:extLst>
              <a:ext uri="{FF2B5EF4-FFF2-40B4-BE49-F238E27FC236}">
                <a16:creationId xmlns:a16="http://schemas.microsoft.com/office/drawing/2014/main" id="{00000002-0002-4000-8000-000000000000}"/>
              </a:ext>
            </a:extLst>
          </p:cNvPr>
          <p:cNvSpPr>
            <a:spLocks noGrp="1"/>
          </p:cNvSpPr>
          <p:nvPr/>
        </p:nvSpPr>
        <p:spPr>
          <a:xfrm>
            <a:off x="762000" y="1185862"/>
            <a:ext cx="13811250" cy="400050"/>
          </a:xfrm>
          <a:prstGeom prst="rect">
            <a:avLst/>
          </a:prstGeom>
          <a:noFill/>
          <a:ln w="0">
            <a:noFill/>
          </a:ln>
        </p:spPr>
        <p:txBody>
          <a:bodyPr wrap="square">
            <a:noAutofit/>
          </a:bodyPr>
          <a:lstStyle/>
          <a:p>
            <a:pPr>
              <a:defRPr sz="2025" b="0">
                <a:solidFill>
                  <a:srgbClr val="007F83"/>
                </a:solidFill>
                <a:latin typeface="Aptos"/>
                <a:ea typeface="Aptos"/>
                <a:cs typeface="Aptos"/>
              </a:defRPr>
            </a:pPr>
            <a:r>
              <a:rPr lang="en-US" sz="2400" b="0">
                <a:solidFill>
                  <a:srgbClr val="007F83"/>
                </a:solidFill>
                <a:latin typeface="Aptos"/>
                <a:ea typeface="Aptos"/>
                <a:cs typeface="Aptos"/>
              </a:rPr>
              <a:t>12–15 January 2027   /   2025 PDF sessions 22–23</a:t>
            </a:r>
          </a:p>
        </p:txBody>
      </p:sp>
      <p:graphicFrame>
        <p:nvGraphicFramePr>
          <p:cNvPr id="3" name="Table 2"/>
          <p:cNvGraphicFramePr/>
          <p:nvPr>
            <p:extLst>
              <p:ext uri="{D42A27DB-BD31-4B8C-83A1-F6EECF244321}">
                <p14:modId xmlns:p14="http://schemas.microsoft.com/office/powerpoint/2010/main" val="4097957561"/>
              </p:ext>
            </p:extLst>
          </p:nvPr>
        </p:nvGraphicFramePr>
        <p:xfrm>
          <a:off x="762000" y="2028825"/>
          <a:ext cx="13811251" cy="3093720"/>
        </p:xfrm>
        <a:graphic>
          <a:graphicData uri="http://schemas.openxmlformats.org/drawingml/2006/table">
            <a:tbl>
              <a:tblPr/>
              <a:tblGrid>
                <a:gridCol w="1962652">
                  <a:extLst>
                    <a:ext uri="{9D8B030D-6E8A-4147-A177-3AD203B41FA5}">
                      <a16:colId xmlns:a16="http://schemas.microsoft.com/office/drawing/2014/main" val="20000"/>
                    </a:ext>
                  </a:extLst>
                </a:gridCol>
                <a:gridCol w="4984248">
                  <a:extLst>
                    <a:ext uri="{9D8B030D-6E8A-4147-A177-3AD203B41FA5}">
                      <a16:colId xmlns:a16="http://schemas.microsoft.com/office/drawing/2014/main" val="20001"/>
                    </a:ext>
                  </a:extLst>
                </a:gridCol>
                <a:gridCol w="5172911">
                  <a:extLst>
                    <a:ext uri="{9D8B030D-6E8A-4147-A177-3AD203B41FA5}">
                      <a16:colId xmlns:a16="http://schemas.microsoft.com/office/drawing/2014/main" val="20002"/>
                    </a:ext>
                  </a:extLst>
                </a:gridCol>
                <a:gridCol w="1691440">
                  <a:extLst>
                    <a:ext uri="{9D8B030D-6E8A-4147-A177-3AD203B41FA5}">
                      <a16:colId xmlns:a16="http://schemas.microsoft.com/office/drawing/2014/main" val="20003"/>
                    </a:ext>
                  </a:extLst>
                </a:gridCol>
              </a:tblGrid>
              <a:tr h="514350">
                <a:tc>
                  <a:txBody>
                    <a:bodyPr/>
                    <a:lstStyle/>
                    <a:p>
                      <a:pPr algn="ctr"/>
                      <a:r>
                        <a:rPr lang="en-US" sz="1800" b="1">
                          <a:solidFill>
                            <a:srgbClr val="FFFFFF"/>
                          </a:solidFill>
                          <a:latin typeface="Aptos"/>
                          <a:ea typeface="Aptos"/>
                          <a:cs typeface="Aptos"/>
                        </a:rPr>
                        <a:t>Session / date</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Topic in source order</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Coverage and practice</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Pages</a:t>
                      </a:r>
                    </a:p>
                  </a:txBody>
                  <a:tcPr marL="133350" marR="133350" marT="133350" marB="133350" anchor="ctr">
                    <a:solidFill>
                      <a:srgbClr val="122C49"/>
                    </a:solidFill>
                  </a:tcPr>
                </a:tc>
                <a:extLst>
                  <a:ext uri="{0D108BD9-81ED-4DB2-BD59-A6C34878D82A}">
                    <a16:rowId xmlns:a16="http://schemas.microsoft.com/office/drawing/2014/main" val="10000"/>
                  </a:ext>
                </a:extLst>
              </a:tr>
              <a:tr h="1143000">
                <a:tc>
                  <a:txBody>
                    <a:bodyPr/>
                    <a:lstStyle/>
                    <a:p>
                      <a:r>
                        <a:rPr lang="fr-FR" sz="1800" b="1">
                          <a:solidFill>
                            <a:srgbClr val="007F83"/>
                          </a:solidFill>
                          <a:latin typeface="Aptos"/>
                          <a:ea typeface="Aptos"/>
                          <a:cs typeface="Aptos"/>
                        </a:rPr>
                        <a:t>22</a:t>
                      </a:r>
                    </a:p>
                    <a:p>
                      <a:r>
                        <a:rPr lang="fr-FR" sz="1800" b="1">
                          <a:solidFill>
                            <a:srgbClr val="007F83"/>
                          </a:solidFill>
                          <a:latin typeface="Aptos"/>
                          <a:ea typeface="Aptos"/>
                          <a:cs typeface="Aptos"/>
                        </a:rPr>
                        <a:t>Tue 12 Jan</a:t>
                      </a:r>
                    </a:p>
                    <a:p>
                      <a:r>
                        <a:rPr lang="fr-FR" sz="1800" b="1">
                          <a:solidFill>
                            <a:srgbClr val="007F83"/>
                          </a:solidFill>
                          <a:latin typeface="Aptos"/>
                          <a:ea typeface="Aptos"/>
                          <a:cs typeface="Aptos"/>
                        </a:rPr>
                        <a:t>2027</a:t>
                      </a:r>
                    </a:p>
                  </a:txBody>
                  <a:tcPr marL="133350" marR="133350" marT="133350" marB="133350" anchor="ctr">
                    <a:solidFill>
                      <a:srgbClr val="F3F7F9"/>
                    </a:solidFill>
                  </a:tcPr>
                </a:tc>
                <a:tc>
                  <a:txBody>
                    <a:bodyPr/>
                    <a:lstStyle/>
                    <a:p>
                      <a:r>
                        <a:rPr lang="en-US" sz="1800" b="1">
                          <a:solidFill>
                            <a:srgbClr val="122C49"/>
                          </a:solidFill>
                          <a:latin typeface="Aptos"/>
                          <a:ea typeface="Aptos"/>
                          <a:cs typeface="Aptos"/>
                        </a:rPr>
                        <a:t>SU 13. Capital Investment Decisions</a:t>
                      </a:r>
                    </a:p>
                  </a:txBody>
                  <a:tcPr marL="133350" marR="133350" marT="133350" marB="133350" anchor="ctr">
                    <a:solidFill>
                      <a:srgbClr val="F3F7F9"/>
                    </a:solidFill>
                  </a:tcPr>
                </a:tc>
                <a:tc>
                  <a:txBody>
                    <a:bodyPr/>
                    <a:lstStyle/>
                    <a:p>
                      <a:pPr marL="285750" indent="-285750">
                        <a:buFont typeface="Arial" panose="020B0604020202020204" pitchFamily="34" charset="0"/>
                        <a:buChar char="•"/>
                      </a:pPr>
                      <a:r>
                        <a:rPr lang="en-US" sz="1800" dirty="0">
                          <a:solidFill>
                            <a:srgbClr val="233B50"/>
                          </a:solidFill>
                          <a:latin typeface="Aptos"/>
                          <a:ea typeface="Aptos"/>
                          <a:cs typeface="Aptos"/>
                        </a:rPr>
                        <a:t>13.1 The Capital Budgeting Process. </a:t>
                      </a:r>
                    </a:p>
                    <a:p>
                      <a:pPr marL="285750" indent="-285750">
                        <a:buFont typeface="Arial" panose="020B0604020202020204" pitchFamily="34" charset="0"/>
                        <a:buChar char="•"/>
                      </a:pPr>
                      <a:r>
                        <a:rPr lang="en-US" sz="1800" dirty="0">
                          <a:solidFill>
                            <a:srgbClr val="233B50"/>
                          </a:solidFill>
                          <a:latin typeface="Aptos"/>
                          <a:ea typeface="Aptos"/>
                          <a:cs typeface="Aptos"/>
                        </a:rPr>
                        <a:t>13.2 Risk Analysis and Real Options.</a:t>
                      </a:r>
                    </a:p>
                  </a:txBody>
                  <a:tcPr marL="133350" marR="133350" marT="133350" marB="133350" anchor="ctr">
                    <a:solidFill>
                      <a:srgbClr val="F3F7F9"/>
                    </a:solidFill>
                  </a:tcPr>
                </a:tc>
                <a:tc>
                  <a:txBody>
                    <a:bodyPr/>
                    <a:lstStyle/>
                    <a:p>
                      <a:pPr algn="ctr"/>
                      <a:r>
                        <a:rPr lang="en-US" sz="1800">
                          <a:solidFill>
                            <a:srgbClr val="233B50"/>
                          </a:solidFill>
                          <a:latin typeface="Aptos"/>
                          <a:ea typeface="Aptos"/>
                          <a:cs typeface="Aptos"/>
                        </a:rPr>
                        <a:t>231–241</a:t>
                      </a:r>
                    </a:p>
                  </a:txBody>
                  <a:tcPr marL="133350" marR="133350" marT="133350" marB="133350" anchor="ctr">
                    <a:solidFill>
                      <a:srgbClr val="F3F7F9"/>
                    </a:solidFill>
                  </a:tcPr>
                </a:tc>
                <a:extLst>
                  <a:ext uri="{0D108BD9-81ED-4DB2-BD59-A6C34878D82A}">
                    <a16:rowId xmlns:a16="http://schemas.microsoft.com/office/drawing/2014/main" val="10002"/>
                  </a:ext>
                </a:extLst>
              </a:tr>
              <a:tr h="1409700">
                <a:tc>
                  <a:txBody>
                    <a:bodyPr/>
                    <a:lstStyle/>
                    <a:p>
                      <a:r>
                        <a:rPr lang="sv-SE" sz="1800" b="1">
                          <a:solidFill>
                            <a:srgbClr val="007F83"/>
                          </a:solidFill>
                          <a:latin typeface="Aptos"/>
                          <a:ea typeface="Aptos"/>
                          <a:cs typeface="Aptos"/>
                        </a:rPr>
                        <a:t>23</a:t>
                      </a:r>
                    </a:p>
                    <a:p>
                      <a:r>
                        <a:rPr lang="sv-SE" sz="1800" b="1">
                          <a:solidFill>
                            <a:srgbClr val="007F83"/>
                          </a:solidFill>
                          <a:latin typeface="Aptos"/>
                          <a:ea typeface="Aptos"/>
                          <a:cs typeface="Aptos"/>
                        </a:rPr>
                        <a:t>Fri 15 Jan</a:t>
                      </a:r>
                    </a:p>
                    <a:p>
                      <a:r>
                        <a:rPr lang="sv-SE" sz="1800" b="1">
                          <a:solidFill>
                            <a:srgbClr val="007F83"/>
                          </a:solidFill>
                          <a:latin typeface="Aptos"/>
                          <a:ea typeface="Aptos"/>
                          <a:cs typeface="Aptos"/>
                        </a:rPr>
                        <a:t>2027</a:t>
                      </a:r>
                    </a:p>
                  </a:txBody>
                  <a:tcPr marL="133350" marR="133350" marT="133350" marB="133350" anchor="ctr">
                    <a:solidFill>
                      <a:srgbClr val="FFFFFF"/>
                    </a:solidFill>
                  </a:tcPr>
                </a:tc>
                <a:tc>
                  <a:txBody>
                    <a:bodyPr/>
                    <a:lstStyle/>
                    <a:p>
                      <a:r>
                        <a:rPr lang="en-US" sz="1800" b="1">
                          <a:solidFill>
                            <a:srgbClr val="122C49"/>
                          </a:solidFill>
                          <a:latin typeface="Aptos"/>
                          <a:ea typeface="Aptos"/>
                          <a:cs typeface="Aptos"/>
                        </a:rPr>
                        <a:t>SU 13. Capital Investment Decisions</a:t>
                      </a:r>
                    </a:p>
                  </a:txBody>
                  <a:tcPr marL="133350" marR="133350" marT="133350" marB="133350" anchor="ctr">
                    <a:solidFill>
                      <a:srgbClr val="FFFFFF"/>
                    </a:solidFill>
                  </a:tcPr>
                </a:tc>
                <a:tc>
                  <a:txBody>
                    <a:bodyPr/>
                    <a:lstStyle/>
                    <a:p>
                      <a:pPr marL="285750" indent="-285750">
                        <a:buFont typeface="Arial" panose="020B0604020202020204" pitchFamily="34" charset="0"/>
                        <a:buChar char="•"/>
                      </a:pPr>
                      <a:r>
                        <a:rPr lang="en-US" sz="1800" dirty="0">
                          <a:solidFill>
                            <a:srgbClr val="233B50"/>
                          </a:solidFill>
                          <a:latin typeface="Aptos"/>
                          <a:ea typeface="Aptos"/>
                          <a:cs typeface="Aptos"/>
                        </a:rPr>
                        <a:t>13.3 Discounted Cash Flow Analysis. </a:t>
                      </a:r>
                    </a:p>
                    <a:p>
                      <a:pPr marL="285750" indent="-285750">
                        <a:buFont typeface="Arial" panose="020B0604020202020204" pitchFamily="34" charset="0"/>
                        <a:buChar char="•"/>
                      </a:pPr>
                      <a:r>
                        <a:rPr lang="en-US" sz="1800" dirty="0">
                          <a:solidFill>
                            <a:srgbClr val="233B50"/>
                          </a:solidFill>
                          <a:latin typeface="Aptos"/>
                          <a:ea typeface="Aptos"/>
                          <a:cs typeface="Aptos"/>
                        </a:rPr>
                        <a:t>13.4 Payback and Discounted Payback.</a:t>
                      </a:r>
                    </a:p>
                    <a:p>
                      <a:pPr marL="285750" indent="-285750">
                        <a:buFont typeface="Arial" panose="020B0604020202020204" pitchFamily="34" charset="0"/>
                        <a:buChar char="•"/>
                      </a:pPr>
                      <a:r>
                        <a:rPr lang="en-US" sz="1800" dirty="0">
                          <a:solidFill>
                            <a:srgbClr val="233B50"/>
                          </a:solidFill>
                          <a:latin typeface="Aptos"/>
                          <a:ea typeface="Aptos"/>
                          <a:cs typeface="Aptos"/>
                        </a:rPr>
                        <a:t> 13.5 Ranking Investment Projects.</a:t>
                      </a:r>
                    </a:p>
                    <a:p>
                      <a:pPr marL="285750" indent="-285750">
                        <a:buFont typeface="Arial" panose="020B0604020202020204" pitchFamily="34" charset="0"/>
                        <a:buChar char="•"/>
                      </a:pPr>
                      <a:r>
                        <a:rPr lang="en-US" sz="1800" dirty="0">
                          <a:solidFill>
                            <a:srgbClr val="233B50"/>
                          </a:solidFill>
                          <a:latin typeface="Aptos"/>
                          <a:ea typeface="Aptos"/>
                          <a:cs typeface="Aptos"/>
                        </a:rPr>
                        <a:t>13.6 Comprehensive Examples.</a:t>
                      </a:r>
                    </a:p>
                  </a:txBody>
                  <a:tcPr marL="133350" marR="133350" marT="133350" marB="133350" anchor="ctr">
                    <a:solidFill>
                      <a:srgbClr val="FFFFFF"/>
                    </a:solidFill>
                  </a:tcPr>
                </a:tc>
                <a:tc>
                  <a:txBody>
                    <a:bodyPr/>
                    <a:lstStyle/>
                    <a:p>
                      <a:pPr algn="ctr"/>
                      <a:r>
                        <a:rPr lang="en-US" sz="1800" dirty="0">
                          <a:solidFill>
                            <a:srgbClr val="233B50"/>
                          </a:solidFill>
                          <a:latin typeface="Aptos"/>
                          <a:ea typeface="Aptos"/>
                          <a:cs typeface="Aptos"/>
                        </a:rPr>
                        <a:t>242–258</a:t>
                      </a:r>
                    </a:p>
                  </a:txBody>
                  <a:tcPr marL="133350" marR="133350" marT="133350" marB="133350" anchor="ctr">
                    <a:solidFill>
                      <a:srgbClr val="FFFFFF"/>
                    </a:solidFill>
                  </a:tcPr>
                </a:tc>
                <a:extLst>
                  <a:ext uri="{0D108BD9-81ED-4DB2-BD59-A6C34878D82A}">
                    <a16:rowId xmlns:a16="http://schemas.microsoft.com/office/drawing/2014/main" val="10003"/>
                  </a:ext>
                </a:extLst>
              </a:tr>
            </a:tbl>
          </a:graphicData>
        </a:graphic>
      </p:graphicFrame>
      <p:sp>
        <p:nvSpPr>
          <p:cNvPr id="5" name="Rectangle 4">
            <a:extLst>
              <a:ext uri="{FF2B5EF4-FFF2-40B4-BE49-F238E27FC236}">
                <a16:creationId xmlns:a16="http://schemas.microsoft.com/office/drawing/2014/main" id="{00000002-0004-4000-8000-000000000000}"/>
              </a:ext>
            </a:extLst>
          </p:cNvPr>
          <p:cNvSpPr>
            <a:spLocks noGrp="1"/>
          </p:cNvSpPr>
          <p:nvPr/>
        </p:nvSpPr>
        <p:spPr>
          <a:xfrm>
            <a:off x="13811250" y="8077200"/>
            <a:ext cx="666750" cy="285750"/>
          </a:xfrm>
          <a:prstGeom prst="rect">
            <a:avLst/>
          </a:prstGeom>
          <a:noFill/>
          <a:ln w="0">
            <a:noFill/>
          </a:ln>
        </p:spPr>
        <p:txBody>
          <a:bodyPr wrap="square">
            <a:noAutofit/>
          </a:bodyPr>
          <a:lstStyle/>
          <a:p>
            <a:pPr>
              <a:defRPr sz="1350" b="0">
                <a:solidFill>
                  <a:srgbClr val="5C6F7F"/>
                </a:solidFill>
                <a:latin typeface="Aptos"/>
                <a:ea typeface="Aptos"/>
                <a:cs typeface="Aptos"/>
              </a:defRPr>
            </a:pPr>
            <a:r>
              <a:rPr lang="en-US" sz="1350" b="0">
                <a:solidFill>
                  <a:srgbClr val="5C6F7F"/>
                </a:solidFill>
                <a:latin typeface="Aptos"/>
                <a:ea typeface="Aptos"/>
                <a:cs typeface="Aptos"/>
              </a:rPr>
              <a:t>24</a:t>
            </a:r>
            <a:endParaRPr sz="1350" b="0">
              <a:solidFill>
                <a:srgbClr val="5C6F7F"/>
              </a:solidFill>
              <a:latin typeface="Aptos"/>
              <a:ea typeface="Aptos"/>
              <a:cs typeface="Aptos"/>
            </a:endParaRPr>
          </a:p>
        </p:txBody>
      </p:sp>
      <p:sp>
        <p:nvSpPr>
          <p:cNvPr id="7" name="Section exam weighting">
            <a:extLst>
              <a:ext uri="{FF2B5EF4-FFF2-40B4-BE49-F238E27FC236}">
                <a16:creationId xmlns:a16="http://schemas.microsoft.com/office/drawing/2014/main" id="{00000002-0002-4000-8000-000000000000}"/>
              </a:ext>
            </a:extLst>
          </p:cNvPr>
          <p:cNvSpPr>
            <a:spLocks noGrp="1"/>
          </p:cNvSpPr>
          <p:nvPr/>
        </p:nvSpPr>
        <p:spPr>
          <a:xfrm>
            <a:off x="762000" y="1657350"/>
            <a:ext cx="13811250" cy="276225"/>
          </a:xfrm>
          <a:prstGeom prst="rect">
            <a:avLst/>
          </a:prstGeom>
          <a:noFill/>
          <a:ln w="0">
            <a:noFill/>
          </a:ln>
        </p:spPr>
        <p:txBody>
          <a:bodyPr wrap="square" tIns="0" bIns="0">
            <a:noAutofit/>
          </a:bodyPr>
          <a:lstStyle/>
          <a:p>
            <a:pPr>
              <a:defRPr sz="2025" b="0">
                <a:solidFill>
                  <a:srgbClr val="007F83"/>
                </a:solidFill>
                <a:latin typeface="Aptos"/>
                <a:ea typeface="Aptos"/>
                <a:cs typeface="Aptos"/>
              </a:defRPr>
            </a:pPr>
            <a:r>
              <a:rPr lang="en-US" b="1">
                <a:solidFill>
                  <a:srgbClr val="007F83"/>
                </a:solidFill>
                <a:latin typeface="Aptos"/>
                <a:ea typeface="Aptos"/>
                <a:cs typeface="Aptos"/>
              </a:rPr>
              <a:t>Section exam weight: Investment Decisions 10%</a:t>
            </a:r>
          </a:p>
        </p:txBody>
      </p:sp>
      <p:sp>
        <p:nvSpPr>
          <p:cNvPr id="9" name="Rectangle 8">
            <a:extLst>
              <a:ext uri="{FF2B5EF4-FFF2-40B4-BE49-F238E27FC236}">
                <a16:creationId xmlns:a16="http://schemas.microsoft.com/office/drawing/2014/main" id="{D3A78D56-E053-6C16-E8E4-FC020C038BC4}"/>
              </a:ext>
            </a:extLst>
          </p:cNvPr>
          <p:cNvSpPr>
            <a:spLocks noGrp="1"/>
          </p:cNvSpPr>
          <p:nvPr/>
        </p:nvSpPr>
        <p:spPr>
          <a:xfrm>
            <a:off x="762000" y="8077200"/>
            <a:ext cx="11430000" cy="285750"/>
          </a:xfrm>
          <a:prstGeom prst="rect">
            <a:avLst/>
          </a:prstGeom>
          <a:noFill/>
          <a:ln w="0">
            <a:noFill/>
          </a:ln>
        </p:spPr>
        <p:txBody>
          <a:bodyPr wrap="square">
            <a:noAutofit/>
          </a:bodyPr>
          <a:lstStyle/>
          <a:p>
            <a:pPr>
              <a:defRPr sz="1350" b="0">
                <a:solidFill>
                  <a:srgbClr val="5C6F7F"/>
                </a:solidFill>
                <a:latin typeface="Aptos"/>
                <a:ea typeface="Aptos"/>
                <a:cs typeface="Aptos"/>
              </a:defRPr>
            </a:pPr>
            <a:r>
              <a:rPr sz="1350" b="0" dirty="0">
                <a:solidFill>
                  <a:srgbClr val="5C6F7F"/>
                </a:solidFill>
                <a:latin typeface="Aptos"/>
                <a:ea typeface="Aptos"/>
                <a:cs typeface="Aptos"/>
              </a:rPr>
              <a:t>CMA P2 202</a:t>
            </a:r>
            <a:r>
              <a:rPr lang="en-US" sz="1350" b="0">
                <a:solidFill>
                  <a:srgbClr val="5C6F7F"/>
                </a:solidFill>
                <a:latin typeface="Aptos"/>
                <a:ea typeface="Aptos"/>
                <a:cs typeface="Aptos"/>
              </a:rPr>
              <a:t>6</a:t>
            </a:r>
            <a:endParaRPr sz="1350" b="0" dirty="0">
              <a:solidFill>
                <a:srgbClr val="5C6F7F"/>
              </a:solidFill>
              <a:latin typeface="Aptos"/>
              <a:ea typeface="Aptos"/>
              <a:cs typeface="Apto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0000002-0001-4000-8000-000000000000}"/>
              </a:ext>
            </a:extLst>
          </p:cNvPr>
          <p:cNvSpPr>
            <a:spLocks noGrp="1"/>
          </p:cNvSpPr>
          <p:nvPr/>
        </p:nvSpPr>
        <p:spPr>
          <a:xfrm>
            <a:off x="762000" y="542925"/>
            <a:ext cx="13811250" cy="666750"/>
          </a:xfrm>
          <a:prstGeom prst="rect">
            <a:avLst/>
          </a:prstGeom>
          <a:noFill/>
          <a:ln w="0">
            <a:noFill/>
          </a:ln>
        </p:spPr>
        <p:txBody>
          <a:bodyPr wrap="square">
            <a:noAutofit/>
          </a:bodyPr>
          <a:lstStyle/>
          <a:p>
            <a:pPr>
              <a:defRPr sz="3675" b="1">
                <a:solidFill>
                  <a:srgbClr val="122C49"/>
                </a:solidFill>
                <a:latin typeface="Aptos"/>
                <a:ea typeface="Aptos"/>
                <a:cs typeface="Aptos"/>
              </a:defRPr>
            </a:pPr>
            <a:r>
              <a:rPr lang="en-US" sz="3675" b="1">
                <a:solidFill>
                  <a:srgbClr val="122C49"/>
                </a:solidFill>
                <a:latin typeface="Aptos"/>
                <a:ea typeface="Aptos"/>
                <a:cs typeface="Aptos"/>
              </a:rPr>
              <a:t>Professional Ethics</a:t>
            </a:r>
          </a:p>
        </p:txBody>
      </p:sp>
      <p:sp>
        <p:nvSpPr>
          <p:cNvPr id="2" name="Rectangle 1">
            <a:extLst>
              <a:ext uri="{FF2B5EF4-FFF2-40B4-BE49-F238E27FC236}">
                <a16:creationId xmlns:a16="http://schemas.microsoft.com/office/drawing/2014/main" id="{00000002-0002-4000-8000-000000000000}"/>
              </a:ext>
            </a:extLst>
          </p:cNvPr>
          <p:cNvSpPr>
            <a:spLocks noGrp="1"/>
          </p:cNvSpPr>
          <p:nvPr/>
        </p:nvSpPr>
        <p:spPr>
          <a:xfrm>
            <a:off x="762000" y="1185862"/>
            <a:ext cx="13811250" cy="400050"/>
          </a:xfrm>
          <a:prstGeom prst="rect">
            <a:avLst/>
          </a:prstGeom>
          <a:noFill/>
          <a:ln w="0">
            <a:noFill/>
          </a:ln>
        </p:spPr>
        <p:txBody>
          <a:bodyPr wrap="square">
            <a:noAutofit/>
          </a:bodyPr>
          <a:lstStyle/>
          <a:p>
            <a:pPr>
              <a:defRPr sz="2025" b="0">
                <a:solidFill>
                  <a:srgbClr val="007F83"/>
                </a:solidFill>
                <a:latin typeface="Aptos"/>
                <a:ea typeface="Aptos"/>
                <a:cs typeface="Aptos"/>
              </a:defRPr>
            </a:pPr>
            <a:r>
              <a:rPr lang="en-US" sz="2400" b="0">
                <a:solidFill>
                  <a:srgbClr val="007F83"/>
                </a:solidFill>
                <a:latin typeface="Aptos"/>
                <a:ea typeface="Aptos"/>
                <a:cs typeface="Aptos"/>
              </a:rPr>
              <a:t>19 Jan 2027   /   2025 PDF session 24</a:t>
            </a:r>
          </a:p>
        </p:txBody>
      </p:sp>
      <p:graphicFrame>
        <p:nvGraphicFramePr>
          <p:cNvPr id="3" name="Table 2"/>
          <p:cNvGraphicFramePr/>
          <p:nvPr>
            <p:extLst>
              <p:ext uri="{D42A27DB-BD31-4B8C-83A1-F6EECF244321}">
                <p14:modId xmlns:p14="http://schemas.microsoft.com/office/powerpoint/2010/main" val="106672882"/>
              </p:ext>
            </p:extLst>
          </p:nvPr>
        </p:nvGraphicFramePr>
        <p:xfrm>
          <a:off x="762000" y="2028825"/>
          <a:ext cx="13811251" cy="1950720"/>
        </p:xfrm>
        <a:graphic>
          <a:graphicData uri="http://schemas.openxmlformats.org/drawingml/2006/table">
            <a:tbl>
              <a:tblPr/>
              <a:tblGrid>
                <a:gridCol w="1962652">
                  <a:extLst>
                    <a:ext uri="{9D8B030D-6E8A-4147-A177-3AD203B41FA5}">
                      <a16:colId xmlns:a16="http://schemas.microsoft.com/office/drawing/2014/main" val="20000"/>
                    </a:ext>
                  </a:extLst>
                </a:gridCol>
                <a:gridCol w="4984248">
                  <a:extLst>
                    <a:ext uri="{9D8B030D-6E8A-4147-A177-3AD203B41FA5}">
                      <a16:colId xmlns:a16="http://schemas.microsoft.com/office/drawing/2014/main" val="20001"/>
                    </a:ext>
                  </a:extLst>
                </a:gridCol>
                <a:gridCol w="5172911">
                  <a:extLst>
                    <a:ext uri="{9D8B030D-6E8A-4147-A177-3AD203B41FA5}">
                      <a16:colId xmlns:a16="http://schemas.microsoft.com/office/drawing/2014/main" val="20002"/>
                    </a:ext>
                  </a:extLst>
                </a:gridCol>
                <a:gridCol w="1691440">
                  <a:extLst>
                    <a:ext uri="{9D8B030D-6E8A-4147-A177-3AD203B41FA5}">
                      <a16:colId xmlns:a16="http://schemas.microsoft.com/office/drawing/2014/main" val="20003"/>
                    </a:ext>
                  </a:extLst>
                </a:gridCol>
              </a:tblGrid>
              <a:tr h="514350">
                <a:tc>
                  <a:txBody>
                    <a:bodyPr/>
                    <a:lstStyle/>
                    <a:p>
                      <a:pPr algn="ctr"/>
                      <a:r>
                        <a:rPr lang="en-US" sz="1800" b="1">
                          <a:solidFill>
                            <a:srgbClr val="FFFFFF"/>
                          </a:solidFill>
                          <a:latin typeface="Aptos"/>
                          <a:ea typeface="Aptos"/>
                          <a:cs typeface="Aptos"/>
                        </a:rPr>
                        <a:t>Session / date</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Topic in source order</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Coverage and practice</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Pages</a:t>
                      </a:r>
                    </a:p>
                  </a:txBody>
                  <a:tcPr marL="133350" marR="133350" marT="133350" marB="133350" anchor="ctr">
                    <a:solidFill>
                      <a:srgbClr val="122C49"/>
                    </a:solidFill>
                  </a:tcPr>
                </a:tc>
                <a:extLst>
                  <a:ext uri="{0D108BD9-81ED-4DB2-BD59-A6C34878D82A}">
                    <a16:rowId xmlns:a16="http://schemas.microsoft.com/office/drawing/2014/main" val="10000"/>
                  </a:ext>
                </a:extLst>
              </a:tr>
              <a:tr h="1409700">
                <a:tc>
                  <a:txBody>
                    <a:bodyPr/>
                    <a:lstStyle/>
                    <a:p>
                      <a:r>
                        <a:rPr lang="en-US" sz="1800" b="1">
                          <a:solidFill>
                            <a:srgbClr val="007F83"/>
                          </a:solidFill>
                          <a:latin typeface="Aptos"/>
                          <a:ea typeface="Aptos"/>
                          <a:cs typeface="Aptos"/>
                        </a:rPr>
                        <a:t>24</a:t>
                      </a:r>
                    </a:p>
                    <a:p>
                      <a:r>
                        <a:rPr lang="en-US" sz="1800" b="1">
                          <a:solidFill>
                            <a:srgbClr val="007F83"/>
                          </a:solidFill>
                          <a:latin typeface="Aptos"/>
                          <a:ea typeface="Aptos"/>
                          <a:cs typeface="Aptos"/>
                        </a:rPr>
                        <a:t>Tue 19 Jan</a:t>
                      </a:r>
                    </a:p>
                    <a:p>
                      <a:r>
                        <a:rPr lang="en-US" sz="1800" b="1">
                          <a:solidFill>
                            <a:srgbClr val="007F83"/>
                          </a:solidFill>
                          <a:latin typeface="Aptos"/>
                          <a:ea typeface="Aptos"/>
                          <a:cs typeface="Aptos"/>
                        </a:rPr>
                        <a:t>2027</a:t>
                      </a:r>
                    </a:p>
                  </a:txBody>
                  <a:tcPr marL="133350" marR="133350" marT="133350" marB="133350" anchor="ctr">
                    <a:solidFill>
                      <a:srgbClr val="F3F7F9"/>
                    </a:solidFill>
                  </a:tcPr>
                </a:tc>
                <a:tc>
                  <a:txBody>
                    <a:bodyPr/>
                    <a:lstStyle/>
                    <a:p>
                      <a:r>
                        <a:rPr lang="en-US" sz="1800" b="1">
                          <a:solidFill>
                            <a:srgbClr val="122C49"/>
                          </a:solidFill>
                          <a:latin typeface="Aptos"/>
                          <a:ea typeface="Aptos"/>
                          <a:cs typeface="Aptos"/>
                        </a:rPr>
                        <a:t>SU 14. Ethical Considerations for Professionals</a:t>
                      </a:r>
                    </a:p>
                  </a:txBody>
                  <a:tcPr marL="133350" marR="133350" marT="133350" marB="133350" anchor="ctr">
                    <a:solidFill>
                      <a:srgbClr val="F3F7F9"/>
                    </a:solidFill>
                  </a:tcPr>
                </a:tc>
                <a:tc>
                  <a:txBody>
                    <a:bodyPr/>
                    <a:lstStyle/>
                    <a:p>
                      <a:pPr marL="285750" indent="-285750">
                        <a:buFont typeface="Arial" panose="020B0604020202020204" pitchFamily="34" charset="0"/>
                        <a:buChar char="•"/>
                      </a:pPr>
                      <a:r>
                        <a:rPr lang="en-US" sz="1800" dirty="0">
                          <a:solidFill>
                            <a:srgbClr val="233B50"/>
                          </a:solidFill>
                          <a:latin typeface="Aptos"/>
                          <a:ea typeface="Aptos"/>
                          <a:cs typeface="Aptos"/>
                        </a:rPr>
                        <a:t>14.1 Business Ethics. </a:t>
                      </a:r>
                    </a:p>
                    <a:p>
                      <a:pPr marL="285750" indent="-285750">
                        <a:buFont typeface="Arial" panose="020B0604020202020204" pitchFamily="34" charset="0"/>
                        <a:buChar char="•"/>
                      </a:pPr>
                      <a:r>
                        <a:rPr lang="en-US" sz="1800" dirty="0">
                          <a:solidFill>
                            <a:srgbClr val="233B50"/>
                          </a:solidFill>
                          <a:latin typeface="Aptos"/>
                          <a:ea typeface="Aptos"/>
                          <a:cs typeface="Aptos"/>
                        </a:rPr>
                        <a:t>14.2 Ethics for Management Accountants. </a:t>
                      </a:r>
                    </a:p>
                    <a:p>
                      <a:pPr marL="285750" indent="-285750">
                        <a:buFont typeface="Arial" panose="020B0604020202020204" pitchFamily="34" charset="0"/>
                        <a:buChar char="•"/>
                      </a:pPr>
                      <a:r>
                        <a:rPr lang="en-US" sz="1800" dirty="0">
                          <a:solidFill>
                            <a:srgbClr val="233B50"/>
                          </a:solidFill>
                          <a:latin typeface="Aptos"/>
                          <a:ea typeface="Aptos"/>
                          <a:cs typeface="Aptos"/>
                        </a:rPr>
                        <a:t>14.3 Fraud and the Fraud Risk Model (Fraud Triangle).</a:t>
                      </a:r>
                    </a:p>
                  </a:txBody>
                  <a:tcPr marL="133350" marR="133350" marT="133350" marB="133350" anchor="ctr">
                    <a:solidFill>
                      <a:srgbClr val="F3F7F9"/>
                    </a:solidFill>
                  </a:tcPr>
                </a:tc>
                <a:tc>
                  <a:txBody>
                    <a:bodyPr/>
                    <a:lstStyle/>
                    <a:p>
                      <a:pPr algn="ctr"/>
                      <a:r>
                        <a:rPr lang="en-US" sz="1800" dirty="0">
                          <a:solidFill>
                            <a:srgbClr val="233B50"/>
                          </a:solidFill>
                          <a:latin typeface="Aptos"/>
                          <a:ea typeface="Aptos"/>
                          <a:cs typeface="Aptos"/>
                        </a:rPr>
                        <a:t>259–270</a:t>
                      </a:r>
                    </a:p>
                  </a:txBody>
                  <a:tcPr marL="133350" marR="133350" marT="133350" marB="133350" anchor="ctr">
                    <a:solidFill>
                      <a:srgbClr val="F3F7F9"/>
                    </a:solidFill>
                  </a:tcPr>
                </a:tc>
                <a:extLst>
                  <a:ext uri="{0D108BD9-81ED-4DB2-BD59-A6C34878D82A}">
                    <a16:rowId xmlns:a16="http://schemas.microsoft.com/office/drawing/2014/main" val="10004"/>
                  </a:ext>
                </a:extLst>
              </a:tr>
            </a:tbl>
          </a:graphicData>
        </a:graphic>
      </p:graphicFrame>
      <p:sp>
        <p:nvSpPr>
          <p:cNvPr id="5" name="Rectangle 4">
            <a:extLst>
              <a:ext uri="{FF2B5EF4-FFF2-40B4-BE49-F238E27FC236}">
                <a16:creationId xmlns:a16="http://schemas.microsoft.com/office/drawing/2014/main" id="{00000002-0004-4000-8000-000000000000}"/>
              </a:ext>
            </a:extLst>
          </p:cNvPr>
          <p:cNvSpPr>
            <a:spLocks noGrp="1"/>
          </p:cNvSpPr>
          <p:nvPr/>
        </p:nvSpPr>
        <p:spPr>
          <a:xfrm>
            <a:off x="13811250" y="8077200"/>
            <a:ext cx="666750" cy="285750"/>
          </a:xfrm>
          <a:prstGeom prst="rect">
            <a:avLst/>
          </a:prstGeom>
          <a:noFill/>
          <a:ln w="0">
            <a:noFill/>
          </a:ln>
        </p:spPr>
        <p:txBody>
          <a:bodyPr wrap="square">
            <a:noAutofit/>
          </a:bodyPr>
          <a:lstStyle/>
          <a:p>
            <a:pPr>
              <a:defRPr sz="1350" b="0">
                <a:solidFill>
                  <a:srgbClr val="5C6F7F"/>
                </a:solidFill>
                <a:latin typeface="Aptos"/>
                <a:ea typeface="Aptos"/>
                <a:cs typeface="Aptos"/>
              </a:defRPr>
            </a:pPr>
            <a:r>
              <a:rPr lang="en-US" sz="1350" b="0">
                <a:solidFill>
                  <a:srgbClr val="5C6F7F"/>
                </a:solidFill>
                <a:latin typeface="Aptos"/>
                <a:ea typeface="Aptos"/>
                <a:cs typeface="Aptos"/>
              </a:rPr>
              <a:t>25</a:t>
            </a:r>
            <a:endParaRPr sz="1350" b="0">
              <a:solidFill>
                <a:srgbClr val="5C6F7F"/>
              </a:solidFill>
              <a:latin typeface="Aptos"/>
              <a:ea typeface="Aptos"/>
              <a:cs typeface="Aptos"/>
            </a:endParaRPr>
          </a:p>
        </p:txBody>
      </p:sp>
      <p:sp>
        <p:nvSpPr>
          <p:cNvPr id="7" name="Section exam weighting">
            <a:extLst>
              <a:ext uri="{FF2B5EF4-FFF2-40B4-BE49-F238E27FC236}">
                <a16:creationId xmlns:a16="http://schemas.microsoft.com/office/drawing/2014/main" id="{00000002-0002-4000-8000-000000000000}"/>
              </a:ext>
            </a:extLst>
          </p:cNvPr>
          <p:cNvSpPr>
            <a:spLocks noGrp="1"/>
          </p:cNvSpPr>
          <p:nvPr/>
        </p:nvSpPr>
        <p:spPr>
          <a:xfrm>
            <a:off x="762000" y="1657350"/>
            <a:ext cx="13811250" cy="276225"/>
          </a:xfrm>
          <a:prstGeom prst="rect">
            <a:avLst/>
          </a:prstGeom>
          <a:noFill/>
          <a:ln w="0">
            <a:noFill/>
          </a:ln>
        </p:spPr>
        <p:txBody>
          <a:bodyPr wrap="square" tIns="0" bIns="0">
            <a:noAutofit/>
          </a:bodyPr>
          <a:lstStyle/>
          <a:p>
            <a:pPr>
              <a:defRPr sz="2025" b="0">
                <a:solidFill>
                  <a:srgbClr val="007F83"/>
                </a:solidFill>
                <a:latin typeface="Aptos"/>
                <a:ea typeface="Aptos"/>
                <a:cs typeface="Aptos"/>
              </a:defRPr>
            </a:pPr>
            <a:r>
              <a:rPr lang="en-US" b="1">
                <a:solidFill>
                  <a:srgbClr val="007F83"/>
                </a:solidFill>
                <a:latin typeface="Aptos"/>
                <a:ea typeface="Aptos"/>
                <a:cs typeface="Aptos"/>
              </a:rPr>
              <a:t>Section exam weight: Professional Ethics 15%</a:t>
            </a:r>
          </a:p>
        </p:txBody>
      </p:sp>
      <p:sp>
        <p:nvSpPr>
          <p:cNvPr id="9" name="Rectangle 8">
            <a:extLst>
              <a:ext uri="{FF2B5EF4-FFF2-40B4-BE49-F238E27FC236}">
                <a16:creationId xmlns:a16="http://schemas.microsoft.com/office/drawing/2014/main" id="{D588B1E6-0977-F597-A00F-5A12312372A6}"/>
              </a:ext>
            </a:extLst>
          </p:cNvPr>
          <p:cNvSpPr>
            <a:spLocks noGrp="1"/>
          </p:cNvSpPr>
          <p:nvPr/>
        </p:nvSpPr>
        <p:spPr>
          <a:xfrm>
            <a:off x="762000" y="8077200"/>
            <a:ext cx="11430000" cy="285750"/>
          </a:xfrm>
          <a:prstGeom prst="rect">
            <a:avLst/>
          </a:prstGeom>
          <a:noFill/>
          <a:ln w="0">
            <a:noFill/>
          </a:ln>
        </p:spPr>
        <p:txBody>
          <a:bodyPr wrap="square">
            <a:noAutofit/>
          </a:bodyPr>
          <a:lstStyle/>
          <a:p>
            <a:pPr>
              <a:defRPr sz="1350" b="0">
                <a:solidFill>
                  <a:srgbClr val="5C6F7F"/>
                </a:solidFill>
                <a:latin typeface="Aptos"/>
                <a:ea typeface="Aptos"/>
                <a:cs typeface="Aptos"/>
              </a:defRPr>
            </a:pPr>
            <a:r>
              <a:rPr sz="1350" b="0" dirty="0">
                <a:solidFill>
                  <a:srgbClr val="5C6F7F"/>
                </a:solidFill>
                <a:latin typeface="Aptos"/>
                <a:ea typeface="Aptos"/>
                <a:cs typeface="Aptos"/>
              </a:rPr>
              <a:t>CMA P2 202</a:t>
            </a:r>
            <a:r>
              <a:rPr lang="en-US" sz="1350" b="0">
                <a:solidFill>
                  <a:srgbClr val="5C6F7F"/>
                </a:solidFill>
                <a:latin typeface="Aptos"/>
                <a:ea typeface="Aptos"/>
                <a:cs typeface="Aptos"/>
              </a:rPr>
              <a:t>6</a:t>
            </a:r>
            <a:endParaRPr sz="1350" b="0" dirty="0">
              <a:solidFill>
                <a:srgbClr val="5C6F7F"/>
              </a:solidFill>
              <a:latin typeface="Aptos"/>
              <a:ea typeface="Aptos"/>
              <a:cs typeface="Apto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0000008-0001-4000-8000-000000000000}"/>
              </a:ext>
            </a:extLst>
          </p:cNvPr>
          <p:cNvSpPr>
            <a:spLocks noGrp="1"/>
          </p:cNvSpPr>
          <p:nvPr/>
        </p:nvSpPr>
        <p:spPr>
          <a:xfrm>
            <a:off x="762000" y="542925"/>
            <a:ext cx="13811250" cy="666750"/>
          </a:xfrm>
          <a:prstGeom prst="rect">
            <a:avLst/>
          </a:prstGeom>
          <a:noFill/>
          <a:ln w="0">
            <a:noFill/>
          </a:ln>
        </p:spPr>
        <p:txBody>
          <a:bodyPr wrap="square">
            <a:noAutofit/>
          </a:bodyPr>
          <a:lstStyle/>
          <a:p>
            <a:pPr>
              <a:defRPr sz="3675" b="1">
                <a:solidFill>
                  <a:srgbClr val="122C49"/>
                </a:solidFill>
                <a:latin typeface="Aptos"/>
                <a:ea typeface="Aptos"/>
                <a:cs typeface="Aptos"/>
              </a:defRPr>
            </a:pPr>
            <a:r>
              <a:rPr lang="en-US" sz="3675" b="1">
                <a:solidFill>
                  <a:srgbClr val="122C49"/>
                </a:solidFill>
                <a:latin typeface="Aptos"/>
                <a:ea typeface="Aptos"/>
                <a:cs typeface="Aptos"/>
              </a:rPr>
              <a:t>Professional Ethics</a:t>
            </a:r>
          </a:p>
        </p:txBody>
      </p:sp>
      <p:sp>
        <p:nvSpPr>
          <p:cNvPr id="2" name="Rectangle 1">
            <a:extLst>
              <a:ext uri="{FF2B5EF4-FFF2-40B4-BE49-F238E27FC236}">
                <a16:creationId xmlns:a16="http://schemas.microsoft.com/office/drawing/2014/main" id="{00000008-0002-4000-8000-000000000000}"/>
              </a:ext>
            </a:extLst>
          </p:cNvPr>
          <p:cNvSpPr>
            <a:spLocks noGrp="1"/>
          </p:cNvSpPr>
          <p:nvPr/>
        </p:nvSpPr>
        <p:spPr>
          <a:xfrm>
            <a:off x="762000" y="1185862"/>
            <a:ext cx="13811250" cy="400050"/>
          </a:xfrm>
          <a:prstGeom prst="rect">
            <a:avLst/>
          </a:prstGeom>
          <a:noFill/>
          <a:ln w="0">
            <a:noFill/>
          </a:ln>
        </p:spPr>
        <p:txBody>
          <a:bodyPr wrap="square">
            <a:noAutofit/>
          </a:bodyPr>
          <a:lstStyle/>
          <a:p>
            <a:pPr>
              <a:defRPr sz="2025" b="0">
                <a:solidFill>
                  <a:srgbClr val="007F83"/>
                </a:solidFill>
                <a:latin typeface="Aptos"/>
                <a:ea typeface="Aptos"/>
                <a:cs typeface="Aptos"/>
              </a:defRPr>
            </a:pPr>
            <a:r>
              <a:rPr lang="en-US" sz="2400" b="0">
                <a:solidFill>
                  <a:srgbClr val="007F83"/>
                </a:solidFill>
                <a:latin typeface="Aptos"/>
                <a:ea typeface="Aptos"/>
                <a:cs typeface="Aptos"/>
              </a:rPr>
              <a:t>22 Jan 2027   /   2025 PDF session 25</a:t>
            </a:r>
            <a:endParaRPr sz="2025" b="0">
              <a:solidFill>
                <a:srgbClr val="007F83"/>
              </a:solidFill>
              <a:latin typeface="Aptos"/>
              <a:ea typeface="Aptos"/>
              <a:cs typeface="Aptos"/>
            </a:endParaRPr>
          </a:p>
        </p:txBody>
      </p:sp>
      <p:graphicFrame>
        <p:nvGraphicFramePr>
          <p:cNvPr id="3" name="Table 2"/>
          <p:cNvGraphicFramePr/>
          <p:nvPr>
            <p:extLst>
              <p:ext uri="{D42A27DB-BD31-4B8C-83A1-F6EECF244321}">
                <p14:modId xmlns:p14="http://schemas.microsoft.com/office/powerpoint/2010/main" val="46277495"/>
              </p:ext>
            </p:extLst>
          </p:nvPr>
        </p:nvGraphicFramePr>
        <p:xfrm>
          <a:off x="762000" y="2028825"/>
          <a:ext cx="13811251" cy="1950720"/>
        </p:xfrm>
        <a:graphic>
          <a:graphicData uri="http://schemas.openxmlformats.org/drawingml/2006/table">
            <a:tbl>
              <a:tblPr/>
              <a:tblGrid>
                <a:gridCol w="1962652">
                  <a:extLst>
                    <a:ext uri="{9D8B030D-6E8A-4147-A177-3AD203B41FA5}">
                      <a16:colId xmlns:a16="http://schemas.microsoft.com/office/drawing/2014/main" val="20000"/>
                    </a:ext>
                  </a:extLst>
                </a:gridCol>
                <a:gridCol w="4984248">
                  <a:extLst>
                    <a:ext uri="{9D8B030D-6E8A-4147-A177-3AD203B41FA5}">
                      <a16:colId xmlns:a16="http://schemas.microsoft.com/office/drawing/2014/main" val="20001"/>
                    </a:ext>
                  </a:extLst>
                </a:gridCol>
                <a:gridCol w="5172911">
                  <a:extLst>
                    <a:ext uri="{9D8B030D-6E8A-4147-A177-3AD203B41FA5}">
                      <a16:colId xmlns:a16="http://schemas.microsoft.com/office/drawing/2014/main" val="20002"/>
                    </a:ext>
                  </a:extLst>
                </a:gridCol>
                <a:gridCol w="1691440">
                  <a:extLst>
                    <a:ext uri="{9D8B030D-6E8A-4147-A177-3AD203B41FA5}">
                      <a16:colId xmlns:a16="http://schemas.microsoft.com/office/drawing/2014/main" val="20003"/>
                    </a:ext>
                  </a:extLst>
                </a:gridCol>
              </a:tblGrid>
              <a:tr h="514350">
                <a:tc>
                  <a:txBody>
                    <a:bodyPr/>
                    <a:lstStyle/>
                    <a:p>
                      <a:pPr algn="ctr"/>
                      <a:r>
                        <a:rPr lang="en-US" sz="1800" b="1">
                          <a:solidFill>
                            <a:srgbClr val="FFFFFF"/>
                          </a:solidFill>
                          <a:latin typeface="Aptos"/>
                          <a:ea typeface="Aptos"/>
                          <a:cs typeface="Aptos"/>
                        </a:rPr>
                        <a:t>Session / date</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Topic in source order</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Coverage and practice</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Pages</a:t>
                      </a:r>
                    </a:p>
                  </a:txBody>
                  <a:tcPr marL="133350" marR="133350" marT="133350" marB="133350" anchor="ctr">
                    <a:solidFill>
                      <a:srgbClr val="122C49"/>
                    </a:solidFill>
                  </a:tcPr>
                </a:tc>
                <a:extLst>
                  <a:ext uri="{0D108BD9-81ED-4DB2-BD59-A6C34878D82A}">
                    <a16:rowId xmlns:a16="http://schemas.microsoft.com/office/drawing/2014/main" val="10000"/>
                  </a:ext>
                </a:extLst>
              </a:tr>
              <a:tr h="1409700">
                <a:tc>
                  <a:txBody>
                    <a:bodyPr/>
                    <a:lstStyle/>
                    <a:p>
                      <a:r>
                        <a:rPr lang="sv-SE" sz="1800" b="1">
                          <a:solidFill>
                            <a:srgbClr val="007F83"/>
                          </a:solidFill>
                          <a:latin typeface="Aptos"/>
                          <a:ea typeface="Aptos"/>
                          <a:cs typeface="Aptos"/>
                        </a:rPr>
                        <a:t>25</a:t>
                      </a:r>
                    </a:p>
                    <a:p>
                      <a:r>
                        <a:rPr lang="sv-SE" sz="1800" b="1">
                          <a:solidFill>
                            <a:srgbClr val="007F83"/>
                          </a:solidFill>
                          <a:latin typeface="Aptos"/>
                          <a:ea typeface="Aptos"/>
                          <a:cs typeface="Aptos"/>
                        </a:rPr>
                        <a:t>Fri 22 Jan</a:t>
                      </a:r>
                    </a:p>
                    <a:p>
                      <a:r>
                        <a:rPr lang="sv-SE" sz="1800" b="1">
                          <a:solidFill>
                            <a:srgbClr val="007F83"/>
                          </a:solidFill>
                          <a:latin typeface="Aptos"/>
                          <a:ea typeface="Aptos"/>
                          <a:cs typeface="Aptos"/>
                        </a:rPr>
                        <a:t>2027</a:t>
                      </a:r>
                    </a:p>
                  </a:txBody>
                  <a:tcPr marL="133350" marR="133350" marT="133350" marB="133350" anchor="ctr">
                    <a:solidFill>
                      <a:srgbClr val="F3F7F9"/>
                    </a:solidFill>
                  </a:tcPr>
                </a:tc>
                <a:tc>
                  <a:txBody>
                    <a:bodyPr/>
                    <a:lstStyle/>
                    <a:p>
                      <a:r>
                        <a:rPr lang="en-US" sz="1800" b="1">
                          <a:solidFill>
                            <a:srgbClr val="122C49"/>
                          </a:solidFill>
                          <a:latin typeface="Aptos"/>
                          <a:ea typeface="Aptos"/>
                          <a:cs typeface="Aptos"/>
                        </a:rPr>
                        <a:t>SU 15. Ethical Considerations for the Organization</a:t>
                      </a:r>
                    </a:p>
                  </a:txBody>
                  <a:tcPr marL="133350" marR="133350" marT="133350" marB="133350" anchor="ctr">
                    <a:solidFill>
                      <a:srgbClr val="F3F7F9"/>
                    </a:solidFill>
                  </a:tcPr>
                </a:tc>
                <a:tc>
                  <a:txBody>
                    <a:bodyPr/>
                    <a:lstStyle/>
                    <a:p>
                      <a:pPr marL="285750" indent="-285750">
                        <a:buFont typeface="Arial" panose="020B0604020202020204" pitchFamily="34" charset="0"/>
                        <a:buChar char="•"/>
                      </a:pPr>
                      <a:r>
                        <a:rPr lang="en-US" sz="1800" dirty="0">
                          <a:solidFill>
                            <a:srgbClr val="233B50"/>
                          </a:solidFill>
                          <a:latin typeface="Aptos"/>
                          <a:ea typeface="Aptos"/>
                          <a:cs typeface="Aptos"/>
                        </a:rPr>
                        <a:t>15.1 Corporate Ethical Legislation. </a:t>
                      </a:r>
                    </a:p>
                    <a:p>
                      <a:pPr marL="285750" indent="-285750">
                        <a:buFont typeface="Arial" panose="020B0604020202020204" pitchFamily="34" charset="0"/>
                        <a:buChar char="•"/>
                      </a:pPr>
                      <a:r>
                        <a:rPr lang="en-US" sz="1800" dirty="0">
                          <a:solidFill>
                            <a:srgbClr val="233B50"/>
                          </a:solidFill>
                          <a:latin typeface="Aptos"/>
                          <a:ea typeface="Aptos"/>
                          <a:cs typeface="Aptos"/>
                        </a:rPr>
                        <a:t>15.2 Corporate Responsibility for Ethical Behavior, including data ethics and protection.</a:t>
                      </a:r>
                    </a:p>
                  </a:txBody>
                  <a:tcPr marL="133350" marR="133350" marT="133350" marB="133350" anchor="ctr">
                    <a:solidFill>
                      <a:srgbClr val="F3F7F9"/>
                    </a:solidFill>
                  </a:tcPr>
                </a:tc>
                <a:tc>
                  <a:txBody>
                    <a:bodyPr/>
                    <a:lstStyle/>
                    <a:p>
                      <a:pPr algn="ctr"/>
                      <a:r>
                        <a:rPr lang="en-US" sz="1800" dirty="0">
                          <a:solidFill>
                            <a:srgbClr val="233B50"/>
                          </a:solidFill>
                          <a:latin typeface="Aptos"/>
                          <a:ea typeface="Aptos"/>
                          <a:cs typeface="Aptos"/>
                        </a:rPr>
                        <a:t>271–283</a:t>
                      </a:r>
                    </a:p>
                  </a:txBody>
                  <a:tcPr marL="133350" marR="133350" marT="133350" marB="133350" anchor="ctr">
                    <a:solidFill>
                      <a:srgbClr val="F3F7F9"/>
                    </a:solidFill>
                  </a:tcPr>
                </a:tc>
                <a:extLst>
                  <a:ext uri="{0D108BD9-81ED-4DB2-BD59-A6C34878D82A}">
                    <a16:rowId xmlns:a16="http://schemas.microsoft.com/office/drawing/2014/main" val="10001"/>
                  </a:ext>
                </a:extLst>
              </a:tr>
            </a:tbl>
          </a:graphicData>
        </a:graphic>
      </p:graphicFrame>
      <p:sp>
        <p:nvSpPr>
          <p:cNvPr id="4" name="Rectangle 3">
            <a:extLst>
              <a:ext uri="{FF2B5EF4-FFF2-40B4-BE49-F238E27FC236}">
                <a16:creationId xmlns:a16="http://schemas.microsoft.com/office/drawing/2014/main" id="{00000008-0003-4000-8000-000000000000}"/>
              </a:ext>
            </a:extLst>
          </p:cNvPr>
          <p:cNvSpPr>
            <a:spLocks noGrp="1"/>
          </p:cNvSpPr>
          <p:nvPr/>
        </p:nvSpPr>
        <p:spPr>
          <a:xfrm>
            <a:off x="762000" y="6962775"/>
            <a:ext cx="13335000" cy="714375"/>
          </a:xfrm>
          <a:prstGeom prst="rect">
            <a:avLst/>
          </a:prstGeom>
          <a:noFill/>
          <a:ln w="0">
            <a:noFill/>
          </a:ln>
        </p:spPr>
        <p:txBody>
          <a:bodyPr wrap="square">
            <a:noAutofit/>
          </a:bodyPr>
          <a:lstStyle/>
          <a:p>
            <a:pPr>
              <a:defRPr sz="2025" b="1">
                <a:solidFill>
                  <a:srgbClr val="007F83"/>
                </a:solidFill>
                <a:latin typeface="Aptos"/>
                <a:ea typeface="Aptos"/>
                <a:cs typeface="Aptos"/>
              </a:defRPr>
            </a:pPr>
            <a:r>
              <a:rPr sz="2025" b="1">
                <a:solidFill>
                  <a:srgbClr val="007F83"/>
                </a:solidFill>
                <a:latin typeface="Aptos"/>
                <a:ea typeface="Aptos"/>
                <a:cs typeface="Aptos"/>
              </a:rPr>
              <a:t>Completion check: finish </a:t>
            </a:r>
            <a:r>
              <a:rPr lang="en-US" sz="2025" b="1">
                <a:solidFill>
                  <a:srgbClr val="007F83"/>
                </a:solidFill>
                <a:latin typeface="Aptos"/>
                <a:ea typeface="Aptos"/>
                <a:cs typeface="Aptos"/>
              </a:rPr>
              <a:t>Professional Ethics and rework any </a:t>
            </a:r>
            <a:r>
              <a:rPr sz="2025" b="1">
                <a:solidFill>
                  <a:srgbClr val="007F83"/>
                </a:solidFill>
                <a:latin typeface="Aptos"/>
                <a:ea typeface="Aptos"/>
                <a:cs typeface="Aptos"/>
              </a:rPr>
              <a:t>missed examples.</a:t>
            </a:r>
          </a:p>
        </p:txBody>
      </p:sp>
      <p:sp>
        <p:nvSpPr>
          <p:cNvPr id="6" name="Rectangle 5">
            <a:extLst>
              <a:ext uri="{FF2B5EF4-FFF2-40B4-BE49-F238E27FC236}">
                <a16:creationId xmlns:a16="http://schemas.microsoft.com/office/drawing/2014/main" id="{00000008-0005-4000-8000-000000000000}"/>
              </a:ext>
            </a:extLst>
          </p:cNvPr>
          <p:cNvSpPr>
            <a:spLocks noGrp="1"/>
          </p:cNvSpPr>
          <p:nvPr/>
        </p:nvSpPr>
        <p:spPr>
          <a:xfrm>
            <a:off x="13811250" y="8077200"/>
            <a:ext cx="666750" cy="285750"/>
          </a:xfrm>
          <a:prstGeom prst="rect">
            <a:avLst/>
          </a:prstGeom>
          <a:noFill/>
          <a:ln w="0">
            <a:noFill/>
          </a:ln>
        </p:spPr>
        <p:txBody>
          <a:bodyPr wrap="square">
            <a:noAutofit/>
          </a:bodyPr>
          <a:lstStyle/>
          <a:p>
            <a:pPr>
              <a:defRPr sz="1350" b="0">
                <a:solidFill>
                  <a:srgbClr val="5C6F7F"/>
                </a:solidFill>
                <a:latin typeface="Aptos"/>
                <a:ea typeface="Aptos"/>
                <a:cs typeface="Aptos"/>
              </a:defRPr>
            </a:pPr>
            <a:r>
              <a:rPr lang="en-US" sz="1350" b="0">
                <a:solidFill>
                  <a:srgbClr val="5C6F7F"/>
                </a:solidFill>
                <a:latin typeface="Aptos"/>
                <a:ea typeface="Aptos"/>
                <a:cs typeface="Aptos"/>
              </a:rPr>
              <a:t>26</a:t>
            </a:r>
          </a:p>
        </p:txBody>
      </p:sp>
      <p:sp>
        <p:nvSpPr>
          <p:cNvPr id="8" name="Section exam weighting">
            <a:extLst>
              <a:ext uri="{FF2B5EF4-FFF2-40B4-BE49-F238E27FC236}">
                <a16:creationId xmlns:a16="http://schemas.microsoft.com/office/drawing/2014/main" id="{00000008-0002-4000-8000-000000000000}"/>
              </a:ext>
            </a:extLst>
          </p:cNvPr>
          <p:cNvSpPr>
            <a:spLocks noGrp="1"/>
          </p:cNvSpPr>
          <p:nvPr/>
        </p:nvSpPr>
        <p:spPr>
          <a:xfrm>
            <a:off x="762000" y="1657350"/>
            <a:ext cx="13811250" cy="276225"/>
          </a:xfrm>
          <a:prstGeom prst="rect">
            <a:avLst/>
          </a:prstGeom>
          <a:noFill/>
          <a:ln w="0">
            <a:noFill/>
          </a:ln>
        </p:spPr>
        <p:txBody>
          <a:bodyPr wrap="square" tIns="0" bIns="0">
            <a:noAutofit/>
          </a:bodyPr>
          <a:lstStyle/>
          <a:p>
            <a:pPr>
              <a:defRPr sz="2025" b="0">
                <a:solidFill>
                  <a:srgbClr val="007F83"/>
                </a:solidFill>
                <a:latin typeface="Aptos"/>
                <a:ea typeface="Aptos"/>
                <a:cs typeface="Aptos"/>
              </a:defRPr>
            </a:pPr>
            <a:r>
              <a:rPr lang="en-US" b="1">
                <a:solidFill>
                  <a:srgbClr val="007F83"/>
                </a:solidFill>
                <a:latin typeface="Aptos"/>
                <a:ea typeface="Aptos"/>
                <a:cs typeface="Aptos"/>
              </a:rPr>
              <a:t>Section exam weight: Professional Ethics 15%</a:t>
            </a:r>
          </a:p>
        </p:txBody>
      </p:sp>
      <p:sp>
        <p:nvSpPr>
          <p:cNvPr id="10" name="Rectangle 9">
            <a:extLst>
              <a:ext uri="{FF2B5EF4-FFF2-40B4-BE49-F238E27FC236}">
                <a16:creationId xmlns:a16="http://schemas.microsoft.com/office/drawing/2014/main" id="{9E984A96-540F-8A42-CFE6-C84EE0310235}"/>
              </a:ext>
            </a:extLst>
          </p:cNvPr>
          <p:cNvSpPr>
            <a:spLocks noGrp="1"/>
          </p:cNvSpPr>
          <p:nvPr/>
        </p:nvSpPr>
        <p:spPr>
          <a:xfrm>
            <a:off x="762000" y="8077200"/>
            <a:ext cx="11430000" cy="285750"/>
          </a:xfrm>
          <a:prstGeom prst="rect">
            <a:avLst/>
          </a:prstGeom>
          <a:noFill/>
          <a:ln w="0">
            <a:noFill/>
          </a:ln>
        </p:spPr>
        <p:txBody>
          <a:bodyPr wrap="square">
            <a:noAutofit/>
          </a:bodyPr>
          <a:lstStyle/>
          <a:p>
            <a:pPr>
              <a:defRPr sz="1350" b="0">
                <a:solidFill>
                  <a:srgbClr val="5C6F7F"/>
                </a:solidFill>
                <a:latin typeface="Aptos"/>
                <a:ea typeface="Aptos"/>
                <a:cs typeface="Aptos"/>
              </a:defRPr>
            </a:pPr>
            <a:r>
              <a:rPr sz="1350" b="0" dirty="0">
                <a:solidFill>
                  <a:srgbClr val="5C6F7F"/>
                </a:solidFill>
                <a:latin typeface="Aptos"/>
                <a:ea typeface="Aptos"/>
                <a:cs typeface="Aptos"/>
              </a:rPr>
              <a:t>CMA P2 202</a:t>
            </a:r>
            <a:r>
              <a:rPr lang="en-US" sz="1350" b="0">
                <a:solidFill>
                  <a:srgbClr val="5C6F7F"/>
                </a:solidFill>
                <a:latin typeface="Aptos"/>
                <a:ea typeface="Aptos"/>
                <a:cs typeface="Aptos"/>
              </a:rPr>
              <a:t>6</a:t>
            </a:r>
            <a:endParaRPr sz="1350" b="0" dirty="0">
              <a:solidFill>
                <a:srgbClr val="5C6F7F"/>
              </a:solidFill>
              <a:latin typeface="Aptos"/>
              <a:ea typeface="Aptos"/>
              <a:cs typeface="Apto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0000008-0001-4000-8000-000000000000}"/>
              </a:ext>
            </a:extLst>
          </p:cNvPr>
          <p:cNvSpPr>
            <a:spLocks noGrp="1"/>
          </p:cNvSpPr>
          <p:nvPr/>
        </p:nvSpPr>
        <p:spPr>
          <a:xfrm>
            <a:off x="762000" y="542925"/>
            <a:ext cx="13811250" cy="666750"/>
          </a:xfrm>
          <a:prstGeom prst="rect">
            <a:avLst/>
          </a:prstGeom>
          <a:noFill/>
          <a:ln w="0">
            <a:noFill/>
          </a:ln>
        </p:spPr>
        <p:txBody>
          <a:bodyPr wrap="square">
            <a:noAutofit/>
          </a:bodyPr>
          <a:lstStyle/>
          <a:p>
            <a:pPr>
              <a:defRPr sz="3675" b="1">
                <a:solidFill>
                  <a:srgbClr val="122C49"/>
                </a:solidFill>
                <a:latin typeface="Aptos"/>
                <a:ea typeface="Aptos"/>
                <a:cs typeface="Aptos"/>
              </a:defRPr>
            </a:pPr>
            <a:r>
              <a:rPr lang="en-US" sz="3675" b="1">
                <a:solidFill>
                  <a:srgbClr val="122C49"/>
                </a:solidFill>
                <a:latin typeface="Aptos"/>
                <a:ea typeface="Aptos"/>
                <a:cs typeface="Aptos"/>
              </a:rPr>
              <a:t>Final Consolidation</a:t>
            </a:r>
          </a:p>
        </p:txBody>
      </p:sp>
      <p:sp>
        <p:nvSpPr>
          <p:cNvPr id="2" name="Rectangle 1">
            <a:extLst>
              <a:ext uri="{FF2B5EF4-FFF2-40B4-BE49-F238E27FC236}">
                <a16:creationId xmlns:a16="http://schemas.microsoft.com/office/drawing/2014/main" id="{00000008-0002-4000-8000-000000000000}"/>
              </a:ext>
            </a:extLst>
          </p:cNvPr>
          <p:cNvSpPr>
            <a:spLocks noGrp="1"/>
          </p:cNvSpPr>
          <p:nvPr/>
        </p:nvSpPr>
        <p:spPr>
          <a:xfrm>
            <a:off x="762000" y="1185862"/>
            <a:ext cx="13811250" cy="400050"/>
          </a:xfrm>
          <a:prstGeom prst="rect">
            <a:avLst/>
          </a:prstGeom>
          <a:noFill/>
          <a:ln w="0">
            <a:noFill/>
          </a:ln>
        </p:spPr>
        <p:txBody>
          <a:bodyPr wrap="square">
            <a:noAutofit/>
          </a:bodyPr>
          <a:lstStyle/>
          <a:p>
            <a:pPr>
              <a:defRPr sz="2025" b="0">
                <a:solidFill>
                  <a:srgbClr val="007F83"/>
                </a:solidFill>
                <a:latin typeface="Aptos"/>
                <a:ea typeface="Aptos"/>
                <a:cs typeface="Aptos"/>
              </a:defRPr>
            </a:pPr>
            <a:r>
              <a:rPr lang="en-US" sz="2400" b="0">
                <a:solidFill>
                  <a:srgbClr val="007F83"/>
                </a:solidFill>
                <a:latin typeface="Aptos"/>
                <a:ea typeface="Aptos"/>
                <a:cs typeface="Aptos"/>
              </a:rPr>
              <a:t>26–29 January 2027   /   2025 PDF sessions 26–27</a:t>
            </a:r>
          </a:p>
        </p:txBody>
      </p:sp>
      <p:graphicFrame>
        <p:nvGraphicFramePr>
          <p:cNvPr id="3" name="Table 2"/>
          <p:cNvGraphicFramePr/>
          <p:nvPr>
            <p:extLst>
              <p:ext uri="{D42A27DB-BD31-4B8C-83A1-F6EECF244321}">
                <p14:modId xmlns:p14="http://schemas.microsoft.com/office/powerpoint/2010/main" val="1902793890"/>
              </p:ext>
            </p:extLst>
          </p:nvPr>
        </p:nvGraphicFramePr>
        <p:xfrm>
          <a:off x="762000" y="2028825"/>
          <a:ext cx="13811251" cy="3589020"/>
        </p:xfrm>
        <a:graphic>
          <a:graphicData uri="http://schemas.openxmlformats.org/drawingml/2006/table">
            <a:tbl>
              <a:tblPr/>
              <a:tblGrid>
                <a:gridCol w="1962652">
                  <a:extLst>
                    <a:ext uri="{9D8B030D-6E8A-4147-A177-3AD203B41FA5}">
                      <a16:colId xmlns:a16="http://schemas.microsoft.com/office/drawing/2014/main" val="20000"/>
                    </a:ext>
                  </a:extLst>
                </a:gridCol>
                <a:gridCol w="4984248">
                  <a:extLst>
                    <a:ext uri="{9D8B030D-6E8A-4147-A177-3AD203B41FA5}">
                      <a16:colId xmlns:a16="http://schemas.microsoft.com/office/drawing/2014/main" val="20001"/>
                    </a:ext>
                  </a:extLst>
                </a:gridCol>
                <a:gridCol w="5172911">
                  <a:extLst>
                    <a:ext uri="{9D8B030D-6E8A-4147-A177-3AD203B41FA5}">
                      <a16:colId xmlns:a16="http://schemas.microsoft.com/office/drawing/2014/main" val="20002"/>
                    </a:ext>
                  </a:extLst>
                </a:gridCol>
                <a:gridCol w="1691440">
                  <a:extLst>
                    <a:ext uri="{9D8B030D-6E8A-4147-A177-3AD203B41FA5}">
                      <a16:colId xmlns:a16="http://schemas.microsoft.com/office/drawing/2014/main" val="20003"/>
                    </a:ext>
                  </a:extLst>
                </a:gridCol>
              </a:tblGrid>
              <a:tr h="514350">
                <a:tc>
                  <a:txBody>
                    <a:bodyPr/>
                    <a:lstStyle/>
                    <a:p>
                      <a:pPr algn="ctr"/>
                      <a:r>
                        <a:rPr lang="en-US" sz="1800" b="1">
                          <a:solidFill>
                            <a:srgbClr val="FFFFFF"/>
                          </a:solidFill>
                          <a:latin typeface="Aptos"/>
                          <a:ea typeface="Aptos"/>
                          <a:cs typeface="Aptos"/>
                        </a:rPr>
                        <a:t>Session / date</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Topic in source order</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Coverage and practice</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Pages</a:t>
                      </a:r>
                    </a:p>
                  </a:txBody>
                  <a:tcPr marL="133350" marR="133350" marT="133350" marB="133350" anchor="ctr">
                    <a:solidFill>
                      <a:srgbClr val="122C49"/>
                    </a:solidFill>
                  </a:tcPr>
                </a:tc>
                <a:extLst>
                  <a:ext uri="{0D108BD9-81ED-4DB2-BD59-A6C34878D82A}">
                    <a16:rowId xmlns:a16="http://schemas.microsoft.com/office/drawing/2014/main" val="10000"/>
                  </a:ext>
                </a:extLst>
              </a:tr>
              <a:tr h="1409700">
                <a:tc>
                  <a:txBody>
                    <a:bodyPr/>
                    <a:lstStyle/>
                    <a:p>
                      <a:r>
                        <a:rPr lang="en-US" sz="1800" b="1">
                          <a:solidFill>
                            <a:srgbClr val="007F83"/>
                          </a:solidFill>
                          <a:latin typeface="Aptos"/>
                          <a:ea typeface="Aptos"/>
                          <a:cs typeface="Aptos"/>
                        </a:rPr>
                        <a:t>26</a:t>
                      </a:r>
                    </a:p>
                    <a:p>
                      <a:r>
                        <a:rPr lang="en-US" sz="1800" b="1">
                          <a:solidFill>
                            <a:srgbClr val="007F83"/>
                          </a:solidFill>
                          <a:latin typeface="Aptos"/>
                          <a:ea typeface="Aptos"/>
                          <a:cs typeface="Aptos"/>
                        </a:rPr>
                        <a:t>Tue 26 Jan</a:t>
                      </a:r>
                    </a:p>
                    <a:p>
                      <a:r>
                        <a:rPr lang="en-US" sz="1800" b="1">
                          <a:solidFill>
                            <a:srgbClr val="007F83"/>
                          </a:solidFill>
                          <a:latin typeface="Aptos"/>
                          <a:ea typeface="Aptos"/>
                          <a:cs typeface="Aptos"/>
                        </a:rPr>
                        <a:t>2027</a:t>
                      </a:r>
                    </a:p>
                  </a:txBody>
                  <a:tcPr marL="133350" marR="133350" marT="133350" marB="133350" anchor="ctr">
                    <a:solidFill>
                      <a:srgbClr val="F3F7F9"/>
                    </a:solidFill>
                  </a:tcPr>
                </a:tc>
                <a:tc>
                  <a:txBody>
                    <a:bodyPr/>
                    <a:lstStyle/>
                    <a:p>
                      <a:r>
                        <a:rPr lang="en-US" sz="1800" b="1">
                          <a:solidFill>
                            <a:srgbClr val="122C49"/>
                          </a:solidFill>
                          <a:latin typeface="Aptos"/>
                          <a:ea typeface="Aptos"/>
                          <a:cs typeface="Aptos"/>
                        </a:rPr>
                        <a:t>Consolidation: Study Units 1–8</a:t>
                      </a:r>
                    </a:p>
                  </a:txBody>
                  <a:tcPr marL="133350" marR="133350" marT="133350" marB="133350" anchor="ctr">
                    <a:solidFill>
                      <a:srgbClr val="F3F7F9"/>
                    </a:solidFill>
                  </a:tcPr>
                </a:tc>
                <a:tc>
                  <a:txBody>
                    <a:bodyPr/>
                    <a:lstStyle/>
                    <a:p>
                      <a:pPr marL="285750" indent="-285750">
                        <a:buFont typeface="Arial" panose="020B0604020202020204" pitchFamily="34" charset="0"/>
                        <a:buChar char="•"/>
                      </a:pPr>
                      <a:r>
                        <a:rPr lang="en-US" sz="1800" dirty="0">
                          <a:solidFill>
                            <a:srgbClr val="233B50"/>
                          </a:solidFill>
                          <a:latin typeface="Aptos"/>
                          <a:ea typeface="Aptos"/>
                          <a:cs typeface="Aptos"/>
                        </a:rPr>
                        <a:t>Revisit financial statement analysis and corporate finance in unit order. </a:t>
                      </a:r>
                    </a:p>
                    <a:p>
                      <a:pPr marL="285750" indent="-285750">
                        <a:buFont typeface="Arial" panose="020B0604020202020204" pitchFamily="34" charset="0"/>
                        <a:buChar char="•"/>
                      </a:pPr>
                      <a:r>
                        <a:rPr lang="en-US" sz="1800" dirty="0">
                          <a:solidFill>
                            <a:srgbClr val="233B50"/>
                          </a:solidFill>
                          <a:latin typeface="Aptos"/>
                          <a:ea typeface="Aptos"/>
                          <a:cs typeface="Aptos"/>
                        </a:rPr>
                        <a:t>Rework examples and record unresolved errors. </a:t>
                      </a:r>
                    </a:p>
                    <a:p>
                      <a:pPr marL="285750" indent="-285750">
                        <a:buFont typeface="Arial" panose="020B0604020202020204" pitchFamily="34" charset="0"/>
                        <a:buChar char="•"/>
                      </a:pPr>
                      <a:r>
                        <a:rPr lang="en-US" sz="1800" dirty="0">
                          <a:solidFill>
                            <a:srgbClr val="233B50"/>
                          </a:solidFill>
                          <a:latin typeface="Aptos"/>
                          <a:ea typeface="Aptos"/>
                          <a:cs typeface="Aptos"/>
                        </a:rPr>
                        <a:t>Proposed review session.</a:t>
                      </a:r>
                    </a:p>
                  </a:txBody>
                  <a:tcPr marL="133350" marR="133350" marT="133350" marB="133350" anchor="ctr">
                    <a:solidFill>
                      <a:srgbClr val="F3F7F9"/>
                    </a:solidFill>
                  </a:tcPr>
                </a:tc>
                <a:tc>
                  <a:txBody>
                    <a:bodyPr/>
                    <a:lstStyle/>
                    <a:p>
                      <a:pPr algn="ctr"/>
                      <a:r>
                        <a:rPr lang="en-US" sz="1800">
                          <a:solidFill>
                            <a:srgbClr val="233B50"/>
                          </a:solidFill>
                          <a:latin typeface="Aptos"/>
                          <a:ea typeface="Aptos"/>
                          <a:cs typeface="Aptos"/>
                        </a:rPr>
                        <a:t>1–160</a:t>
                      </a:r>
                    </a:p>
                  </a:txBody>
                  <a:tcPr marL="133350" marR="133350" marT="133350" marB="133350" anchor="ctr">
                    <a:solidFill>
                      <a:srgbClr val="F3F7F9"/>
                    </a:solidFill>
                  </a:tcPr>
                </a:tc>
                <a:extLst>
                  <a:ext uri="{0D108BD9-81ED-4DB2-BD59-A6C34878D82A}">
                    <a16:rowId xmlns:a16="http://schemas.microsoft.com/office/drawing/2014/main" val="10002"/>
                  </a:ext>
                </a:extLst>
              </a:tr>
              <a:tr h="1409700">
                <a:tc>
                  <a:txBody>
                    <a:bodyPr/>
                    <a:lstStyle/>
                    <a:p>
                      <a:r>
                        <a:rPr lang="sv-SE" sz="1800" b="1">
                          <a:solidFill>
                            <a:srgbClr val="007F83"/>
                          </a:solidFill>
                          <a:latin typeface="Aptos"/>
                          <a:ea typeface="Aptos"/>
                          <a:cs typeface="Aptos"/>
                        </a:rPr>
                        <a:t>27</a:t>
                      </a:r>
                    </a:p>
                    <a:p>
                      <a:r>
                        <a:rPr lang="sv-SE" sz="1800" b="1">
                          <a:solidFill>
                            <a:srgbClr val="007F83"/>
                          </a:solidFill>
                          <a:latin typeface="Aptos"/>
                          <a:ea typeface="Aptos"/>
                          <a:cs typeface="Aptos"/>
                        </a:rPr>
                        <a:t>Fri 29 Jan</a:t>
                      </a:r>
                    </a:p>
                    <a:p>
                      <a:r>
                        <a:rPr lang="sv-SE" sz="1800" b="1">
                          <a:solidFill>
                            <a:srgbClr val="007F83"/>
                          </a:solidFill>
                          <a:latin typeface="Aptos"/>
                          <a:ea typeface="Aptos"/>
                          <a:cs typeface="Aptos"/>
                        </a:rPr>
                        <a:t>2027</a:t>
                      </a:r>
                    </a:p>
                  </a:txBody>
                  <a:tcPr marL="133350" marR="133350" marT="133350" marB="133350" anchor="ctr">
                    <a:solidFill>
                      <a:srgbClr val="FFFFFF"/>
                    </a:solidFill>
                  </a:tcPr>
                </a:tc>
                <a:tc>
                  <a:txBody>
                    <a:bodyPr/>
                    <a:lstStyle/>
                    <a:p>
                      <a:r>
                        <a:rPr lang="en-US" sz="1800" b="1">
                          <a:solidFill>
                            <a:srgbClr val="122C49"/>
                          </a:solidFill>
                          <a:latin typeface="Aptos"/>
                          <a:ea typeface="Aptos"/>
                          <a:cs typeface="Aptos"/>
                        </a:rPr>
                        <a:t>Consolidation: Study Units 9–15</a:t>
                      </a:r>
                    </a:p>
                  </a:txBody>
                  <a:tcPr marL="133350" marR="133350" marT="133350" marB="133350" anchor="ctr">
                    <a:solidFill>
                      <a:srgbClr val="FFFFFF"/>
                    </a:solidFill>
                  </a:tcPr>
                </a:tc>
                <a:tc>
                  <a:txBody>
                    <a:bodyPr/>
                    <a:lstStyle/>
                    <a:p>
                      <a:pPr marL="285750" indent="-285750">
                        <a:buFont typeface="Arial" panose="020B0604020202020204" pitchFamily="34" charset="0"/>
                        <a:buChar char="•"/>
                      </a:pPr>
                      <a:r>
                        <a:rPr lang="en-US" sz="1800" dirty="0">
                          <a:solidFill>
                            <a:srgbClr val="233B50"/>
                          </a:solidFill>
                          <a:latin typeface="Aptos"/>
                          <a:ea typeface="Aptos"/>
                          <a:cs typeface="Aptos"/>
                        </a:rPr>
                        <a:t>Revisit decision analysis, risk, investment decisions and ethics in unit order. </a:t>
                      </a:r>
                    </a:p>
                    <a:p>
                      <a:pPr marL="285750" indent="-285750">
                        <a:buFont typeface="Arial" panose="020B0604020202020204" pitchFamily="34" charset="0"/>
                        <a:buChar char="•"/>
                      </a:pPr>
                      <a:r>
                        <a:rPr lang="en-US" sz="1800">
                          <a:solidFill>
                            <a:srgbClr val="233B50"/>
                          </a:solidFill>
                          <a:latin typeface="Aptos"/>
                          <a:ea typeface="Aptos"/>
                          <a:cs typeface="Aptos"/>
                        </a:rPr>
                        <a:t>Finish with weak areas. </a:t>
                      </a:r>
                    </a:p>
                    <a:p>
                      <a:pPr marL="285750" indent="-285750">
                        <a:buFont typeface="Arial" panose="020B0604020202020204" pitchFamily="34" charset="0"/>
                        <a:buChar char="•"/>
                      </a:pPr>
                      <a:r>
                        <a:rPr lang="en-US" sz="1800">
                          <a:solidFill>
                            <a:srgbClr val="233B50"/>
                          </a:solidFill>
                          <a:latin typeface="Aptos"/>
                          <a:ea typeface="Aptos"/>
                          <a:cs typeface="Aptos"/>
                        </a:rPr>
                        <a:t>Proposed </a:t>
                      </a:r>
                      <a:r>
                        <a:rPr lang="en-US" sz="1800" dirty="0">
                          <a:solidFill>
                            <a:srgbClr val="233B50"/>
                          </a:solidFill>
                          <a:latin typeface="Aptos"/>
                          <a:ea typeface="Aptos"/>
                          <a:cs typeface="Aptos"/>
                        </a:rPr>
                        <a:t>review session.</a:t>
                      </a:r>
                    </a:p>
                  </a:txBody>
                  <a:tcPr marL="133350" marR="133350" marT="133350" marB="133350" anchor="ctr">
                    <a:solidFill>
                      <a:srgbClr val="FFFFFF"/>
                    </a:solidFill>
                  </a:tcPr>
                </a:tc>
                <a:tc>
                  <a:txBody>
                    <a:bodyPr/>
                    <a:lstStyle/>
                    <a:p>
                      <a:pPr algn="ctr"/>
                      <a:r>
                        <a:rPr lang="en-US" sz="1800" dirty="0">
                          <a:solidFill>
                            <a:srgbClr val="233B50"/>
                          </a:solidFill>
                          <a:latin typeface="Aptos"/>
                          <a:ea typeface="Aptos"/>
                          <a:cs typeface="Aptos"/>
                        </a:rPr>
                        <a:t>161–283</a:t>
                      </a:r>
                    </a:p>
                  </a:txBody>
                  <a:tcPr marL="133350" marR="133350" marT="133350" marB="133350" anchor="ctr">
                    <a:solidFill>
                      <a:srgbClr val="FFFFFF"/>
                    </a:solidFill>
                  </a:tcPr>
                </a:tc>
                <a:extLst>
                  <a:ext uri="{0D108BD9-81ED-4DB2-BD59-A6C34878D82A}">
                    <a16:rowId xmlns:a16="http://schemas.microsoft.com/office/drawing/2014/main" val="10003"/>
                  </a:ext>
                </a:extLst>
              </a:tr>
            </a:tbl>
          </a:graphicData>
        </a:graphic>
      </p:graphicFrame>
      <p:sp>
        <p:nvSpPr>
          <p:cNvPr id="4" name="Rectangle 3">
            <a:extLst>
              <a:ext uri="{FF2B5EF4-FFF2-40B4-BE49-F238E27FC236}">
                <a16:creationId xmlns:a16="http://schemas.microsoft.com/office/drawing/2014/main" id="{00000008-0003-4000-8000-000000000000}"/>
              </a:ext>
            </a:extLst>
          </p:cNvPr>
          <p:cNvSpPr>
            <a:spLocks noGrp="1"/>
          </p:cNvSpPr>
          <p:nvPr/>
        </p:nvSpPr>
        <p:spPr>
          <a:xfrm>
            <a:off x="762000" y="6962775"/>
            <a:ext cx="13335000" cy="714375"/>
          </a:xfrm>
          <a:prstGeom prst="rect">
            <a:avLst/>
          </a:prstGeom>
          <a:noFill/>
          <a:ln w="0">
            <a:noFill/>
          </a:ln>
        </p:spPr>
        <p:txBody>
          <a:bodyPr wrap="square">
            <a:noAutofit/>
          </a:bodyPr>
          <a:lstStyle/>
          <a:p>
            <a:pPr>
              <a:defRPr sz="2025" b="1">
                <a:solidFill>
                  <a:srgbClr val="007F83"/>
                </a:solidFill>
                <a:latin typeface="Aptos"/>
                <a:ea typeface="Aptos"/>
                <a:cs typeface="Aptos"/>
              </a:defRPr>
            </a:pPr>
            <a:r>
              <a:rPr sz="2025" b="1">
                <a:solidFill>
                  <a:srgbClr val="007F83"/>
                </a:solidFill>
                <a:latin typeface="Aptos"/>
                <a:ea typeface="Aptos"/>
                <a:cs typeface="Aptos"/>
              </a:rPr>
              <a:t>Completion check: finish Study Units 1–15, then revisit missed examples and unresolved questions.</a:t>
            </a:r>
          </a:p>
        </p:txBody>
      </p:sp>
      <p:sp>
        <p:nvSpPr>
          <p:cNvPr id="6" name="Rectangle 5">
            <a:extLst>
              <a:ext uri="{FF2B5EF4-FFF2-40B4-BE49-F238E27FC236}">
                <a16:creationId xmlns:a16="http://schemas.microsoft.com/office/drawing/2014/main" id="{00000008-0005-4000-8000-000000000000}"/>
              </a:ext>
            </a:extLst>
          </p:cNvPr>
          <p:cNvSpPr>
            <a:spLocks noGrp="1"/>
          </p:cNvSpPr>
          <p:nvPr/>
        </p:nvSpPr>
        <p:spPr>
          <a:xfrm>
            <a:off x="13811250" y="8077200"/>
            <a:ext cx="666750" cy="285750"/>
          </a:xfrm>
          <a:prstGeom prst="rect">
            <a:avLst/>
          </a:prstGeom>
          <a:noFill/>
          <a:ln w="0">
            <a:noFill/>
          </a:ln>
        </p:spPr>
        <p:txBody>
          <a:bodyPr wrap="square">
            <a:noAutofit/>
          </a:bodyPr>
          <a:lstStyle/>
          <a:p>
            <a:pPr>
              <a:defRPr sz="1350" b="0">
                <a:solidFill>
                  <a:srgbClr val="5C6F7F"/>
                </a:solidFill>
                <a:latin typeface="Aptos"/>
                <a:ea typeface="Aptos"/>
                <a:cs typeface="Aptos"/>
              </a:defRPr>
            </a:pPr>
            <a:r>
              <a:rPr lang="en-US" sz="1350" b="0">
                <a:solidFill>
                  <a:srgbClr val="5C6F7F"/>
                </a:solidFill>
                <a:latin typeface="Aptos"/>
                <a:ea typeface="Aptos"/>
                <a:cs typeface="Aptos"/>
              </a:rPr>
              <a:t>27</a:t>
            </a:r>
          </a:p>
        </p:txBody>
      </p:sp>
      <p:sp>
        <p:nvSpPr>
          <p:cNvPr id="8" name="Section exam weighting">
            <a:extLst>
              <a:ext uri="{FF2B5EF4-FFF2-40B4-BE49-F238E27FC236}">
                <a16:creationId xmlns:a16="http://schemas.microsoft.com/office/drawing/2014/main" id="{00000008-0002-4000-8000-000000000000}"/>
              </a:ext>
            </a:extLst>
          </p:cNvPr>
          <p:cNvSpPr>
            <a:spLocks noGrp="1"/>
          </p:cNvSpPr>
          <p:nvPr/>
        </p:nvSpPr>
        <p:spPr>
          <a:xfrm>
            <a:off x="762000" y="1657350"/>
            <a:ext cx="13811250" cy="276225"/>
          </a:xfrm>
          <a:prstGeom prst="rect">
            <a:avLst/>
          </a:prstGeom>
          <a:noFill/>
          <a:ln w="0">
            <a:noFill/>
          </a:ln>
        </p:spPr>
        <p:txBody>
          <a:bodyPr wrap="square" tIns="0" bIns="0">
            <a:noAutofit/>
          </a:bodyPr>
          <a:lstStyle/>
          <a:p>
            <a:pPr>
              <a:defRPr sz="2025" b="0">
                <a:solidFill>
                  <a:srgbClr val="007F83"/>
                </a:solidFill>
                <a:latin typeface="Aptos"/>
                <a:ea typeface="Aptos"/>
                <a:cs typeface="Aptos"/>
              </a:defRPr>
            </a:pPr>
            <a:r>
              <a:rPr lang="en-US" b="1">
                <a:solidFill>
                  <a:srgbClr val="007F83"/>
                </a:solidFill>
                <a:latin typeface="Aptos"/>
                <a:ea typeface="Aptos"/>
                <a:cs typeface="Aptos"/>
              </a:rPr>
              <a:t>Final review activities. No additional exam weighting.</a:t>
            </a:r>
          </a:p>
        </p:txBody>
      </p:sp>
      <p:sp>
        <p:nvSpPr>
          <p:cNvPr id="10" name="Rectangle 9">
            <a:extLst>
              <a:ext uri="{FF2B5EF4-FFF2-40B4-BE49-F238E27FC236}">
                <a16:creationId xmlns:a16="http://schemas.microsoft.com/office/drawing/2014/main" id="{7B4448D4-65DE-55AA-E171-59C341F31902}"/>
              </a:ext>
            </a:extLst>
          </p:cNvPr>
          <p:cNvSpPr>
            <a:spLocks noGrp="1"/>
          </p:cNvSpPr>
          <p:nvPr/>
        </p:nvSpPr>
        <p:spPr>
          <a:xfrm>
            <a:off x="762000" y="8077200"/>
            <a:ext cx="11430000" cy="285750"/>
          </a:xfrm>
          <a:prstGeom prst="rect">
            <a:avLst/>
          </a:prstGeom>
          <a:noFill/>
          <a:ln w="0">
            <a:noFill/>
          </a:ln>
        </p:spPr>
        <p:txBody>
          <a:bodyPr wrap="square">
            <a:noAutofit/>
          </a:bodyPr>
          <a:lstStyle/>
          <a:p>
            <a:pPr>
              <a:defRPr sz="1350" b="0">
                <a:solidFill>
                  <a:srgbClr val="5C6F7F"/>
                </a:solidFill>
                <a:latin typeface="Aptos"/>
                <a:ea typeface="Aptos"/>
                <a:cs typeface="Aptos"/>
              </a:defRPr>
            </a:pPr>
            <a:r>
              <a:rPr sz="1350" b="0" dirty="0">
                <a:solidFill>
                  <a:srgbClr val="5C6F7F"/>
                </a:solidFill>
                <a:latin typeface="Aptos"/>
                <a:ea typeface="Aptos"/>
                <a:cs typeface="Aptos"/>
              </a:rPr>
              <a:t>CMA P2 202</a:t>
            </a:r>
            <a:r>
              <a:rPr lang="en-US" sz="1350" b="0">
                <a:solidFill>
                  <a:srgbClr val="5C6F7F"/>
                </a:solidFill>
                <a:latin typeface="Aptos"/>
                <a:ea typeface="Aptos"/>
                <a:cs typeface="Aptos"/>
              </a:rPr>
              <a:t>6</a:t>
            </a:r>
            <a:endParaRPr sz="1350" b="0" dirty="0">
              <a:solidFill>
                <a:srgbClr val="5C6F7F"/>
              </a:solidFill>
              <a:latin typeface="Aptos"/>
              <a:ea typeface="Aptos"/>
              <a:cs typeface="Apto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00000001-0001-4000-8000-000000000000}"/>
              </a:ext>
            </a:extLst>
          </p:cNvPr>
          <p:cNvSpPr>
            <a:spLocks noGrp="1"/>
          </p:cNvSpPr>
          <p:nvPr/>
        </p:nvSpPr>
        <p:spPr>
          <a:xfrm>
            <a:off x="762000" y="666750"/>
            <a:ext cx="6667500" cy="428625"/>
          </a:xfrm>
          <a:prstGeom prst="rect">
            <a:avLst/>
          </a:prstGeom>
          <a:noFill/>
          <a:ln w="0">
            <a:noFill/>
          </a:ln>
        </p:spPr>
        <p:txBody>
          <a:bodyPr wrap="square">
            <a:noAutofit/>
          </a:bodyPr>
          <a:lstStyle/>
          <a:p>
            <a:pPr>
              <a:defRPr sz="2025" b="1">
                <a:solidFill>
                  <a:srgbClr val="007F83"/>
                </a:solidFill>
                <a:latin typeface="Aptos"/>
                <a:ea typeface="Aptos"/>
                <a:cs typeface="Aptos"/>
              </a:defRPr>
            </a:pPr>
            <a:r>
              <a:rPr sz="2025" b="1">
                <a:solidFill>
                  <a:srgbClr val="007F83"/>
                </a:solidFill>
                <a:latin typeface="Aptos"/>
                <a:ea typeface="Aptos"/>
                <a:cs typeface="Aptos"/>
              </a:rPr>
              <a:t>CMA PART 1</a:t>
            </a:r>
          </a:p>
        </p:txBody>
      </p:sp>
      <p:sp>
        <p:nvSpPr>
          <p:cNvPr id="2" name="Rectangle 1">
            <a:extLst>
              <a:ext uri="{FF2B5EF4-FFF2-40B4-BE49-F238E27FC236}">
                <a16:creationId xmlns:a16="http://schemas.microsoft.com/office/drawing/2014/main" id="{00000001-0002-4000-8000-000000000000}"/>
              </a:ext>
            </a:extLst>
          </p:cNvPr>
          <p:cNvSpPr>
            <a:spLocks noGrp="1"/>
          </p:cNvSpPr>
          <p:nvPr/>
        </p:nvSpPr>
        <p:spPr>
          <a:xfrm>
            <a:off x="762000" y="1390650"/>
            <a:ext cx="7429500" cy="1714500"/>
          </a:xfrm>
          <a:prstGeom prst="rect">
            <a:avLst/>
          </a:prstGeom>
          <a:noFill/>
          <a:ln w="0">
            <a:noFill/>
          </a:ln>
        </p:spPr>
        <p:txBody>
          <a:bodyPr wrap="square">
            <a:noAutofit/>
          </a:bodyPr>
          <a:lstStyle/>
          <a:p>
            <a:pPr>
              <a:defRPr sz="5100" b="1">
                <a:solidFill>
                  <a:srgbClr val="122C49"/>
                </a:solidFill>
                <a:latin typeface="Aptos"/>
                <a:ea typeface="Aptos"/>
                <a:cs typeface="Aptos"/>
              </a:defRPr>
            </a:pPr>
            <a:r>
              <a:rPr sz="5100" b="1">
                <a:solidFill>
                  <a:srgbClr val="122C49"/>
                </a:solidFill>
                <a:latin typeface="Aptos"/>
                <a:ea typeface="Aptos"/>
                <a:cs typeface="Aptos"/>
              </a:rPr>
              <a:t>Part 1</a:t>
            </a:r>
          </a:p>
          <a:p>
            <a:pPr>
              <a:defRPr sz="5100" b="1">
                <a:solidFill>
                  <a:srgbClr val="122C49"/>
                </a:solidFill>
                <a:latin typeface="Aptos"/>
                <a:ea typeface="Aptos"/>
                <a:cs typeface="Aptos"/>
              </a:defRPr>
            </a:pPr>
            <a:r>
              <a:rPr sz="5100" b="1">
                <a:solidFill>
                  <a:srgbClr val="122C49"/>
                </a:solidFill>
                <a:latin typeface="Aptos"/>
                <a:ea typeface="Aptos"/>
                <a:cs typeface="Aptos"/>
              </a:rPr>
              <a:t>study timetable</a:t>
            </a:r>
          </a:p>
        </p:txBody>
      </p:sp>
      <p:sp>
        <p:nvSpPr>
          <p:cNvPr id="3" name="Rectangle 2">
            <a:extLst>
              <a:ext uri="{FF2B5EF4-FFF2-40B4-BE49-F238E27FC236}">
                <a16:creationId xmlns:a16="http://schemas.microsoft.com/office/drawing/2014/main" id="{00000001-0003-4000-8000-000000000000}"/>
              </a:ext>
            </a:extLst>
          </p:cNvPr>
          <p:cNvSpPr>
            <a:spLocks noGrp="1"/>
          </p:cNvSpPr>
          <p:nvPr/>
        </p:nvSpPr>
        <p:spPr>
          <a:xfrm>
            <a:off x="762000" y="3438525"/>
            <a:ext cx="6667500" cy="571500"/>
          </a:xfrm>
          <a:prstGeom prst="rect">
            <a:avLst/>
          </a:prstGeom>
          <a:noFill/>
          <a:ln w="0">
            <a:noFill/>
          </a:ln>
        </p:spPr>
        <p:txBody>
          <a:bodyPr wrap="square">
            <a:noAutofit/>
          </a:bodyPr>
          <a:lstStyle/>
          <a:p>
            <a:pPr>
              <a:defRPr sz="2850" b="1">
                <a:solidFill>
                  <a:srgbClr val="007F83"/>
                </a:solidFill>
                <a:latin typeface="Aptos"/>
                <a:ea typeface="Aptos"/>
                <a:cs typeface="Aptos"/>
              </a:defRPr>
            </a:pPr>
            <a:r>
              <a:rPr sz="2850" b="1">
                <a:solidFill>
                  <a:srgbClr val="007F83"/>
                </a:solidFill>
                <a:latin typeface="Aptos"/>
                <a:ea typeface="Aptos"/>
                <a:cs typeface="Aptos"/>
              </a:rPr>
              <a:t>Friday and Tuesday</a:t>
            </a:r>
          </a:p>
        </p:txBody>
      </p:sp>
      <p:sp>
        <p:nvSpPr>
          <p:cNvPr id="4" name="Rectangle 3">
            <a:extLst>
              <a:ext uri="{FF2B5EF4-FFF2-40B4-BE49-F238E27FC236}">
                <a16:creationId xmlns:a16="http://schemas.microsoft.com/office/drawing/2014/main" id="{00000001-0004-4000-8000-000000000000}"/>
              </a:ext>
            </a:extLst>
          </p:cNvPr>
          <p:cNvSpPr>
            <a:spLocks noGrp="1"/>
          </p:cNvSpPr>
          <p:nvPr/>
        </p:nvSpPr>
        <p:spPr>
          <a:xfrm>
            <a:off x="762000" y="4124325"/>
            <a:ext cx="6953250" cy="476250"/>
          </a:xfrm>
          <a:prstGeom prst="rect">
            <a:avLst/>
          </a:prstGeom>
          <a:noFill/>
          <a:ln w="0">
            <a:noFill/>
          </a:ln>
        </p:spPr>
        <p:txBody>
          <a:bodyPr wrap="square">
            <a:noAutofit/>
          </a:bodyPr>
          <a:lstStyle/>
          <a:p>
            <a:pPr>
              <a:defRPr sz="2175" b="0">
                <a:solidFill>
                  <a:srgbClr val="122C49"/>
                </a:solidFill>
                <a:latin typeface="Aptos"/>
                <a:ea typeface="Aptos"/>
                <a:cs typeface="Aptos"/>
              </a:defRPr>
            </a:pPr>
            <a:r>
              <a:rPr lang="en-US" sz="2175" b="0">
                <a:solidFill>
                  <a:srgbClr val="122C49"/>
                </a:solidFill>
                <a:latin typeface="Aptos"/>
                <a:ea typeface="Aptos"/>
                <a:cs typeface="Aptos"/>
              </a:rPr>
              <a:t>12 February 2027 – 29 June 2027</a:t>
            </a:r>
          </a:p>
        </p:txBody>
      </p:sp>
      <p:sp>
        <p:nvSpPr>
          <p:cNvPr id="5" name="Rectangle 4">
            <a:extLst>
              <a:ext uri="{FF2B5EF4-FFF2-40B4-BE49-F238E27FC236}">
                <a16:creationId xmlns:a16="http://schemas.microsoft.com/office/drawing/2014/main" id="{00000001-0005-4000-8000-000000000000}"/>
              </a:ext>
            </a:extLst>
          </p:cNvPr>
          <p:cNvSpPr>
            <a:spLocks noGrp="1"/>
          </p:cNvSpPr>
          <p:nvPr/>
        </p:nvSpPr>
        <p:spPr>
          <a:xfrm>
            <a:off x="762000" y="4972050"/>
            <a:ext cx="7048500" cy="571500"/>
          </a:xfrm>
          <a:prstGeom prst="rect">
            <a:avLst/>
          </a:prstGeom>
          <a:noFill/>
          <a:ln w="0">
            <a:noFill/>
          </a:ln>
        </p:spPr>
        <p:txBody>
          <a:bodyPr wrap="square">
            <a:noAutofit/>
          </a:bodyPr>
          <a:lstStyle/>
          <a:p>
            <a:pPr>
              <a:defRPr sz="3300" b="1">
                <a:solidFill>
                  <a:srgbClr val="122C49"/>
                </a:solidFill>
                <a:latin typeface="Aptos"/>
                <a:ea typeface="Aptos"/>
                <a:cs typeface="Aptos"/>
              </a:defRPr>
            </a:pPr>
            <a:r>
              <a:rPr lang="en-US" sz="3300" b="1">
                <a:solidFill>
                  <a:srgbClr val="122C49"/>
                </a:solidFill>
                <a:latin typeface="Aptos"/>
                <a:ea typeface="Aptos"/>
                <a:cs typeface="Aptos"/>
              </a:rPr>
              <a:t>40</a:t>
            </a:r>
            <a:r>
              <a:rPr sz="3300" b="1">
                <a:solidFill>
                  <a:srgbClr val="122C49"/>
                </a:solidFill>
                <a:latin typeface="Aptos"/>
                <a:ea typeface="Aptos"/>
                <a:cs typeface="Aptos"/>
              </a:rPr>
              <a:t> dated sessions</a:t>
            </a:r>
          </a:p>
        </p:txBody>
      </p:sp>
      <p:sp>
        <p:nvSpPr>
          <p:cNvPr id="6" name="Rectangle 5">
            <a:extLst>
              <a:ext uri="{FF2B5EF4-FFF2-40B4-BE49-F238E27FC236}">
                <a16:creationId xmlns:a16="http://schemas.microsoft.com/office/drawing/2014/main" id="{00000001-0006-4000-8000-000000000000}"/>
              </a:ext>
            </a:extLst>
          </p:cNvPr>
          <p:cNvSpPr>
            <a:spLocks noGrp="1"/>
          </p:cNvSpPr>
          <p:nvPr/>
        </p:nvSpPr>
        <p:spPr>
          <a:xfrm>
            <a:off x="762000" y="5772150"/>
            <a:ext cx="7239000" cy="1000125"/>
          </a:xfrm>
          <a:prstGeom prst="rect">
            <a:avLst/>
          </a:prstGeom>
          <a:noFill/>
          <a:ln w="0">
            <a:noFill/>
          </a:ln>
        </p:spPr>
        <p:txBody>
          <a:bodyPr wrap="square">
            <a:noAutofit/>
          </a:bodyPr>
          <a:lstStyle/>
          <a:p>
            <a:pPr>
              <a:defRPr sz="2175" b="0">
                <a:solidFill>
                  <a:srgbClr val="233B50"/>
                </a:solidFill>
                <a:latin typeface="Aptos"/>
                <a:ea typeface="Aptos"/>
                <a:cs typeface="Aptos"/>
              </a:defRPr>
            </a:pPr>
            <a:r>
              <a:rPr lang="en-US" sz="2175" b="0">
                <a:solidFill>
                  <a:srgbClr val="233B50"/>
                </a:solidFill>
                <a:latin typeface="Aptos"/>
                <a:ea typeface="Aptos"/>
                <a:cs typeface="Aptos"/>
              </a:rPr>
              <a:t>16 of </a:t>
            </a:r>
            <a:r>
              <a:rPr sz="2175" b="0">
                <a:solidFill>
                  <a:srgbClr val="233B50"/>
                </a:solidFill>
                <a:latin typeface="Aptos"/>
                <a:ea typeface="Aptos"/>
                <a:cs typeface="Aptos"/>
              </a:rPr>
              <a:t>20 units </a:t>
            </a:r>
            <a:r>
              <a:rPr lang="en-US" sz="2175" b="0">
                <a:solidFill>
                  <a:srgbClr val="233B50"/>
                </a:solidFill>
                <a:latin typeface="Aptos"/>
                <a:ea typeface="Aptos"/>
                <a:cs typeface="Aptos"/>
              </a:rPr>
              <a:t>have two lectures</a:t>
            </a:r>
            <a:r>
              <a:rPr sz="2175" b="0">
                <a:solidFill>
                  <a:srgbClr val="233B50"/>
                </a:solidFill>
                <a:latin typeface="Aptos"/>
                <a:ea typeface="Aptos"/>
                <a:cs typeface="Aptos"/>
              </a:rPr>
              <a:t>.</a:t>
            </a:r>
          </a:p>
          <a:p>
            <a:pPr>
              <a:defRPr sz="2175" b="0">
                <a:solidFill>
                  <a:srgbClr val="233B50"/>
                </a:solidFill>
                <a:latin typeface="Aptos"/>
                <a:ea typeface="Aptos"/>
                <a:cs typeface="Aptos"/>
              </a:defRPr>
            </a:pPr>
            <a:r>
              <a:rPr sz="2175" b="0">
                <a:solidFill>
                  <a:srgbClr val="233B50"/>
                </a:solidFill>
                <a:latin typeface="Aptos"/>
                <a:ea typeface="Aptos"/>
                <a:cs typeface="Aptos"/>
              </a:rPr>
              <a:t>1 introduction, </a:t>
            </a:r>
            <a:r>
              <a:rPr lang="en-US" sz="2175" b="0">
                <a:solidFill>
                  <a:srgbClr val="233B50"/>
                </a:solidFill>
                <a:latin typeface="Aptos"/>
                <a:ea typeface="Aptos"/>
                <a:cs typeface="Aptos"/>
              </a:rPr>
              <a:t>36 </a:t>
            </a:r>
            <a:r>
              <a:rPr sz="2175" b="0">
                <a:solidFill>
                  <a:srgbClr val="233B50"/>
                </a:solidFill>
                <a:latin typeface="Aptos"/>
                <a:ea typeface="Aptos"/>
                <a:cs typeface="Aptos"/>
              </a:rPr>
              <a:t>study </a:t>
            </a:r>
            <a:r>
              <a:rPr lang="en-US" sz="2175" b="0">
                <a:solidFill>
                  <a:srgbClr val="233B50"/>
                </a:solidFill>
                <a:latin typeface="Aptos"/>
                <a:ea typeface="Aptos"/>
                <a:cs typeface="Aptos"/>
              </a:rPr>
              <a:t>lectures</a:t>
            </a:r>
            <a:endParaRPr sz="2175" b="0">
              <a:solidFill>
                <a:srgbClr val="233B50"/>
              </a:solidFill>
              <a:latin typeface="Aptos"/>
              <a:ea typeface="Aptos"/>
              <a:cs typeface="Aptos"/>
            </a:endParaRPr>
          </a:p>
          <a:p>
            <a:pPr>
              <a:defRPr sz="2175" b="0">
                <a:solidFill>
                  <a:srgbClr val="233B50"/>
                </a:solidFill>
                <a:latin typeface="Aptos"/>
                <a:ea typeface="Aptos"/>
                <a:cs typeface="Aptos"/>
              </a:defRPr>
            </a:pPr>
            <a:r>
              <a:rPr sz="2175" b="0">
                <a:solidFill>
                  <a:srgbClr val="233B50"/>
                </a:solidFill>
                <a:latin typeface="Aptos"/>
                <a:ea typeface="Aptos"/>
                <a:cs typeface="Aptos"/>
              </a:rPr>
              <a:t>and 3 review sessions.</a:t>
            </a:r>
          </a:p>
        </p:txBody>
      </p:sp>
      <p:sp>
        <p:nvSpPr>
          <p:cNvPr id="7" name="Rectangle 6">
            <a:extLst>
              <a:ext uri="{FF2B5EF4-FFF2-40B4-BE49-F238E27FC236}">
                <a16:creationId xmlns:a16="http://schemas.microsoft.com/office/drawing/2014/main" id="{00000001-0007-4000-8000-000000000000}"/>
              </a:ext>
            </a:extLst>
          </p:cNvPr>
          <p:cNvSpPr>
            <a:spLocks noGrp="1"/>
          </p:cNvSpPr>
          <p:nvPr/>
        </p:nvSpPr>
        <p:spPr>
          <a:xfrm>
            <a:off x="762000" y="6943725"/>
            <a:ext cx="7334250" cy="933450"/>
          </a:xfrm>
          <a:prstGeom prst="rect">
            <a:avLst/>
          </a:prstGeom>
          <a:noFill/>
          <a:ln w="0">
            <a:noFill/>
          </a:ln>
        </p:spPr>
        <p:txBody>
          <a:bodyPr wrap="square">
            <a:noAutofit/>
          </a:bodyPr>
          <a:lstStyle/>
          <a:p>
            <a:pPr>
              <a:defRPr sz="1725" b="0">
                <a:solidFill>
                  <a:srgbClr val="5C6F7F"/>
                </a:solidFill>
                <a:latin typeface="Aptos"/>
                <a:ea typeface="Aptos"/>
                <a:cs typeface="Aptos"/>
              </a:defRPr>
            </a:pPr>
            <a:r>
              <a:rPr lang="en-US" sz="1725" b="0">
                <a:solidFill>
                  <a:srgbClr val="5C6F7F"/>
                </a:solidFill>
                <a:latin typeface="Aptos"/>
                <a:ea typeface="Aptos"/>
                <a:cs typeface="Aptos"/>
              </a:rPr>
              <a:t>Unit order and subunits remain unchanged</a:t>
            </a:r>
            <a:r>
              <a:rPr sz="1725" b="0" dirty="0">
                <a:solidFill>
                  <a:srgbClr val="5C6F7F"/>
                </a:solidFill>
                <a:latin typeface="Aptos"/>
                <a:ea typeface="Aptos"/>
                <a:cs typeface="Aptos"/>
              </a:rPr>
              <a:t>.</a:t>
            </a:r>
          </a:p>
          <a:p>
            <a:pPr>
              <a:defRPr sz="1725" b="0">
                <a:solidFill>
                  <a:srgbClr val="5C6F7F"/>
                </a:solidFill>
                <a:latin typeface="Aptos"/>
                <a:ea typeface="Aptos"/>
                <a:cs typeface="Aptos"/>
              </a:defRPr>
            </a:pPr>
            <a:r>
              <a:rPr sz="1725" b="0" dirty="0">
                <a:solidFill>
                  <a:srgbClr val="5C6F7F"/>
                </a:solidFill>
                <a:latin typeface="Aptos"/>
                <a:ea typeface="Aptos"/>
                <a:cs typeface="Aptos"/>
              </a:rPr>
              <a:t>Session time and duration remain your choice.</a:t>
            </a:r>
          </a:p>
          <a:p>
            <a:pPr>
              <a:defRPr sz="1725" b="0">
                <a:solidFill>
                  <a:srgbClr val="5C6F7F"/>
                </a:solidFill>
                <a:latin typeface="Aptos"/>
                <a:ea typeface="Aptos"/>
                <a:cs typeface="Aptos"/>
              </a:defRPr>
            </a:pPr>
            <a:r>
              <a:rPr sz="1725" b="0" dirty="0">
                <a:solidFill>
                  <a:srgbClr val="5C6F7F"/>
                </a:solidFill>
                <a:latin typeface="Aptos"/>
                <a:ea typeface="Aptos"/>
                <a:cs typeface="Aptos"/>
              </a:rPr>
              <a:t>Dates remain unchanged on public holidays.</a:t>
            </a:r>
          </a:p>
        </p:txBody>
      </p:sp>
      <p:sp>
        <p:nvSpPr>
          <p:cNvPr id="8" name="Rectangle 7">
            <a:extLst>
              <a:ext uri="{FF2B5EF4-FFF2-40B4-BE49-F238E27FC236}">
                <a16:creationId xmlns:a16="http://schemas.microsoft.com/office/drawing/2014/main" id="{00000001-0008-4000-8000-000000000000}"/>
              </a:ext>
            </a:extLst>
          </p:cNvPr>
          <p:cNvSpPr>
            <a:spLocks noGrp="1"/>
          </p:cNvSpPr>
          <p:nvPr/>
        </p:nvSpPr>
        <p:spPr>
          <a:xfrm>
            <a:off x="9144000" y="800100"/>
            <a:ext cx="5048250" cy="381000"/>
          </a:xfrm>
          <a:prstGeom prst="rect">
            <a:avLst/>
          </a:prstGeom>
          <a:noFill/>
          <a:ln w="0">
            <a:noFill/>
          </a:ln>
        </p:spPr>
        <p:txBody>
          <a:bodyPr wrap="square">
            <a:noAutofit/>
          </a:bodyPr>
          <a:lstStyle/>
          <a:p>
            <a:pPr>
              <a:defRPr sz="1875" b="1">
                <a:solidFill>
                  <a:srgbClr val="007F83"/>
                </a:solidFill>
                <a:latin typeface="Aptos"/>
                <a:ea typeface="Aptos"/>
                <a:cs typeface="Aptos"/>
              </a:defRPr>
            </a:pPr>
            <a:r>
              <a:rPr lang="en-US" sz="1875" b="1">
                <a:solidFill>
                  <a:srgbClr val="007F83"/>
                </a:solidFill>
                <a:latin typeface="Aptos"/>
                <a:ea typeface="Aptos"/>
                <a:cs typeface="Aptos"/>
              </a:rPr>
              <a:t>EXAM WEIGHTS (TOTAL 100%)</a:t>
            </a:r>
            <a:endParaRPr sz="1875" b="1">
              <a:solidFill>
                <a:srgbClr val="007F83"/>
              </a:solidFill>
              <a:latin typeface="Aptos"/>
              <a:ea typeface="Aptos"/>
              <a:cs typeface="Aptos"/>
            </a:endParaRPr>
          </a:p>
        </p:txBody>
      </p:sp>
      <p:sp>
        <p:nvSpPr>
          <p:cNvPr id="9" name="Rectangle 8">
            <a:extLst>
              <a:ext uri="{FF2B5EF4-FFF2-40B4-BE49-F238E27FC236}">
                <a16:creationId xmlns:a16="http://schemas.microsoft.com/office/drawing/2014/main" id="{00000001-0009-4000-8000-000000000000}"/>
              </a:ext>
            </a:extLst>
          </p:cNvPr>
          <p:cNvSpPr>
            <a:spLocks noGrp="1"/>
          </p:cNvSpPr>
          <p:nvPr/>
        </p:nvSpPr>
        <p:spPr>
          <a:xfrm>
            <a:off x="9144000" y="1514475"/>
            <a:ext cx="571500" cy="504825"/>
          </a:xfrm>
          <a:prstGeom prst="rect">
            <a:avLst/>
          </a:prstGeom>
          <a:noFill/>
          <a:ln w="0">
            <a:noFill/>
          </a:ln>
        </p:spPr>
        <p:txBody>
          <a:bodyPr wrap="square">
            <a:noAutofit/>
          </a:bodyPr>
          <a:lstStyle/>
          <a:p>
            <a:pPr>
              <a:defRPr sz="2925" b="1">
                <a:solidFill>
                  <a:srgbClr val="007F83"/>
                </a:solidFill>
                <a:latin typeface="Aptos"/>
                <a:ea typeface="Aptos"/>
                <a:cs typeface="Aptos"/>
              </a:defRPr>
            </a:pPr>
            <a:r>
              <a:rPr sz="2925" b="1">
                <a:solidFill>
                  <a:srgbClr val="007F83"/>
                </a:solidFill>
                <a:latin typeface="Aptos"/>
                <a:ea typeface="Aptos"/>
                <a:cs typeface="Aptos"/>
              </a:rPr>
              <a:t>1</a:t>
            </a:r>
          </a:p>
        </p:txBody>
      </p:sp>
      <p:sp>
        <p:nvSpPr>
          <p:cNvPr id="10" name="Rectangle 9">
            <a:extLst>
              <a:ext uri="{FF2B5EF4-FFF2-40B4-BE49-F238E27FC236}">
                <a16:creationId xmlns:a16="http://schemas.microsoft.com/office/drawing/2014/main" id="{00000001-000A-4000-8000-000000000000}"/>
              </a:ext>
            </a:extLst>
          </p:cNvPr>
          <p:cNvSpPr>
            <a:spLocks noGrp="1"/>
          </p:cNvSpPr>
          <p:nvPr/>
        </p:nvSpPr>
        <p:spPr>
          <a:xfrm>
            <a:off x="9858375" y="1514475"/>
            <a:ext cx="4524375" cy="400050"/>
          </a:xfrm>
          <a:prstGeom prst="rect">
            <a:avLst/>
          </a:prstGeom>
          <a:noFill/>
          <a:ln w="0">
            <a:noFill/>
          </a:ln>
        </p:spPr>
        <p:txBody>
          <a:bodyPr wrap="square">
            <a:noAutofit/>
          </a:bodyPr>
          <a:lstStyle/>
          <a:p>
            <a:pPr>
              <a:defRPr sz="2025" b="1">
                <a:solidFill>
                  <a:srgbClr val="122C49"/>
                </a:solidFill>
                <a:latin typeface="Aptos"/>
                <a:ea typeface="Aptos"/>
                <a:cs typeface="Aptos"/>
              </a:defRPr>
            </a:pPr>
            <a:r>
              <a:rPr sz="2025" b="1">
                <a:solidFill>
                  <a:srgbClr val="122C49"/>
                </a:solidFill>
                <a:latin typeface="Aptos"/>
                <a:ea typeface="Aptos"/>
                <a:cs typeface="Aptos"/>
              </a:rPr>
              <a:t>External Financial Reporting</a:t>
            </a:r>
          </a:p>
        </p:txBody>
      </p:sp>
      <p:sp>
        <p:nvSpPr>
          <p:cNvPr id="11" name="Rectangle 10">
            <a:extLst>
              <a:ext uri="{FF2B5EF4-FFF2-40B4-BE49-F238E27FC236}">
                <a16:creationId xmlns:a16="http://schemas.microsoft.com/office/drawing/2014/main" id="{00000001-000B-4000-8000-000000000000}"/>
              </a:ext>
            </a:extLst>
          </p:cNvPr>
          <p:cNvSpPr>
            <a:spLocks noGrp="1"/>
          </p:cNvSpPr>
          <p:nvPr/>
        </p:nvSpPr>
        <p:spPr>
          <a:xfrm>
            <a:off x="9858375" y="1924050"/>
            <a:ext cx="4476750" cy="342900"/>
          </a:xfrm>
          <a:prstGeom prst="rect">
            <a:avLst/>
          </a:prstGeom>
          <a:noFill/>
          <a:ln w="0">
            <a:noFill/>
          </a:ln>
        </p:spPr>
        <p:txBody>
          <a:bodyPr wrap="square">
            <a:noAutofit/>
          </a:bodyPr>
          <a:lstStyle/>
          <a:p>
            <a:pPr>
              <a:defRPr sz="1725" b="0">
                <a:solidFill>
                  <a:srgbClr val="5C6F7F"/>
                </a:solidFill>
                <a:latin typeface="Aptos"/>
                <a:ea typeface="Aptos"/>
                <a:cs typeface="Aptos"/>
              </a:defRPr>
            </a:pPr>
            <a:r>
              <a:rPr lang="en-US" sz="1725" b="1">
                <a:solidFill>
                  <a:srgbClr val="007F83"/>
                </a:solidFill>
                <a:latin typeface="Aptos"/>
                <a:ea typeface="Aptos"/>
                <a:cs typeface="Aptos"/>
              </a:rPr>
              <a:t>15%  /  16 Feb – 26 Mar</a:t>
            </a:r>
          </a:p>
        </p:txBody>
      </p:sp>
      <p:sp>
        <p:nvSpPr>
          <p:cNvPr id="12" name="Rectangle 11">
            <a:extLst>
              <a:ext uri="{FF2B5EF4-FFF2-40B4-BE49-F238E27FC236}">
                <a16:creationId xmlns:a16="http://schemas.microsoft.com/office/drawing/2014/main" id="{00000001-000C-4000-8000-000000000000}"/>
              </a:ext>
            </a:extLst>
          </p:cNvPr>
          <p:cNvSpPr>
            <a:spLocks noGrp="1"/>
          </p:cNvSpPr>
          <p:nvPr/>
        </p:nvSpPr>
        <p:spPr>
          <a:xfrm>
            <a:off x="9144000" y="2476500"/>
            <a:ext cx="571500" cy="504825"/>
          </a:xfrm>
          <a:prstGeom prst="rect">
            <a:avLst/>
          </a:prstGeom>
          <a:noFill/>
          <a:ln w="0">
            <a:noFill/>
          </a:ln>
        </p:spPr>
        <p:txBody>
          <a:bodyPr wrap="square">
            <a:noAutofit/>
          </a:bodyPr>
          <a:lstStyle/>
          <a:p>
            <a:pPr>
              <a:defRPr sz="2925" b="1">
                <a:solidFill>
                  <a:srgbClr val="007F83"/>
                </a:solidFill>
                <a:latin typeface="Aptos"/>
                <a:ea typeface="Aptos"/>
                <a:cs typeface="Aptos"/>
              </a:defRPr>
            </a:pPr>
            <a:r>
              <a:rPr sz="2925" b="1">
                <a:solidFill>
                  <a:srgbClr val="007F83"/>
                </a:solidFill>
                <a:latin typeface="Aptos"/>
                <a:ea typeface="Aptos"/>
                <a:cs typeface="Aptos"/>
              </a:rPr>
              <a:t>2</a:t>
            </a:r>
          </a:p>
        </p:txBody>
      </p:sp>
      <p:sp>
        <p:nvSpPr>
          <p:cNvPr id="13" name="Rectangle 12">
            <a:extLst>
              <a:ext uri="{FF2B5EF4-FFF2-40B4-BE49-F238E27FC236}">
                <a16:creationId xmlns:a16="http://schemas.microsoft.com/office/drawing/2014/main" id="{00000001-000D-4000-8000-000000000000}"/>
              </a:ext>
            </a:extLst>
          </p:cNvPr>
          <p:cNvSpPr>
            <a:spLocks noGrp="1"/>
          </p:cNvSpPr>
          <p:nvPr/>
        </p:nvSpPr>
        <p:spPr>
          <a:xfrm>
            <a:off x="9858375" y="2476500"/>
            <a:ext cx="4524375" cy="400050"/>
          </a:xfrm>
          <a:prstGeom prst="rect">
            <a:avLst/>
          </a:prstGeom>
          <a:noFill/>
          <a:ln w="0">
            <a:noFill/>
          </a:ln>
        </p:spPr>
        <p:txBody>
          <a:bodyPr wrap="square">
            <a:noAutofit/>
          </a:bodyPr>
          <a:lstStyle/>
          <a:p>
            <a:pPr>
              <a:defRPr sz="2025" b="1">
                <a:solidFill>
                  <a:srgbClr val="122C49"/>
                </a:solidFill>
                <a:latin typeface="Aptos"/>
                <a:ea typeface="Aptos"/>
                <a:cs typeface="Aptos"/>
              </a:defRPr>
            </a:pPr>
            <a:r>
              <a:rPr sz="2025" b="1">
                <a:solidFill>
                  <a:srgbClr val="122C49"/>
                </a:solidFill>
                <a:latin typeface="Aptos"/>
                <a:ea typeface="Aptos"/>
                <a:cs typeface="Aptos"/>
              </a:rPr>
              <a:t>Cost Management</a:t>
            </a:r>
          </a:p>
        </p:txBody>
      </p:sp>
      <p:sp>
        <p:nvSpPr>
          <p:cNvPr id="14" name="Rectangle 13">
            <a:extLst>
              <a:ext uri="{FF2B5EF4-FFF2-40B4-BE49-F238E27FC236}">
                <a16:creationId xmlns:a16="http://schemas.microsoft.com/office/drawing/2014/main" id="{00000001-000E-4000-8000-000000000000}"/>
              </a:ext>
            </a:extLst>
          </p:cNvPr>
          <p:cNvSpPr>
            <a:spLocks noGrp="1"/>
          </p:cNvSpPr>
          <p:nvPr/>
        </p:nvSpPr>
        <p:spPr>
          <a:xfrm>
            <a:off x="9858375" y="2886075"/>
            <a:ext cx="4476750" cy="342900"/>
          </a:xfrm>
          <a:prstGeom prst="rect">
            <a:avLst/>
          </a:prstGeom>
          <a:noFill/>
          <a:ln w="0">
            <a:noFill/>
          </a:ln>
        </p:spPr>
        <p:txBody>
          <a:bodyPr wrap="square">
            <a:noAutofit/>
          </a:bodyPr>
          <a:lstStyle/>
          <a:p>
            <a:pPr>
              <a:defRPr sz="1725" b="0">
                <a:solidFill>
                  <a:srgbClr val="5C6F7F"/>
                </a:solidFill>
                <a:latin typeface="Aptos"/>
                <a:ea typeface="Aptos"/>
                <a:cs typeface="Aptos"/>
              </a:defRPr>
            </a:pPr>
            <a:r>
              <a:rPr lang="en-US" sz="1725" b="1">
                <a:solidFill>
                  <a:srgbClr val="007F83"/>
                </a:solidFill>
                <a:latin typeface="Aptos"/>
                <a:ea typeface="Aptos"/>
                <a:cs typeface="Aptos"/>
              </a:rPr>
              <a:t>15%  /  30 Mar – 27 Apr</a:t>
            </a:r>
          </a:p>
        </p:txBody>
      </p:sp>
      <p:sp>
        <p:nvSpPr>
          <p:cNvPr id="15" name="Rectangle 14">
            <a:extLst>
              <a:ext uri="{FF2B5EF4-FFF2-40B4-BE49-F238E27FC236}">
                <a16:creationId xmlns:a16="http://schemas.microsoft.com/office/drawing/2014/main" id="{00000001-000F-4000-8000-000000000000}"/>
              </a:ext>
            </a:extLst>
          </p:cNvPr>
          <p:cNvSpPr>
            <a:spLocks noGrp="1"/>
          </p:cNvSpPr>
          <p:nvPr/>
        </p:nvSpPr>
        <p:spPr>
          <a:xfrm>
            <a:off x="9144000" y="3438525"/>
            <a:ext cx="571500" cy="504825"/>
          </a:xfrm>
          <a:prstGeom prst="rect">
            <a:avLst/>
          </a:prstGeom>
          <a:noFill/>
          <a:ln w="0">
            <a:noFill/>
          </a:ln>
        </p:spPr>
        <p:txBody>
          <a:bodyPr wrap="square">
            <a:noAutofit/>
          </a:bodyPr>
          <a:lstStyle/>
          <a:p>
            <a:pPr>
              <a:defRPr sz="2925" b="1">
                <a:solidFill>
                  <a:srgbClr val="007F83"/>
                </a:solidFill>
                <a:latin typeface="Aptos"/>
                <a:ea typeface="Aptos"/>
                <a:cs typeface="Aptos"/>
              </a:defRPr>
            </a:pPr>
            <a:r>
              <a:rPr sz="2925" b="1">
                <a:solidFill>
                  <a:srgbClr val="007F83"/>
                </a:solidFill>
                <a:latin typeface="Aptos"/>
                <a:ea typeface="Aptos"/>
                <a:cs typeface="Aptos"/>
              </a:rPr>
              <a:t>3</a:t>
            </a:r>
          </a:p>
        </p:txBody>
      </p:sp>
      <p:sp>
        <p:nvSpPr>
          <p:cNvPr id="16" name="Rectangle 15">
            <a:extLst>
              <a:ext uri="{FF2B5EF4-FFF2-40B4-BE49-F238E27FC236}">
                <a16:creationId xmlns:a16="http://schemas.microsoft.com/office/drawing/2014/main" id="{00000001-0010-4000-8000-000000000000}"/>
              </a:ext>
            </a:extLst>
          </p:cNvPr>
          <p:cNvSpPr>
            <a:spLocks noGrp="1"/>
          </p:cNvSpPr>
          <p:nvPr/>
        </p:nvSpPr>
        <p:spPr>
          <a:xfrm>
            <a:off x="9858375" y="3438525"/>
            <a:ext cx="4524375" cy="594360"/>
          </a:xfrm>
          <a:prstGeom prst="rect">
            <a:avLst/>
          </a:prstGeom>
          <a:noFill/>
          <a:ln w="0">
            <a:noFill/>
          </a:ln>
        </p:spPr>
        <p:txBody>
          <a:bodyPr wrap="square">
            <a:noAutofit/>
          </a:bodyPr>
          <a:lstStyle/>
          <a:p>
            <a:pPr>
              <a:defRPr sz="2025" b="1">
                <a:solidFill>
                  <a:srgbClr val="122C49"/>
                </a:solidFill>
                <a:latin typeface="Aptos"/>
                <a:ea typeface="Aptos"/>
                <a:cs typeface="Aptos"/>
              </a:defRPr>
            </a:pPr>
            <a:r>
              <a:rPr sz="2025" b="1">
                <a:solidFill>
                  <a:srgbClr val="122C49"/>
                </a:solidFill>
                <a:latin typeface="Aptos"/>
                <a:ea typeface="Aptos"/>
                <a:cs typeface="Aptos"/>
              </a:rPr>
              <a:t>Planning, Budgeting</a:t>
            </a:r>
          </a:p>
          <a:p>
            <a:pPr>
              <a:defRPr sz="2025" b="1">
                <a:solidFill>
                  <a:srgbClr val="122C49"/>
                </a:solidFill>
                <a:latin typeface="Aptos"/>
                <a:ea typeface="Aptos"/>
                <a:cs typeface="Aptos"/>
              </a:defRPr>
            </a:pPr>
            <a:r>
              <a:rPr sz="2025" b="1">
                <a:solidFill>
                  <a:srgbClr val="122C49"/>
                </a:solidFill>
                <a:latin typeface="Aptos"/>
                <a:ea typeface="Aptos"/>
                <a:cs typeface="Aptos"/>
              </a:rPr>
              <a:t>and Forecasting</a:t>
            </a:r>
          </a:p>
        </p:txBody>
      </p:sp>
      <p:sp>
        <p:nvSpPr>
          <p:cNvPr id="17" name="Rectangle 16">
            <a:extLst>
              <a:ext uri="{FF2B5EF4-FFF2-40B4-BE49-F238E27FC236}">
                <a16:creationId xmlns:a16="http://schemas.microsoft.com/office/drawing/2014/main" id="{00000001-0011-4000-8000-000000000000}"/>
              </a:ext>
            </a:extLst>
          </p:cNvPr>
          <p:cNvSpPr>
            <a:spLocks noGrp="1"/>
          </p:cNvSpPr>
          <p:nvPr/>
        </p:nvSpPr>
        <p:spPr>
          <a:xfrm>
            <a:off x="9858375" y="4003548"/>
            <a:ext cx="4476750" cy="342900"/>
          </a:xfrm>
          <a:prstGeom prst="rect">
            <a:avLst/>
          </a:prstGeom>
          <a:noFill/>
          <a:ln w="0">
            <a:noFill/>
          </a:ln>
        </p:spPr>
        <p:txBody>
          <a:bodyPr wrap="square">
            <a:noAutofit/>
          </a:bodyPr>
          <a:lstStyle/>
          <a:p>
            <a:pPr>
              <a:defRPr sz="1725" b="0">
                <a:solidFill>
                  <a:srgbClr val="5C6F7F"/>
                </a:solidFill>
                <a:latin typeface="Aptos"/>
                <a:ea typeface="Aptos"/>
                <a:cs typeface="Aptos"/>
              </a:defRPr>
            </a:pPr>
            <a:r>
              <a:rPr lang="en-US" sz="1725" b="1">
                <a:solidFill>
                  <a:srgbClr val="007F83"/>
                </a:solidFill>
                <a:latin typeface="Aptos"/>
                <a:ea typeface="Aptos"/>
                <a:cs typeface="Aptos"/>
              </a:rPr>
              <a:t>20%  /  30 Apr – 18 May</a:t>
            </a:r>
          </a:p>
        </p:txBody>
      </p:sp>
      <p:sp>
        <p:nvSpPr>
          <p:cNvPr id="18" name="Rectangle 17">
            <a:extLst>
              <a:ext uri="{FF2B5EF4-FFF2-40B4-BE49-F238E27FC236}">
                <a16:creationId xmlns:a16="http://schemas.microsoft.com/office/drawing/2014/main" id="{00000001-0012-4000-8000-000000000000}"/>
              </a:ext>
            </a:extLst>
          </p:cNvPr>
          <p:cNvSpPr>
            <a:spLocks noGrp="1"/>
          </p:cNvSpPr>
          <p:nvPr/>
        </p:nvSpPr>
        <p:spPr>
          <a:xfrm>
            <a:off x="9144000" y="4400550"/>
            <a:ext cx="571500" cy="504825"/>
          </a:xfrm>
          <a:prstGeom prst="rect">
            <a:avLst/>
          </a:prstGeom>
          <a:noFill/>
          <a:ln w="0">
            <a:noFill/>
          </a:ln>
        </p:spPr>
        <p:txBody>
          <a:bodyPr wrap="square">
            <a:noAutofit/>
          </a:bodyPr>
          <a:lstStyle/>
          <a:p>
            <a:pPr>
              <a:defRPr sz="2925" b="1">
                <a:solidFill>
                  <a:srgbClr val="007F83"/>
                </a:solidFill>
                <a:latin typeface="Aptos"/>
                <a:ea typeface="Aptos"/>
                <a:cs typeface="Aptos"/>
              </a:defRPr>
            </a:pPr>
            <a:r>
              <a:rPr sz="2925" b="1">
                <a:solidFill>
                  <a:srgbClr val="007F83"/>
                </a:solidFill>
                <a:latin typeface="Aptos"/>
                <a:ea typeface="Aptos"/>
                <a:cs typeface="Aptos"/>
              </a:rPr>
              <a:t>4</a:t>
            </a:r>
          </a:p>
        </p:txBody>
      </p:sp>
      <p:sp>
        <p:nvSpPr>
          <p:cNvPr id="19" name="Rectangle 18">
            <a:extLst>
              <a:ext uri="{FF2B5EF4-FFF2-40B4-BE49-F238E27FC236}">
                <a16:creationId xmlns:a16="http://schemas.microsoft.com/office/drawing/2014/main" id="{00000001-0013-4000-8000-000000000000}"/>
              </a:ext>
            </a:extLst>
          </p:cNvPr>
          <p:cNvSpPr>
            <a:spLocks noGrp="1"/>
          </p:cNvSpPr>
          <p:nvPr/>
        </p:nvSpPr>
        <p:spPr>
          <a:xfrm>
            <a:off x="9858375" y="4400550"/>
            <a:ext cx="4524375" cy="400050"/>
          </a:xfrm>
          <a:prstGeom prst="rect">
            <a:avLst/>
          </a:prstGeom>
          <a:noFill/>
          <a:ln w="0">
            <a:noFill/>
          </a:ln>
        </p:spPr>
        <p:txBody>
          <a:bodyPr wrap="square">
            <a:noAutofit/>
          </a:bodyPr>
          <a:lstStyle/>
          <a:p>
            <a:pPr>
              <a:defRPr sz="2025" b="1">
                <a:solidFill>
                  <a:srgbClr val="122C49"/>
                </a:solidFill>
                <a:latin typeface="Aptos"/>
                <a:ea typeface="Aptos"/>
                <a:cs typeface="Aptos"/>
              </a:defRPr>
            </a:pPr>
            <a:r>
              <a:rPr sz="2025" b="1">
                <a:solidFill>
                  <a:srgbClr val="122C49"/>
                </a:solidFill>
                <a:latin typeface="Aptos"/>
                <a:ea typeface="Aptos"/>
                <a:cs typeface="Aptos"/>
              </a:rPr>
              <a:t>Performance Management</a:t>
            </a:r>
          </a:p>
        </p:txBody>
      </p:sp>
      <p:sp>
        <p:nvSpPr>
          <p:cNvPr id="20" name="Rectangle 19">
            <a:extLst>
              <a:ext uri="{FF2B5EF4-FFF2-40B4-BE49-F238E27FC236}">
                <a16:creationId xmlns:a16="http://schemas.microsoft.com/office/drawing/2014/main" id="{00000001-0014-4000-8000-000000000000}"/>
              </a:ext>
            </a:extLst>
          </p:cNvPr>
          <p:cNvSpPr>
            <a:spLocks noGrp="1"/>
          </p:cNvSpPr>
          <p:nvPr/>
        </p:nvSpPr>
        <p:spPr>
          <a:xfrm>
            <a:off x="9858375" y="4810125"/>
            <a:ext cx="4476750" cy="342900"/>
          </a:xfrm>
          <a:prstGeom prst="rect">
            <a:avLst/>
          </a:prstGeom>
          <a:noFill/>
          <a:ln w="0">
            <a:noFill/>
          </a:ln>
        </p:spPr>
        <p:txBody>
          <a:bodyPr wrap="square">
            <a:noAutofit/>
          </a:bodyPr>
          <a:lstStyle/>
          <a:p>
            <a:pPr>
              <a:defRPr sz="1725" b="0">
                <a:solidFill>
                  <a:srgbClr val="5C6F7F"/>
                </a:solidFill>
                <a:latin typeface="Aptos"/>
                <a:ea typeface="Aptos"/>
                <a:cs typeface="Aptos"/>
              </a:defRPr>
            </a:pPr>
            <a:r>
              <a:rPr lang="en-US" sz="1725" b="1">
                <a:solidFill>
                  <a:srgbClr val="007F83"/>
                </a:solidFill>
                <a:latin typeface="Aptos"/>
                <a:ea typeface="Aptos"/>
                <a:cs typeface="Aptos"/>
              </a:rPr>
              <a:t>20%  /  21 May – 01 Jun</a:t>
            </a:r>
          </a:p>
        </p:txBody>
      </p:sp>
      <p:sp>
        <p:nvSpPr>
          <p:cNvPr id="21" name="Rectangle 20">
            <a:extLst>
              <a:ext uri="{FF2B5EF4-FFF2-40B4-BE49-F238E27FC236}">
                <a16:creationId xmlns:a16="http://schemas.microsoft.com/office/drawing/2014/main" id="{00000001-0015-4000-8000-000000000000}"/>
              </a:ext>
            </a:extLst>
          </p:cNvPr>
          <p:cNvSpPr>
            <a:spLocks noGrp="1"/>
          </p:cNvSpPr>
          <p:nvPr/>
        </p:nvSpPr>
        <p:spPr>
          <a:xfrm>
            <a:off x="9144000" y="5362575"/>
            <a:ext cx="571500" cy="504825"/>
          </a:xfrm>
          <a:prstGeom prst="rect">
            <a:avLst/>
          </a:prstGeom>
          <a:noFill/>
          <a:ln w="0">
            <a:noFill/>
          </a:ln>
        </p:spPr>
        <p:txBody>
          <a:bodyPr wrap="square">
            <a:noAutofit/>
          </a:bodyPr>
          <a:lstStyle/>
          <a:p>
            <a:pPr>
              <a:defRPr sz="2925" b="1">
                <a:solidFill>
                  <a:srgbClr val="007F83"/>
                </a:solidFill>
                <a:latin typeface="Aptos"/>
                <a:ea typeface="Aptos"/>
                <a:cs typeface="Aptos"/>
              </a:defRPr>
            </a:pPr>
            <a:r>
              <a:rPr sz="2925" b="1">
                <a:solidFill>
                  <a:srgbClr val="007F83"/>
                </a:solidFill>
                <a:latin typeface="Aptos"/>
                <a:ea typeface="Aptos"/>
                <a:cs typeface="Aptos"/>
              </a:rPr>
              <a:t>5</a:t>
            </a:r>
          </a:p>
        </p:txBody>
      </p:sp>
      <p:sp>
        <p:nvSpPr>
          <p:cNvPr id="22" name="Rectangle 21">
            <a:extLst>
              <a:ext uri="{FF2B5EF4-FFF2-40B4-BE49-F238E27FC236}">
                <a16:creationId xmlns:a16="http://schemas.microsoft.com/office/drawing/2014/main" id="{00000001-0016-4000-8000-000000000000}"/>
              </a:ext>
            </a:extLst>
          </p:cNvPr>
          <p:cNvSpPr>
            <a:spLocks noGrp="1"/>
          </p:cNvSpPr>
          <p:nvPr/>
        </p:nvSpPr>
        <p:spPr>
          <a:xfrm>
            <a:off x="9858375" y="5362575"/>
            <a:ext cx="4524375" cy="400050"/>
          </a:xfrm>
          <a:prstGeom prst="rect">
            <a:avLst/>
          </a:prstGeom>
          <a:noFill/>
          <a:ln w="0">
            <a:noFill/>
          </a:ln>
        </p:spPr>
        <p:txBody>
          <a:bodyPr wrap="square">
            <a:noAutofit/>
          </a:bodyPr>
          <a:lstStyle/>
          <a:p>
            <a:pPr>
              <a:defRPr sz="2025" b="1">
                <a:solidFill>
                  <a:srgbClr val="122C49"/>
                </a:solidFill>
                <a:latin typeface="Aptos"/>
                <a:ea typeface="Aptos"/>
                <a:cs typeface="Aptos"/>
              </a:defRPr>
            </a:pPr>
            <a:r>
              <a:rPr sz="2025" b="1">
                <a:solidFill>
                  <a:srgbClr val="122C49"/>
                </a:solidFill>
                <a:latin typeface="Aptos"/>
                <a:ea typeface="Aptos"/>
                <a:cs typeface="Aptos"/>
              </a:rPr>
              <a:t>Internal Controls</a:t>
            </a:r>
          </a:p>
        </p:txBody>
      </p:sp>
      <p:sp>
        <p:nvSpPr>
          <p:cNvPr id="23" name="Rectangle 22">
            <a:extLst>
              <a:ext uri="{FF2B5EF4-FFF2-40B4-BE49-F238E27FC236}">
                <a16:creationId xmlns:a16="http://schemas.microsoft.com/office/drawing/2014/main" id="{00000001-0017-4000-8000-000000000000}"/>
              </a:ext>
            </a:extLst>
          </p:cNvPr>
          <p:cNvSpPr>
            <a:spLocks noGrp="1"/>
          </p:cNvSpPr>
          <p:nvPr/>
        </p:nvSpPr>
        <p:spPr>
          <a:xfrm>
            <a:off x="9858375" y="5772150"/>
            <a:ext cx="4476750" cy="342900"/>
          </a:xfrm>
          <a:prstGeom prst="rect">
            <a:avLst/>
          </a:prstGeom>
          <a:noFill/>
          <a:ln w="0">
            <a:noFill/>
          </a:ln>
        </p:spPr>
        <p:txBody>
          <a:bodyPr wrap="square">
            <a:noAutofit/>
          </a:bodyPr>
          <a:lstStyle/>
          <a:p>
            <a:pPr>
              <a:defRPr sz="1725" b="0">
                <a:solidFill>
                  <a:srgbClr val="5C6F7F"/>
                </a:solidFill>
                <a:latin typeface="Aptos"/>
                <a:ea typeface="Aptos"/>
                <a:cs typeface="Aptos"/>
              </a:defRPr>
            </a:pPr>
            <a:r>
              <a:rPr lang="en-US" sz="1725" b="1">
                <a:solidFill>
                  <a:srgbClr val="007F83"/>
                </a:solidFill>
                <a:latin typeface="Aptos"/>
                <a:ea typeface="Aptos"/>
                <a:cs typeface="Aptos"/>
              </a:rPr>
              <a:t>15%  /  4–11 Jun</a:t>
            </a:r>
          </a:p>
        </p:txBody>
      </p:sp>
      <p:sp>
        <p:nvSpPr>
          <p:cNvPr id="24" name="Rectangle 23">
            <a:extLst>
              <a:ext uri="{FF2B5EF4-FFF2-40B4-BE49-F238E27FC236}">
                <a16:creationId xmlns:a16="http://schemas.microsoft.com/office/drawing/2014/main" id="{00000001-0018-4000-8000-000000000000}"/>
              </a:ext>
            </a:extLst>
          </p:cNvPr>
          <p:cNvSpPr>
            <a:spLocks noGrp="1"/>
          </p:cNvSpPr>
          <p:nvPr/>
        </p:nvSpPr>
        <p:spPr>
          <a:xfrm>
            <a:off x="9144000" y="6324600"/>
            <a:ext cx="571500" cy="504825"/>
          </a:xfrm>
          <a:prstGeom prst="rect">
            <a:avLst/>
          </a:prstGeom>
          <a:noFill/>
          <a:ln w="0">
            <a:noFill/>
          </a:ln>
        </p:spPr>
        <p:txBody>
          <a:bodyPr wrap="square">
            <a:noAutofit/>
          </a:bodyPr>
          <a:lstStyle/>
          <a:p>
            <a:pPr>
              <a:defRPr sz="2925" b="1">
                <a:solidFill>
                  <a:srgbClr val="007F83"/>
                </a:solidFill>
                <a:latin typeface="Aptos"/>
                <a:ea typeface="Aptos"/>
                <a:cs typeface="Aptos"/>
              </a:defRPr>
            </a:pPr>
            <a:r>
              <a:rPr sz="2925" b="1">
                <a:solidFill>
                  <a:srgbClr val="007F83"/>
                </a:solidFill>
                <a:latin typeface="Aptos"/>
                <a:ea typeface="Aptos"/>
                <a:cs typeface="Aptos"/>
              </a:rPr>
              <a:t>6</a:t>
            </a:r>
          </a:p>
        </p:txBody>
      </p:sp>
      <p:sp>
        <p:nvSpPr>
          <p:cNvPr id="25" name="Rectangle 24">
            <a:extLst>
              <a:ext uri="{FF2B5EF4-FFF2-40B4-BE49-F238E27FC236}">
                <a16:creationId xmlns:a16="http://schemas.microsoft.com/office/drawing/2014/main" id="{00000001-0019-4000-8000-000000000000}"/>
              </a:ext>
            </a:extLst>
          </p:cNvPr>
          <p:cNvSpPr>
            <a:spLocks noGrp="1"/>
          </p:cNvSpPr>
          <p:nvPr/>
        </p:nvSpPr>
        <p:spPr>
          <a:xfrm>
            <a:off x="9858375" y="6324600"/>
            <a:ext cx="4524375" cy="400050"/>
          </a:xfrm>
          <a:prstGeom prst="rect">
            <a:avLst/>
          </a:prstGeom>
          <a:noFill/>
          <a:ln w="0">
            <a:noFill/>
          </a:ln>
        </p:spPr>
        <p:txBody>
          <a:bodyPr wrap="square">
            <a:noAutofit/>
          </a:bodyPr>
          <a:lstStyle/>
          <a:p>
            <a:pPr>
              <a:defRPr sz="2025" b="1">
                <a:solidFill>
                  <a:srgbClr val="122C49"/>
                </a:solidFill>
                <a:latin typeface="Aptos"/>
                <a:ea typeface="Aptos"/>
                <a:cs typeface="Aptos"/>
              </a:defRPr>
            </a:pPr>
            <a:r>
              <a:rPr sz="2025" b="1">
                <a:solidFill>
                  <a:srgbClr val="122C49"/>
                </a:solidFill>
                <a:latin typeface="Aptos"/>
                <a:ea typeface="Aptos"/>
                <a:cs typeface="Aptos"/>
              </a:rPr>
              <a:t>Technology and Analytics</a:t>
            </a:r>
          </a:p>
        </p:txBody>
      </p:sp>
      <p:sp>
        <p:nvSpPr>
          <p:cNvPr id="26" name="Rectangle 25">
            <a:extLst>
              <a:ext uri="{FF2B5EF4-FFF2-40B4-BE49-F238E27FC236}">
                <a16:creationId xmlns:a16="http://schemas.microsoft.com/office/drawing/2014/main" id="{00000001-001A-4000-8000-000000000000}"/>
              </a:ext>
            </a:extLst>
          </p:cNvPr>
          <p:cNvSpPr>
            <a:spLocks noGrp="1"/>
          </p:cNvSpPr>
          <p:nvPr/>
        </p:nvSpPr>
        <p:spPr>
          <a:xfrm>
            <a:off x="9858375" y="6734175"/>
            <a:ext cx="4476750" cy="342900"/>
          </a:xfrm>
          <a:prstGeom prst="rect">
            <a:avLst/>
          </a:prstGeom>
          <a:noFill/>
          <a:ln w="0">
            <a:noFill/>
          </a:ln>
        </p:spPr>
        <p:txBody>
          <a:bodyPr wrap="square">
            <a:noAutofit/>
          </a:bodyPr>
          <a:lstStyle/>
          <a:p>
            <a:pPr>
              <a:defRPr sz="1725" b="0">
                <a:solidFill>
                  <a:srgbClr val="5C6F7F"/>
                </a:solidFill>
                <a:latin typeface="Aptos"/>
                <a:ea typeface="Aptos"/>
                <a:cs typeface="Aptos"/>
              </a:defRPr>
            </a:pPr>
            <a:r>
              <a:rPr lang="en-US" sz="1725" b="1">
                <a:solidFill>
                  <a:srgbClr val="007F83"/>
                </a:solidFill>
                <a:latin typeface="Aptos"/>
                <a:ea typeface="Aptos"/>
                <a:cs typeface="Aptos"/>
              </a:rPr>
              <a:t>15%  /  15–22 Jun</a:t>
            </a:r>
          </a:p>
        </p:txBody>
      </p:sp>
      <p:sp>
        <p:nvSpPr>
          <p:cNvPr id="27" name="Rectangle 26">
            <a:extLst>
              <a:ext uri="{FF2B5EF4-FFF2-40B4-BE49-F238E27FC236}">
                <a16:creationId xmlns:a16="http://schemas.microsoft.com/office/drawing/2014/main" id="{00000001-001B-4000-8000-000000000000}"/>
              </a:ext>
            </a:extLst>
          </p:cNvPr>
          <p:cNvSpPr>
            <a:spLocks noGrp="1"/>
          </p:cNvSpPr>
          <p:nvPr/>
        </p:nvSpPr>
        <p:spPr>
          <a:xfrm>
            <a:off x="9144000" y="7448550"/>
            <a:ext cx="5143500" cy="400050"/>
          </a:xfrm>
          <a:prstGeom prst="rect">
            <a:avLst/>
          </a:prstGeom>
          <a:noFill/>
          <a:ln w="0">
            <a:noFill/>
          </a:ln>
        </p:spPr>
        <p:txBody>
          <a:bodyPr wrap="square">
            <a:noAutofit/>
          </a:bodyPr>
          <a:lstStyle/>
          <a:p>
            <a:pPr>
              <a:defRPr sz="1875" b="1">
                <a:solidFill>
                  <a:srgbClr val="007F83"/>
                </a:solidFill>
                <a:latin typeface="Aptos"/>
                <a:ea typeface="Aptos"/>
                <a:cs typeface="Aptos"/>
              </a:defRPr>
            </a:pPr>
            <a:r>
              <a:rPr lang="en-US" sz="1875" b="1">
                <a:solidFill>
                  <a:srgbClr val="007F83"/>
                </a:solidFill>
                <a:latin typeface="Aptos"/>
                <a:ea typeface="Aptos"/>
                <a:cs typeface="Aptos"/>
              </a:rPr>
              <a:t>25–29 Jun: Final consolidation</a:t>
            </a:r>
          </a:p>
        </p:txBody>
      </p:sp>
      <p:sp>
        <p:nvSpPr>
          <p:cNvPr id="29" name="Rectangle 28">
            <a:extLst>
              <a:ext uri="{FF2B5EF4-FFF2-40B4-BE49-F238E27FC236}">
                <a16:creationId xmlns:a16="http://schemas.microsoft.com/office/drawing/2014/main" id="{00000001-001D-4000-8000-000000000000}"/>
              </a:ext>
            </a:extLst>
          </p:cNvPr>
          <p:cNvSpPr>
            <a:spLocks noGrp="1"/>
          </p:cNvSpPr>
          <p:nvPr/>
        </p:nvSpPr>
        <p:spPr>
          <a:xfrm>
            <a:off x="13811250" y="8077200"/>
            <a:ext cx="666750" cy="285750"/>
          </a:xfrm>
          <a:prstGeom prst="rect">
            <a:avLst/>
          </a:prstGeom>
          <a:noFill/>
          <a:ln w="0">
            <a:noFill/>
          </a:ln>
        </p:spPr>
        <p:txBody>
          <a:bodyPr wrap="square">
            <a:noAutofit/>
          </a:bodyPr>
          <a:lstStyle/>
          <a:p>
            <a:pPr>
              <a:defRPr sz="1350" b="0">
                <a:solidFill>
                  <a:srgbClr val="5C6F7F"/>
                </a:solidFill>
                <a:latin typeface="Aptos"/>
                <a:ea typeface="Aptos"/>
                <a:cs typeface="Aptos"/>
              </a:defRPr>
            </a:pPr>
            <a:r>
              <a:rPr lang="en-US" sz="1350" b="0">
                <a:solidFill>
                  <a:srgbClr val="5C6F7F"/>
                </a:solidFill>
                <a:latin typeface="Aptos"/>
                <a:ea typeface="Aptos"/>
                <a:cs typeface="Aptos"/>
              </a:rPr>
              <a:t>15</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0000002-0001-4000-8000-000000000000}"/>
              </a:ext>
            </a:extLst>
          </p:cNvPr>
          <p:cNvSpPr>
            <a:spLocks noGrp="1"/>
          </p:cNvSpPr>
          <p:nvPr/>
        </p:nvSpPr>
        <p:spPr>
          <a:xfrm>
            <a:off x="762000" y="542925"/>
            <a:ext cx="13811250" cy="666750"/>
          </a:xfrm>
          <a:prstGeom prst="rect">
            <a:avLst/>
          </a:prstGeom>
          <a:noFill/>
          <a:ln w="0">
            <a:noFill/>
          </a:ln>
        </p:spPr>
        <p:txBody>
          <a:bodyPr wrap="square">
            <a:noAutofit/>
          </a:bodyPr>
          <a:lstStyle/>
          <a:p>
            <a:pPr>
              <a:defRPr sz="3675" b="1">
                <a:solidFill>
                  <a:srgbClr val="122C49"/>
                </a:solidFill>
                <a:latin typeface="Aptos"/>
                <a:ea typeface="Aptos"/>
                <a:cs typeface="Aptos"/>
              </a:defRPr>
            </a:pPr>
            <a:r>
              <a:rPr lang="en-US" sz="3675" b="1">
                <a:solidFill>
                  <a:srgbClr val="122C49"/>
                </a:solidFill>
                <a:latin typeface="Aptos"/>
                <a:ea typeface="Aptos"/>
                <a:cs typeface="Aptos"/>
              </a:rPr>
              <a:t>Course introduction</a:t>
            </a:r>
          </a:p>
        </p:txBody>
      </p:sp>
      <p:sp>
        <p:nvSpPr>
          <p:cNvPr id="2" name="Rectangle 1">
            <a:extLst>
              <a:ext uri="{FF2B5EF4-FFF2-40B4-BE49-F238E27FC236}">
                <a16:creationId xmlns:a16="http://schemas.microsoft.com/office/drawing/2014/main" id="{00000002-0002-4000-8000-000000000000}"/>
              </a:ext>
            </a:extLst>
          </p:cNvPr>
          <p:cNvSpPr>
            <a:spLocks noGrp="1"/>
          </p:cNvSpPr>
          <p:nvPr/>
        </p:nvSpPr>
        <p:spPr>
          <a:xfrm>
            <a:off x="762000" y="1185862"/>
            <a:ext cx="13811250" cy="400050"/>
          </a:xfrm>
          <a:prstGeom prst="rect">
            <a:avLst/>
          </a:prstGeom>
          <a:noFill/>
          <a:ln w="0">
            <a:noFill/>
          </a:ln>
        </p:spPr>
        <p:txBody>
          <a:bodyPr wrap="square">
            <a:noAutofit/>
          </a:bodyPr>
          <a:lstStyle/>
          <a:p>
            <a:pPr>
              <a:defRPr sz="2025" b="0">
                <a:solidFill>
                  <a:srgbClr val="007F83"/>
                </a:solidFill>
                <a:latin typeface="Aptos"/>
                <a:ea typeface="Aptos"/>
                <a:cs typeface="Aptos"/>
              </a:defRPr>
            </a:pPr>
            <a:r>
              <a:rPr lang="en-US" sz="2400" b="0">
                <a:solidFill>
                  <a:srgbClr val="007F83"/>
                </a:solidFill>
                <a:latin typeface="Aptos"/>
                <a:ea typeface="Aptos"/>
                <a:cs typeface="Aptos"/>
              </a:rPr>
              <a:t>12 February 2027   /   Session 1</a:t>
            </a:r>
          </a:p>
        </p:txBody>
      </p:sp>
      <p:graphicFrame>
        <p:nvGraphicFramePr>
          <p:cNvPr id="3" name="Table 2"/>
          <p:cNvGraphicFramePr/>
          <p:nvPr>
            <p:extLst>
              <p:ext uri="{D42A27DB-BD31-4B8C-83A1-F6EECF244321}">
                <p14:modId xmlns:p14="http://schemas.microsoft.com/office/powerpoint/2010/main" val="2348905371"/>
              </p:ext>
            </p:extLst>
          </p:nvPr>
        </p:nvGraphicFramePr>
        <p:xfrm>
          <a:off x="762000" y="2028825"/>
          <a:ext cx="13811251" cy="2232660"/>
        </p:xfrm>
        <a:graphic>
          <a:graphicData uri="http://schemas.openxmlformats.org/drawingml/2006/table">
            <a:tbl>
              <a:tblPr/>
              <a:tblGrid>
                <a:gridCol w="1962652">
                  <a:extLst>
                    <a:ext uri="{9D8B030D-6E8A-4147-A177-3AD203B41FA5}">
                      <a16:colId xmlns:a16="http://schemas.microsoft.com/office/drawing/2014/main" val="20000"/>
                    </a:ext>
                  </a:extLst>
                </a:gridCol>
                <a:gridCol w="4984248">
                  <a:extLst>
                    <a:ext uri="{9D8B030D-6E8A-4147-A177-3AD203B41FA5}">
                      <a16:colId xmlns:a16="http://schemas.microsoft.com/office/drawing/2014/main" val="20001"/>
                    </a:ext>
                  </a:extLst>
                </a:gridCol>
                <a:gridCol w="5172911">
                  <a:extLst>
                    <a:ext uri="{9D8B030D-6E8A-4147-A177-3AD203B41FA5}">
                      <a16:colId xmlns:a16="http://schemas.microsoft.com/office/drawing/2014/main" val="20002"/>
                    </a:ext>
                  </a:extLst>
                </a:gridCol>
                <a:gridCol w="1691440">
                  <a:extLst>
                    <a:ext uri="{9D8B030D-6E8A-4147-A177-3AD203B41FA5}">
                      <a16:colId xmlns:a16="http://schemas.microsoft.com/office/drawing/2014/main" val="20003"/>
                    </a:ext>
                  </a:extLst>
                </a:gridCol>
              </a:tblGrid>
              <a:tr h="514350">
                <a:tc>
                  <a:txBody>
                    <a:bodyPr/>
                    <a:lstStyle/>
                    <a:p>
                      <a:pPr algn="ctr"/>
                      <a:r>
                        <a:rPr lang="en-US" sz="1800" b="1">
                          <a:solidFill>
                            <a:srgbClr val="FFFFFF"/>
                          </a:solidFill>
                          <a:latin typeface="Aptos"/>
                          <a:ea typeface="Aptos"/>
                          <a:cs typeface="Aptos"/>
                        </a:rPr>
                        <a:t>Session / date</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Study unit</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Coverage and practice</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Subunits</a:t>
                      </a:r>
                    </a:p>
                  </a:txBody>
                  <a:tcPr marL="133350" marR="133350" marT="133350" marB="133350" anchor="ctr">
                    <a:solidFill>
                      <a:srgbClr val="122C49"/>
                    </a:solidFill>
                  </a:tcPr>
                </a:tc>
                <a:extLst>
                  <a:ext uri="{0D108BD9-81ED-4DB2-BD59-A6C34878D82A}">
                    <a16:rowId xmlns:a16="http://schemas.microsoft.com/office/drawing/2014/main" val="10000"/>
                  </a:ext>
                </a:extLst>
              </a:tr>
              <a:tr h="1691640">
                <a:tc>
                  <a:txBody>
                    <a:bodyPr/>
                    <a:lstStyle/>
                    <a:p>
                      <a:r>
                        <a:rPr lang="fr-FR" sz="1800" b="1">
                          <a:solidFill>
                            <a:srgbClr val="007F83"/>
                          </a:solidFill>
                          <a:latin typeface="Aptos"/>
                          <a:ea typeface="Aptos"/>
                          <a:cs typeface="Aptos"/>
                        </a:rPr>
                        <a:t>01</a:t>
                      </a:r>
                    </a:p>
                    <a:p>
                      <a:r>
                        <a:rPr lang="fr-FR" sz="1800" b="1">
                          <a:solidFill>
                            <a:srgbClr val="007F83"/>
                          </a:solidFill>
                          <a:latin typeface="Aptos"/>
                          <a:ea typeface="Aptos"/>
                          <a:cs typeface="Aptos"/>
                        </a:rPr>
                        <a:t>Fri 12 Feb</a:t>
                      </a:r>
                    </a:p>
                    <a:p>
                      <a:r>
                        <a:rPr lang="fr-FR" sz="1800" b="1">
                          <a:solidFill>
                            <a:srgbClr val="007F83"/>
                          </a:solidFill>
                          <a:latin typeface="Aptos"/>
                          <a:ea typeface="Aptos"/>
                          <a:cs typeface="Aptos"/>
                        </a:rPr>
                        <a:t>2027</a:t>
                      </a:r>
                    </a:p>
                  </a:txBody>
                  <a:tcPr marL="133350" marR="133350" marT="133350" marB="133350" anchor="ctr">
                    <a:solidFill>
                      <a:srgbClr val="F3F7F9"/>
                    </a:solidFill>
                  </a:tcPr>
                </a:tc>
                <a:tc>
                  <a:txBody>
                    <a:bodyPr/>
                    <a:lstStyle/>
                    <a:p>
                      <a:r>
                        <a:rPr lang="en-US" sz="1800" b="1">
                          <a:solidFill>
                            <a:srgbClr val="122C49"/>
                          </a:solidFill>
                          <a:latin typeface="Aptos"/>
                          <a:ea typeface="Aptos"/>
                          <a:cs typeface="Aptos"/>
                        </a:rPr>
                        <a:t>Course introduction</a:t>
                      </a:r>
                    </a:p>
                  </a:txBody>
                  <a:tcPr marL="133350" marR="133350" marT="133350" marB="133350" anchor="ctr">
                    <a:solidFill>
                      <a:srgbClr val="F3F7F9"/>
                    </a:solidFill>
                  </a:tcPr>
                </a:tc>
                <a:tc>
                  <a:txBody>
                    <a:bodyPr/>
                    <a:lstStyle/>
                    <a:p>
                      <a:pPr marL="285750" indent="-285750">
                        <a:buFont typeface="Arial" panose="020B0604020202020204" pitchFamily="34" charset="0"/>
                        <a:buChar char="•"/>
                      </a:pPr>
                      <a:r>
                        <a:rPr lang="en-US" sz="1800">
                          <a:solidFill>
                            <a:srgbClr val="233B50"/>
                          </a:solidFill>
                          <a:latin typeface="Aptos"/>
                          <a:ea typeface="Aptos"/>
                          <a:cs typeface="Aptos"/>
                        </a:rPr>
                        <a:t>Course objectives and the 20-unit outline.</a:t>
                      </a:r>
                    </a:p>
                    <a:p>
                      <a:pPr marL="285750" indent="-285750">
                        <a:buFont typeface="Arial" panose="020B0604020202020204" pitchFamily="34" charset="0"/>
                        <a:buChar char="•"/>
                      </a:pPr>
                      <a:r>
                        <a:rPr lang="en-US" sz="1800">
                          <a:solidFill>
                            <a:srgbClr val="233B50"/>
                          </a:solidFill>
                          <a:latin typeface="Aptos"/>
                          <a:ea typeface="Aptos"/>
                          <a:cs typeface="Aptos"/>
                        </a:rPr>
                        <a:t>Exam weights, study materials and session expectations.</a:t>
                      </a:r>
                    </a:p>
                    <a:p>
                      <a:pPr marL="285750" indent="-285750">
                        <a:buFont typeface="Arial" panose="020B0604020202020204" pitchFamily="34" charset="0"/>
                        <a:buChar char="•"/>
                      </a:pPr>
                      <a:r>
                        <a:rPr lang="en-US" sz="1800">
                          <a:solidFill>
                            <a:srgbClr val="233B50"/>
                          </a:solidFill>
                          <a:latin typeface="Aptos"/>
                          <a:ea typeface="Aptos"/>
                          <a:cs typeface="Aptos"/>
                        </a:rPr>
                        <a:t>How to use practice questions and keep an error log.</a:t>
                      </a:r>
                    </a:p>
                  </a:txBody>
                  <a:tcPr marL="133350" marR="133350" marT="133350" marB="133350" anchor="ctr">
                    <a:solidFill>
                      <a:srgbClr val="F3F7F9"/>
                    </a:solidFill>
                  </a:tcPr>
                </a:tc>
                <a:tc>
                  <a:txBody>
                    <a:bodyPr/>
                    <a:lstStyle/>
                    <a:p>
                      <a:pPr algn="ctr"/>
                      <a:r>
                        <a:rPr lang="en-US" sz="1800">
                          <a:solidFill>
                            <a:srgbClr val="233B50"/>
                          </a:solidFill>
                          <a:latin typeface="Aptos"/>
                          <a:ea typeface="Aptos"/>
                          <a:cs typeface="Aptos"/>
                        </a:rPr>
                        <a:t>N/A</a:t>
                      </a:r>
                    </a:p>
                  </a:txBody>
                  <a:tcPr marL="133350" marR="133350" marT="133350" marB="133350" anchor="ctr">
                    <a:solidFill>
                      <a:srgbClr val="F3F7F9"/>
                    </a:solidFill>
                  </a:tcPr>
                </a:tc>
                <a:extLst>
                  <a:ext uri="{0D108BD9-81ED-4DB2-BD59-A6C34878D82A}">
                    <a16:rowId xmlns:a16="http://schemas.microsoft.com/office/drawing/2014/main" val="10004"/>
                  </a:ext>
                </a:extLst>
              </a:tr>
            </a:tbl>
          </a:graphicData>
        </a:graphic>
      </p:graphicFrame>
      <p:sp>
        <p:nvSpPr>
          <p:cNvPr id="5" name="Rectangle 4">
            <a:extLst>
              <a:ext uri="{FF2B5EF4-FFF2-40B4-BE49-F238E27FC236}">
                <a16:creationId xmlns:a16="http://schemas.microsoft.com/office/drawing/2014/main" id="{00000002-0004-4000-8000-000000000000}"/>
              </a:ext>
            </a:extLst>
          </p:cNvPr>
          <p:cNvSpPr>
            <a:spLocks noGrp="1"/>
          </p:cNvSpPr>
          <p:nvPr/>
        </p:nvSpPr>
        <p:spPr>
          <a:xfrm>
            <a:off x="13811250" y="8077200"/>
            <a:ext cx="666750" cy="285750"/>
          </a:xfrm>
          <a:prstGeom prst="rect">
            <a:avLst/>
          </a:prstGeom>
          <a:noFill/>
          <a:ln w="0">
            <a:noFill/>
          </a:ln>
        </p:spPr>
        <p:txBody>
          <a:bodyPr wrap="square">
            <a:noAutofit/>
          </a:bodyPr>
          <a:lstStyle/>
          <a:p>
            <a:pPr>
              <a:defRPr sz="1350" b="0">
                <a:solidFill>
                  <a:srgbClr val="5C6F7F"/>
                </a:solidFill>
                <a:latin typeface="Aptos"/>
                <a:ea typeface="Aptos"/>
                <a:cs typeface="Aptos"/>
              </a:defRPr>
            </a:pPr>
            <a:r>
              <a:rPr lang="en-US" sz="1350" b="0">
                <a:solidFill>
                  <a:srgbClr val="5C6F7F"/>
                </a:solidFill>
                <a:latin typeface="Aptos"/>
                <a:ea typeface="Aptos"/>
                <a:cs typeface="Aptos"/>
              </a:rPr>
              <a:t>16</a:t>
            </a:r>
          </a:p>
        </p:txBody>
      </p:sp>
      <p:sp>
        <p:nvSpPr>
          <p:cNvPr id="7" name="Section exam weighting">
            <a:extLst>
              <a:ext uri="{FF2B5EF4-FFF2-40B4-BE49-F238E27FC236}">
                <a16:creationId xmlns:a16="http://schemas.microsoft.com/office/drawing/2014/main" id="{00000002-0002-4000-8000-000000000000}"/>
              </a:ext>
            </a:extLst>
          </p:cNvPr>
          <p:cNvSpPr>
            <a:spLocks noGrp="1"/>
          </p:cNvSpPr>
          <p:nvPr/>
        </p:nvSpPr>
        <p:spPr>
          <a:xfrm>
            <a:off x="762000" y="1657350"/>
            <a:ext cx="13811250" cy="276225"/>
          </a:xfrm>
          <a:prstGeom prst="rect">
            <a:avLst/>
          </a:prstGeom>
          <a:noFill/>
          <a:ln w="0">
            <a:noFill/>
          </a:ln>
        </p:spPr>
        <p:txBody>
          <a:bodyPr wrap="square" tIns="0" bIns="0">
            <a:noAutofit/>
          </a:bodyPr>
          <a:lstStyle/>
          <a:p>
            <a:pPr>
              <a:defRPr sz="2025" b="0">
                <a:solidFill>
                  <a:srgbClr val="007F83"/>
                </a:solidFill>
                <a:latin typeface="Aptos"/>
                <a:ea typeface="Aptos"/>
                <a:cs typeface="Aptos"/>
              </a:defRPr>
            </a:pPr>
            <a:r>
              <a:rPr lang="en-US" b="1">
                <a:solidFill>
                  <a:srgbClr val="007F83"/>
                </a:solidFill>
                <a:latin typeface="Aptos"/>
                <a:ea typeface="Aptos"/>
                <a:cs typeface="Aptos"/>
              </a:rPr>
              <a:t>Overview of the six competencies and the proposed study plan</a:t>
            </a:r>
          </a:p>
        </p:txBody>
      </p:sp>
      <p:sp>
        <p:nvSpPr>
          <p:cNvPr id="8" name="Rectangle 7">
            <a:extLst>
              <a:ext uri="{FF2B5EF4-FFF2-40B4-BE49-F238E27FC236}">
                <a16:creationId xmlns:a16="http://schemas.microsoft.com/office/drawing/2014/main" id="{FF2D238F-DAF3-2EB3-25F1-9B7193B30196}"/>
              </a:ext>
            </a:extLst>
          </p:cNvPr>
          <p:cNvSpPr>
            <a:spLocks noGrp="1"/>
          </p:cNvSpPr>
          <p:nvPr/>
        </p:nvSpPr>
        <p:spPr>
          <a:xfrm>
            <a:off x="5097689" y="4471035"/>
            <a:ext cx="5048250" cy="381000"/>
          </a:xfrm>
          <a:prstGeom prst="rect">
            <a:avLst/>
          </a:prstGeom>
          <a:noFill/>
          <a:ln w="0">
            <a:noFill/>
          </a:ln>
        </p:spPr>
        <p:txBody>
          <a:bodyPr wrap="square">
            <a:noAutofit/>
          </a:bodyPr>
          <a:lstStyle/>
          <a:p>
            <a:pPr>
              <a:defRPr sz="1875" b="1">
                <a:solidFill>
                  <a:srgbClr val="007F83"/>
                </a:solidFill>
                <a:latin typeface="Aptos"/>
                <a:ea typeface="Aptos"/>
                <a:cs typeface="Aptos"/>
              </a:defRPr>
            </a:pPr>
            <a:r>
              <a:rPr lang="en-US" sz="1875" b="1" dirty="0">
                <a:solidFill>
                  <a:srgbClr val="007F83"/>
                </a:solidFill>
                <a:latin typeface="Aptos"/>
                <a:ea typeface="Aptos"/>
                <a:cs typeface="Aptos"/>
              </a:rPr>
              <a:t>EXAM WEIGHTS (TOTAL 100%)</a:t>
            </a:r>
            <a:endParaRPr sz="1875" b="1" dirty="0">
              <a:solidFill>
                <a:srgbClr val="007F83"/>
              </a:solidFill>
              <a:latin typeface="Aptos"/>
              <a:ea typeface="Aptos"/>
              <a:cs typeface="Aptos"/>
            </a:endParaRPr>
          </a:p>
        </p:txBody>
      </p:sp>
      <p:sp>
        <p:nvSpPr>
          <p:cNvPr id="11" name="Rectangle 10">
            <a:extLst>
              <a:ext uri="{FF2B5EF4-FFF2-40B4-BE49-F238E27FC236}">
                <a16:creationId xmlns:a16="http://schemas.microsoft.com/office/drawing/2014/main" id="{F7DB78BC-25F1-F997-7785-80F8C7856986}"/>
              </a:ext>
            </a:extLst>
          </p:cNvPr>
          <p:cNvSpPr>
            <a:spLocks noGrp="1"/>
          </p:cNvSpPr>
          <p:nvPr/>
        </p:nvSpPr>
        <p:spPr>
          <a:xfrm>
            <a:off x="2673804" y="5025391"/>
            <a:ext cx="571500" cy="504825"/>
          </a:xfrm>
          <a:prstGeom prst="rect">
            <a:avLst/>
          </a:prstGeom>
          <a:noFill/>
          <a:ln w="0">
            <a:noFill/>
          </a:ln>
        </p:spPr>
        <p:txBody>
          <a:bodyPr wrap="square">
            <a:noAutofit/>
          </a:bodyPr>
          <a:lstStyle/>
          <a:p>
            <a:pPr>
              <a:defRPr sz="2925" b="1">
                <a:solidFill>
                  <a:srgbClr val="007F83"/>
                </a:solidFill>
                <a:latin typeface="Aptos"/>
                <a:ea typeface="Aptos"/>
                <a:cs typeface="Aptos"/>
              </a:defRPr>
            </a:pPr>
            <a:r>
              <a:rPr sz="2925" b="1">
                <a:solidFill>
                  <a:srgbClr val="007F83"/>
                </a:solidFill>
                <a:latin typeface="Aptos"/>
                <a:ea typeface="Aptos"/>
                <a:cs typeface="Aptos"/>
              </a:rPr>
              <a:t>1</a:t>
            </a:r>
          </a:p>
        </p:txBody>
      </p:sp>
      <p:sp>
        <p:nvSpPr>
          <p:cNvPr id="13" name="Rectangle 12">
            <a:extLst>
              <a:ext uri="{FF2B5EF4-FFF2-40B4-BE49-F238E27FC236}">
                <a16:creationId xmlns:a16="http://schemas.microsoft.com/office/drawing/2014/main" id="{2C0AF30E-7B43-78B9-117D-CCF3E5B54A6D}"/>
              </a:ext>
            </a:extLst>
          </p:cNvPr>
          <p:cNvSpPr>
            <a:spLocks noGrp="1"/>
          </p:cNvSpPr>
          <p:nvPr/>
        </p:nvSpPr>
        <p:spPr>
          <a:xfrm>
            <a:off x="3388179" y="5025391"/>
            <a:ext cx="4524375" cy="400050"/>
          </a:xfrm>
          <a:prstGeom prst="rect">
            <a:avLst/>
          </a:prstGeom>
          <a:noFill/>
          <a:ln w="0">
            <a:noFill/>
          </a:ln>
        </p:spPr>
        <p:txBody>
          <a:bodyPr wrap="square">
            <a:noAutofit/>
          </a:bodyPr>
          <a:lstStyle/>
          <a:p>
            <a:pPr>
              <a:defRPr sz="2025" b="1">
                <a:solidFill>
                  <a:srgbClr val="122C49"/>
                </a:solidFill>
                <a:latin typeface="Aptos"/>
                <a:ea typeface="Aptos"/>
                <a:cs typeface="Aptos"/>
              </a:defRPr>
            </a:pPr>
            <a:r>
              <a:rPr sz="2025" b="1">
                <a:solidFill>
                  <a:srgbClr val="122C49"/>
                </a:solidFill>
                <a:latin typeface="Aptos"/>
                <a:ea typeface="Aptos"/>
                <a:cs typeface="Aptos"/>
              </a:rPr>
              <a:t>External Financial Reporting</a:t>
            </a:r>
          </a:p>
        </p:txBody>
      </p:sp>
      <p:sp>
        <p:nvSpPr>
          <p:cNvPr id="15" name="Rectangle 14">
            <a:extLst>
              <a:ext uri="{FF2B5EF4-FFF2-40B4-BE49-F238E27FC236}">
                <a16:creationId xmlns:a16="http://schemas.microsoft.com/office/drawing/2014/main" id="{B5AB0247-4FCD-122E-BF16-4AAAE00DD042}"/>
              </a:ext>
            </a:extLst>
          </p:cNvPr>
          <p:cNvSpPr>
            <a:spLocks noGrp="1"/>
          </p:cNvSpPr>
          <p:nvPr/>
        </p:nvSpPr>
        <p:spPr>
          <a:xfrm>
            <a:off x="3388179" y="5434966"/>
            <a:ext cx="4476750" cy="342900"/>
          </a:xfrm>
          <a:prstGeom prst="rect">
            <a:avLst/>
          </a:prstGeom>
          <a:noFill/>
          <a:ln w="0">
            <a:noFill/>
          </a:ln>
        </p:spPr>
        <p:txBody>
          <a:bodyPr wrap="square">
            <a:noAutofit/>
          </a:bodyPr>
          <a:lstStyle/>
          <a:p>
            <a:pPr>
              <a:defRPr sz="1725" b="0">
                <a:solidFill>
                  <a:srgbClr val="5C6F7F"/>
                </a:solidFill>
                <a:latin typeface="Aptos"/>
                <a:ea typeface="Aptos"/>
                <a:cs typeface="Aptos"/>
              </a:defRPr>
            </a:pPr>
            <a:r>
              <a:rPr lang="en-US" sz="1725" b="1">
                <a:solidFill>
                  <a:srgbClr val="007F83"/>
                </a:solidFill>
                <a:latin typeface="Aptos"/>
                <a:ea typeface="Aptos"/>
                <a:cs typeface="Aptos"/>
              </a:rPr>
              <a:t>15%  /  16 Feb – 26 Mar</a:t>
            </a:r>
          </a:p>
        </p:txBody>
      </p:sp>
      <p:sp>
        <p:nvSpPr>
          <p:cNvPr id="17" name="Rectangle 16">
            <a:extLst>
              <a:ext uri="{FF2B5EF4-FFF2-40B4-BE49-F238E27FC236}">
                <a16:creationId xmlns:a16="http://schemas.microsoft.com/office/drawing/2014/main" id="{653E4CA7-6BDF-7FC6-5718-F2AAC16DE941}"/>
              </a:ext>
            </a:extLst>
          </p:cNvPr>
          <p:cNvSpPr>
            <a:spLocks noGrp="1"/>
          </p:cNvSpPr>
          <p:nvPr/>
        </p:nvSpPr>
        <p:spPr>
          <a:xfrm>
            <a:off x="2673804" y="5987416"/>
            <a:ext cx="571500" cy="504825"/>
          </a:xfrm>
          <a:prstGeom prst="rect">
            <a:avLst/>
          </a:prstGeom>
          <a:noFill/>
          <a:ln w="0">
            <a:noFill/>
          </a:ln>
        </p:spPr>
        <p:txBody>
          <a:bodyPr wrap="square">
            <a:noAutofit/>
          </a:bodyPr>
          <a:lstStyle/>
          <a:p>
            <a:pPr>
              <a:defRPr sz="2925" b="1">
                <a:solidFill>
                  <a:srgbClr val="007F83"/>
                </a:solidFill>
                <a:latin typeface="Aptos"/>
                <a:ea typeface="Aptos"/>
                <a:cs typeface="Aptos"/>
              </a:defRPr>
            </a:pPr>
            <a:r>
              <a:rPr sz="2925" b="1">
                <a:solidFill>
                  <a:srgbClr val="007F83"/>
                </a:solidFill>
                <a:latin typeface="Aptos"/>
                <a:ea typeface="Aptos"/>
                <a:cs typeface="Aptos"/>
              </a:rPr>
              <a:t>2</a:t>
            </a:r>
          </a:p>
        </p:txBody>
      </p:sp>
      <p:sp>
        <p:nvSpPr>
          <p:cNvPr id="19" name="Rectangle 18">
            <a:extLst>
              <a:ext uri="{FF2B5EF4-FFF2-40B4-BE49-F238E27FC236}">
                <a16:creationId xmlns:a16="http://schemas.microsoft.com/office/drawing/2014/main" id="{53388315-6B22-25CD-1F83-47A18F83E817}"/>
              </a:ext>
            </a:extLst>
          </p:cNvPr>
          <p:cNvSpPr>
            <a:spLocks noGrp="1"/>
          </p:cNvSpPr>
          <p:nvPr/>
        </p:nvSpPr>
        <p:spPr>
          <a:xfrm>
            <a:off x="3388179" y="5987416"/>
            <a:ext cx="4524375" cy="400050"/>
          </a:xfrm>
          <a:prstGeom prst="rect">
            <a:avLst/>
          </a:prstGeom>
          <a:noFill/>
          <a:ln w="0">
            <a:noFill/>
          </a:ln>
        </p:spPr>
        <p:txBody>
          <a:bodyPr wrap="square">
            <a:noAutofit/>
          </a:bodyPr>
          <a:lstStyle/>
          <a:p>
            <a:pPr>
              <a:defRPr sz="2025" b="1">
                <a:solidFill>
                  <a:srgbClr val="122C49"/>
                </a:solidFill>
                <a:latin typeface="Aptos"/>
                <a:ea typeface="Aptos"/>
                <a:cs typeface="Aptos"/>
              </a:defRPr>
            </a:pPr>
            <a:r>
              <a:rPr sz="2025" b="1">
                <a:solidFill>
                  <a:srgbClr val="122C49"/>
                </a:solidFill>
                <a:latin typeface="Aptos"/>
                <a:ea typeface="Aptos"/>
                <a:cs typeface="Aptos"/>
              </a:rPr>
              <a:t>Cost Management</a:t>
            </a:r>
          </a:p>
        </p:txBody>
      </p:sp>
      <p:sp>
        <p:nvSpPr>
          <p:cNvPr id="21" name="Rectangle 20">
            <a:extLst>
              <a:ext uri="{FF2B5EF4-FFF2-40B4-BE49-F238E27FC236}">
                <a16:creationId xmlns:a16="http://schemas.microsoft.com/office/drawing/2014/main" id="{1DDC47EF-6E01-5210-55BF-69BE64B7DEFF}"/>
              </a:ext>
            </a:extLst>
          </p:cNvPr>
          <p:cNvSpPr>
            <a:spLocks noGrp="1"/>
          </p:cNvSpPr>
          <p:nvPr/>
        </p:nvSpPr>
        <p:spPr>
          <a:xfrm>
            <a:off x="3388179" y="6396991"/>
            <a:ext cx="4476750" cy="342900"/>
          </a:xfrm>
          <a:prstGeom prst="rect">
            <a:avLst/>
          </a:prstGeom>
          <a:noFill/>
          <a:ln w="0">
            <a:noFill/>
          </a:ln>
        </p:spPr>
        <p:txBody>
          <a:bodyPr wrap="square">
            <a:noAutofit/>
          </a:bodyPr>
          <a:lstStyle/>
          <a:p>
            <a:pPr>
              <a:defRPr sz="1725" b="0">
                <a:solidFill>
                  <a:srgbClr val="5C6F7F"/>
                </a:solidFill>
                <a:latin typeface="Aptos"/>
                <a:ea typeface="Aptos"/>
                <a:cs typeface="Aptos"/>
              </a:defRPr>
            </a:pPr>
            <a:r>
              <a:rPr lang="en-US" sz="1725" b="1">
                <a:solidFill>
                  <a:srgbClr val="007F83"/>
                </a:solidFill>
                <a:latin typeface="Aptos"/>
                <a:ea typeface="Aptos"/>
                <a:cs typeface="Aptos"/>
              </a:rPr>
              <a:t>15%  /  30 Mar – 27 Apr</a:t>
            </a:r>
          </a:p>
        </p:txBody>
      </p:sp>
      <p:sp>
        <p:nvSpPr>
          <p:cNvPr id="23" name="Rectangle 22">
            <a:extLst>
              <a:ext uri="{FF2B5EF4-FFF2-40B4-BE49-F238E27FC236}">
                <a16:creationId xmlns:a16="http://schemas.microsoft.com/office/drawing/2014/main" id="{748133ED-17AC-4683-3D92-CEE6C6C92D70}"/>
              </a:ext>
            </a:extLst>
          </p:cNvPr>
          <p:cNvSpPr>
            <a:spLocks noGrp="1"/>
          </p:cNvSpPr>
          <p:nvPr/>
        </p:nvSpPr>
        <p:spPr>
          <a:xfrm>
            <a:off x="2673804" y="6949441"/>
            <a:ext cx="571500" cy="504825"/>
          </a:xfrm>
          <a:prstGeom prst="rect">
            <a:avLst/>
          </a:prstGeom>
          <a:noFill/>
          <a:ln w="0">
            <a:noFill/>
          </a:ln>
        </p:spPr>
        <p:txBody>
          <a:bodyPr wrap="square">
            <a:noAutofit/>
          </a:bodyPr>
          <a:lstStyle/>
          <a:p>
            <a:pPr>
              <a:defRPr sz="2925" b="1">
                <a:solidFill>
                  <a:srgbClr val="007F83"/>
                </a:solidFill>
                <a:latin typeface="Aptos"/>
                <a:ea typeface="Aptos"/>
                <a:cs typeface="Aptos"/>
              </a:defRPr>
            </a:pPr>
            <a:r>
              <a:rPr sz="2925" b="1">
                <a:solidFill>
                  <a:srgbClr val="007F83"/>
                </a:solidFill>
                <a:latin typeface="Aptos"/>
                <a:ea typeface="Aptos"/>
                <a:cs typeface="Aptos"/>
              </a:rPr>
              <a:t>3</a:t>
            </a:r>
          </a:p>
        </p:txBody>
      </p:sp>
      <p:sp>
        <p:nvSpPr>
          <p:cNvPr id="25" name="Rectangle 24">
            <a:extLst>
              <a:ext uri="{FF2B5EF4-FFF2-40B4-BE49-F238E27FC236}">
                <a16:creationId xmlns:a16="http://schemas.microsoft.com/office/drawing/2014/main" id="{91BE71AF-0E69-BC90-E4A2-B9C6E710CF4A}"/>
              </a:ext>
            </a:extLst>
          </p:cNvPr>
          <p:cNvSpPr>
            <a:spLocks noGrp="1"/>
          </p:cNvSpPr>
          <p:nvPr/>
        </p:nvSpPr>
        <p:spPr>
          <a:xfrm>
            <a:off x="3388179" y="6949441"/>
            <a:ext cx="4524375" cy="594360"/>
          </a:xfrm>
          <a:prstGeom prst="rect">
            <a:avLst/>
          </a:prstGeom>
          <a:noFill/>
          <a:ln w="0">
            <a:noFill/>
          </a:ln>
        </p:spPr>
        <p:txBody>
          <a:bodyPr wrap="square">
            <a:noAutofit/>
          </a:bodyPr>
          <a:lstStyle/>
          <a:p>
            <a:pPr>
              <a:defRPr sz="2025" b="1">
                <a:solidFill>
                  <a:srgbClr val="122C49"/>
                </a:solidFill>
                <a:latin typeface="Aptos"/>
                <a:ea typeface="Aptos"/>
                <a:cs typeface="Aptos"/>
              </a:defRPr>
            </a:pPr>
            <a:r>
              <a:rPr sz="2025" b="1">
                <a:solidFill>
                  <a:srgbClr val="122C49"/>
                </a:solidFill>
                <a:latin typeface="Aptos"/>
                <a:ea typeface="Aptos"/>
                <a:cs typeface="Aptos"/>
              </a:rPr>
              <a:t>Planning, Budgeting</a:t>
            </a:r>
          </a:p>
          <a:p>
            <a:pPr>
              <a:defRPr sz="2025" b="1">
                <a:solidFill>
                  <a:srgbClr val="122C49"/>
                </a:solidFill>
                <a:latin typeface="Aptos"/>
                <a:ea typeface="Aptos"/>
                <a:cs typeface="Aptos"/>
              </a:defRPr>
            </a:pPr>
            <a:r>
              <a:rPr sz="2025" b="1">
                <a:solidFill>
                  <a:srgbClr val="122C49"/>
                </a:solidFill>
                <a:latin typeface="Aptos"/>
                <a:ea typeface="Aptos"/>
                <a:cs typeface="Aptos"/>
              </a:rPr>
              <a:t>and Forecasting</a:t>
            </a:r>
          </a:p>
        </p:txBody>
      </p:sp>
      <p:sp>
        <p:nvSpPr>
          <p:cNvPr id="27" name="Rectangle 26">
            <a:extLst>
              <a:ext uri="{FF2B5EF4-FFF2-40B4-BE49-F238E27FC236}">
                <a16:creationId xmlns:a16="http://schemas.microsoft.com/office/drawing/2014/main" id="{31D3E107-C5AD-D7F2-FA23-0B0358C5159F}"/>
              </a:ext>
            </a:extLst>
          </p:cNvPr>
          <p:cNvSpPr>
            <a:spLocks noGrp="1"/>
          </p:cNvSpPr>
          <p:nvPr/>
        </p:nvSpPr>
        <p:spPr>
          <a:xfrm>
            <a:off x="3388179" y="7514464"/>
            <a:ext cx="4476750" cy="342900"/>
          </a:xfrm>
          <a:prstGeom prst="rect">
            <a:avLst/>
          </a:prstGeom>
          <a:noFill/>
          <a:ln w="0">
            <a:noFill/>
          </a:ln>
        </p:spPr>
        <p:txBody>
          <a:bodyPr wrap="square">
            <a:noAutofit/>
          </a:bodyPr>
          <a:lstStyle/>
          <a:p>
            <a:pPr>
              <a:defRPr sz="1725" b="0">
                <a:solidFill>
                  <a:srgbClr val="5C6F7F"/>
                </a:solidFill>
                <a:latin typeface="Aptos"/>
                <a:ea typeface="Aptos"/>
                <a:cs typeface="Aptos"/>
              </a:defRPr>
            </a:pPr>
            <a:r>
              <a:rPr lang="en-US" sz="1725" b="1">
                <a:solidFill>
                  <a:srgbClr val="007F83"/>
                </a:solidFill>
                <a:latin typeface="Aptos"/>
                <a:ea typeface="Aptos"/>
                <a:cs typeface="Aptos"/>
              </a:rPr>
              <a:t>20%  /  30 Apr – 18 May</a:t>
            </a:r>
          </a:p>
        </p:txBody>
      </p:sp>
      <p:sp>
        <p:nvSpPr>
          <p:cNvPr id="29" name="Rectangle 28">
            <a:extLst>
              <a:ext uri="{FF2B5EF4-FFF2-40B4-BE49-F238E27FC236}">
                <a16:creationId xmlns:a16="http://schemas.microsoft.com/office/drawing/2014/main" id="{EE416683-0578-BE89-E554-1230010ADC11}"/>
              </a:ext>
            </a:extLst>
          </p:cNvPr>
          <p:cNvSpPr>
            <a:spLocks noGrp="1"/>
          </p:cNvSpPr>
          <p:nvPr/>
        </p:nvSpPr>
        <p:spPr>
          <a:xfrm>
            <a:off x="8079241" y="5025390"/>
            <a:ext cx="571500" cy="504825"/>
          </a:xfrm>
          <a:prstGeom prst="rect">
            <a:avLst/>
          </a:prstGeom>
          <a:noFill/>
          <a:ln w="0">
            <a:noFill/>
          </a:ln>
        </p:spPr>
        <p:txBody>
          <a:bodyPr wrap="square">
            <a:noAutofit/>
          </a:bodyPr>
          <a:lstStyle/>
          <a:p>
            <a:pPr>
              <a:defRPr sz="2925" b="1">
                <a:solidFill>
                  <a:srgbClr val="007F83"/>
                </a:solidFill>
                <a:latin typeface="Aptos"/>
                <a:ea typeface="Aptos"/>
                <a:cs typeface="Aptos"/>
              </a:defRPr>
            </a:pPr>
            <a:r>
              <a:rPr sz="2925" b="1" dirty="0">
                <a:solidFill>
                  <a:srgbClr val="007F83"/>
                </a:solidFill>
                <a:latin typeface="Aptos"/>
                <a:ea typeface="Aptos"/>
                <a:cs typeface="Aptos"/>
              </a:rPr>
              <a:t>4</a:t>
            </a:r>
          </a:p>
        </p:txBody>
      </p:sp>
      <p:sp>
        <p:nvSpPr>
          <p:cNvPr id="31" name="Rectangle 30">
            <a:extLst>
              <a:ext uri="{FF2B5EF4-FFF2-40B4-BE49-F238E27FC236}">
                <a16:creationId xmlns:a16="http://schemas.microsoft.com/office/drawing/2014/main" id="{548E7FE6-AA13-09B3-19E2-86B9E1CC8F40}"/>
              </a:ext>
            </a:extLst>
          </p:cNvPr>
          <p:cNvSpPr>
            <a:spLocks noGrp="1"/>
          </p:cNvSpPr>
          <p:nvPr/>
        </p:nvSpPr>
        <p:spPr>
          <a:xfrm>
            <a:off x="8769804" y="5037773"/>
            <a:ext cx="4524375" cy="400050"/>
          </a:xfrm>
          <a:prstGeom prst="rect">
            <a:avLst/>
          </a:prstGeom>
          <a:noFill/>
          <a:ln w="0">
            <a:noFill/>
          </a:ln>
        </p:spPr>
        <p:txBody>
          <a:bodyPr wrap="square">
            <a:noAutofit/>
          </a:bodyPr>
          <a:lstStyle/>
          <a:p>
            <a:pPr>
              <a:defRPr sz="2025" b="1">
                <a:solidFill>
                  <a:srgbClr val="122C49"/>
                </a:solidFill>
                <a:latin typeface="Aptos"/>
                <a:ea typeface="Aptos"/>
                <a:cs typeface="Aptos"/>
              </a:defRPr>
            </a:pPr>
            <a:r>
              <a:rPr sz="2025" b="1">
                <a:solidFill>
                  <a:srgbClr val="122C49"/>
                </a:solidFill>
                <a:latin typeface="Aptos"/>
                <a:ea typeface="Aptos"/>
                <a:cs typeface="Aptos"/>
              </a:rPr>
              <a:t>Performance Management</a:t>
            </a:r>
          </a:p>
        </p:txBody>
      </p:sp>
      <p:sp>
        <p:nvSpPr>
          <p:cNvPr id="33" name="Rectangle 32">
            <a:extLst>
              <a:ext uri="{FF2B5EF4-FFF2-40B4-BE49-F238E27FC236}">
                <a16:creationId xmlns:a16="http://schemas.microsoft.com/office/drawing/2014/main" id="{AB15F6D4-DC06-9CF6-3B7C-4C79A80B471F}"/>
              </a:ext>
            </a:extLst>
          </p:cNvPr>
          <p:cNvSpPr>
            <a:spLocks noGrp="1"/>
          </p:cNvSpPr>
          <p:nvPr/>
        </p:nvSpPr>
        <p:spPr>
          <a:xfrm>
            <a:off x="8769804" y="5447348"/>
            <a:ext cx="4476750" cy="342900"/>
          </a:xfrm>
          <a:prstGeom prst="rect">
            <a:avLst/>
          </a:prstGeom>
          <a:noFill/>
          <a:ln w="0">
            <a:noFill/>
          </a:ln>
        </p:spPr>
        <p:txBody>
          <a:bodyPr wrap="square">
            <a:noAutofit/>
          </a:bodyPr>
          <a:lstStyle/>
          <a:p>
            <a:pPr>
              <a:defRPr sz="1725" b="0">
                <a:solidFill>
                  <a:srgbClr val="5C6F7F"/>
                </a:solidFill>
                <a:latin typeface="Aptos"/>
                <a:ea typeface="Aptos"/>
                <a:cs typeface="Aptos"/>
              </a:defRPr>
            </a:pPr>
            <a:r>
              <a:rPr lang="en-US" sz="1725" b="1">
                <a:solidFill>
                  <a:srgbClr val="007F83"/>
                </a:solidFill>
                <a:latin typeface="Aptos"/>
                <a:ea typeface="Aptos"/>
                <a:cs typeface="Aptos"/>
              </a:rPr>
              <a:t>20%  /  21 May – 01 Jun</a:t>
            </a:r>
          </a:p>
        </p:txBody>
      </p:sp>
      <p:sp>
        <p:nvSpPr>
          <p:cNvPr id="35" name="Rectangle 34">
            <a:extLst>
              <a:ext uri="{FF2B5EF4-FFF2-40B4-BE49-F238E27FC236}">
                <a16:creationId xmlns:a16="http://schemas.microsoft.com/office/drawing/2014/main" id="{4A2EA794-8CD9-0780-DE22-06E64FE40B75}"/>
              </a:ext>
            </a:extLst>
          </p:cNvPr>
          <p:cNvSpPr>
            <a:spLocks noGrp="1"/>
          </p:cNvSpPr>
          <p:nvPr/>
        </p:nvSpPr>
        <p:spPr>
          <a:xfrm>
            <a:off x="8031616" y="5987415"/>
            <a:ext cx="571500" cy="504825"/>
          </a:xfrm>
          <a:prstGeom prst="rect">
            <a:avLst/>
          </a:prstGeom>
          <a:noFill/>
          <a:ln w="0">
            <a:noFill/>
          </a:ln>
        </p:spPr>
        <p:txBody>
          <a:bodyPr wrap="square">
            <a:noAutofit/>
          </a:bodyPr>
          <a:lstStyle/>
          <a:p>
            <a:pPr>
              <a:defRPr sz="2925" b="1">
                <a:solidFill>
                  <a:srgbClr val="007F83"/>
                </a:solidFill>
                <a:latin typeface="Aptos"/>
                <a:ea typeface="Aptos"/>
                <a:cs typeface="Aptos"/>
              </a:defRPr>
            </a:pPr>
            <a:r>
              <a:rPr sz="2925" b="1" dirty="0">
                <a:solidFill>
                  <a:srgbClr val="007F83"/>
                </a:solidFill>
                <a:latin typeface="Aptos"/>
                <a:ea typeface="Aptos"/>
                <a:cs typeface="Aptos"/>
              </a:rPr>
              <a:t>5</a:t>
            </a:r>
          </a:p>
        </p:txBody>
      </p:sp>
      <p:sp>
        <p:nvSpPr>
          <p:cNvPr id="37" name="Rectangle 36">
            <a:extLst>
              <a:ext uri="{FF2B5EF4-FFF2-40B4-BE49-F238E27FC236}">
                <a16:creationId xmlns:a16="http://schemas.microsoft.com/office/drawing/2014/main" id="{72B25C28-1FA9-AD13-1C02-C2F33A5C5371}"/>
              </a:ext>
            </a:extLst>
          </p:cNvPr>
          <p:cNvSpPr>
            <a:spLocks noGrp="1"/>
          </p:cNvSpPr>
          <p:nvPr/>
        </p:nvSpPr>
        <p:spPr>
          <a:xfrm>
            <a:off x="8769804" y="5999798"/>
            <a:ext cx="4524375" cy="400050"/>
          </a:xfrm>
          <a:prstGeom prst="rect">
            <a:avLst/>
          </a:prstGeom>
          <a:noFill/>
          <a:ln w="0">
            <a:noFill/>
          </a:ln>
        </p:spPr>
        <p:txBody>
          <a:bodyPr wrap="square">
            <a:noAutofit/>
          </a:bodyPr>
          <a:lstStyle/>
          <a:p>
            <a:pPr>
              <a:defRPr sz="2025" b="1">
                <a:solidFill>
                  <a:srgbClr val="122C49"/>
                </a:solidFill>
                <a:latin typeface="Aptos"/>
                <a:ea typeface="Aptos"/>
                <a:cs typeface="Aptos"/>
              </a:defRPr>
            </a:pPr>
            <a:r>
              <a:rPr sz="2025" b="1">
                <a:solidFill>
                  <a:srgbClr val="122C49"/>
                </a:solidFill>
                <a:latin typeface="Aptos"/>
                <a:ea typeface="Aptos"/>
                <a:cs typeface="Aptos"/>
              </a:rPr>
              <a:t>Internal Controls</a:t>
            </a:r>
          </a:p>
        </p:txBody>
      </p:sp>
      <p:sp>
        <p:nvSpPr>
          <p:cNvPr id="39" name="Rectangle 38">
            <a:extLst>
              <a:ext uri="{FF2B5EF4-FFF2-40B4-BE49-F238E27FC236}">
                <a16:creationId xmlns:a16="http://schemas.microsoft.com/office/drawing/2014/main" id="{3AAC80EA-DB0D-DF6A-C8AD-7AC637C3C95B}"/>
              </a:ext>
            </a:extLst>
          </p:cNvPr>
          <p:cNvSpPr>
            <a:spLocks noGrp="1"/>
          </p:cNvSpPr>
          <p:nvPr/>
        </p:nvSpPr>
        <p:spPr>
          <a:xfrm>
            <a:off x="8769804" y="6409373"/>
            <a:ext cx="4476750" cy="342900"/>
          </a:xfrm>
          <a:prstGeom prst="rect">
            <a:avLst/>
          </a:prstGeom>
          <a:noFill/>
          <a:ln w="0">
            <a:noFill/>
          </a:ln>
        </p:spPr>
        <p:txBody>
          <a:bodyPr wrap="square">
            <a:noAutofit/>
          </a:bodyPr>
          <a:lstStyle/>
          <a:p>
            <a:pPr>
              <a:defRPr sz="1725" b="0">
                <a:solidFill>
                  <a:srgbClr val="5C6F7F"/>
                </a:solidFill>
                <a:latin typeface="Aptos"/>
                <a:ea typeface="Aptos"/>
                <a:cs typeface="Aptos"/>
              </a:defRPr>
            </a:pPr>
            <a:r>
              <a:rPr lang="en-US" sz="1725" b="1">
                <a:solidFill>
                  <a:srgbClr val="007F83"/>
                </a:solidFill>
                <a:latin typeface="Aptos"/>
                <a:ea typeface="Aptos"/>
                <a:cs typeface="Aptos"/>
              </a:rPr>
              <a:t>15%  /  4–11 Jun</a:t>
            </a:r>
          </a:p>
        </p:txBody>
      </p:sp>
      <p:sp>
        <p:nvSpPr>
          <p:cNvPr id="41" name="Rectangle 40">
            <a:extLst>
              <a:ext uri="{FF2B5EF4-FFF2-40B4-BE49-F238E27FC236}">
                <a16:creationId xmlns:a16="http://schemas.microsoft.com/office/drawing/2014/main" id="{3BC17CA6-D459-BB98-CC62-4637A1C4EED2}"/>
              </a:ext>
            </a:extLst>
          </p:cNvPr>
          <p:cNvSpPr>
            <a:spLocks noGrp="1"/>
          </p:cNvSpPr>
          <p:nvPr/>
        </p:nvSpPr>
        <p:spPr>
          <a:xfrm>
            <a:off x="8055429" y="6961823"/>
            <a:ext cx="571500" cy="504825"/>
          </a:xfrm>
          <a:prstGeom prst="rect">
            <a:avLst/>
          </a:prstGeom>
          <a:noFill/>
          <a:ln w="0">
            <a:noFill/>
          </a:ln>
        </p:spPr>
        <p:txBody>
          <a:bodyPr wrap="square">
            <a:noAutofit/>
          </a:bodyPr>
          <a:lstStyle/>
          <a:p>
            <a:pPr>
              <a:defRPr sz="2925" b="1">
                <a:solidFill>
                  <a:srgbClr val="007F83"/>
                </a:solidFill>
                <a:latin typeface="Aptos"/>
                <a:ea typeface="Aptos"/>
                <a:cs typeface="Aptos"/>
              </a:defRPr>
            </a:pPr>
            <a:r>
              <a:rPr sz="2925" b="1">
                <a:solidFill>
                  <a:srgbClr val="007F83"/>
                </a:solidFill>
                <a:latin typeface="Aptos"/>
                <a:ea typeface="Aptos"/>
                <a:cs typeface="Aptos"/>
              </a:rPr>
              <a:t>6</a:t>
            </a:r>
          </a:p>
        </p:txBody>
      </p:sp>
      <p:sp>
        <p:nvSpPr>
          <p:cNvPr id="43" name="Rectangle 42">
            <a:extLst>
              <a:ext uri="{FF2B5EF4-FFF2-40B4-BE49-F238E27FC236}">
                <a16:creationId xmlns:a16="http://schemas.microsoft.com/office/drawing/2014/main" id="{B6D46D57-70C4-DC2C-29B1-03BD75D1BC5F}"/>
              </a:ext>
            </a:extLst>
          </p:cNvPr>
          <p:cNvSpPr>
            <a:spLocks noGrp="1"/>
          </p:cNvSpPr>
          <p:nvPr/>
        </p:nvSpPr>
        <p:spPr>
          <a:xfrm>
            <a:off x="8769804" y="6961823"/>
            <a:ext cx="4524375" cy="400050"/>
          </a:xfrm>
          <a:prstGeom prst="rect">
            <a:avLst/>
          </a:prstGeom>
          <a:noFill/>
          <a:ln w="0">
            <a:noFill/>
          </a:ln>
        </p:spPr>
        <p:txBody>
          <a:bodyPr wrap="square">
            <a:noAutofit/>
          </a:bodyPr>
          <a:lstStyle/>
          <a:p>
            <a:pPr>
              <a:defRPr sz="2025" b="1">
                <a:solidFill>
                  <a:srgbClr val="122C49"/>
                </a:solidFill>
                <a:latin typeface="Aptos"/>
                <a:ea typeface="Aptos"/>
                <a:cs typeface="Aptos"/>
              </a:defRPr>
            </a:pPr>
            <a:r>
              <a:rPr sz="2025" b="1">
                <a:solidFill>
                  <a:srgbClr val="122C49"/>
                </a:solidFill>
                <a:latin typeface="Aptos"/>
                <a:ea typeface="Aptos"/>
                <a:cs typeface="Aptos"/>
              </a:rPr>
              <a:t>Technology and Analytics</a:t>
            </a:r>
          </a:p>
        </p:txBody>
      </p:sp>
      <p:sp>
        <p:nvSpPr>
          <p:cNvPr id="45" name="Rectangle 44">
            <a:extLst>
              <a:ext uri="{FF2B5EF4-FFF2-40B4-BE49-F238E27FC236}">
                <a16:creationId xmlns:a16="http://schemas.microsoft.com/office/drawing/2014/main" id="{B0D4F182-C1A9-948B-C1F6-594F428F3AA7}"/>
              </a:ext>
            </a:extLst>
          </p:cNvPr>
          <p:cNvSpPr>
            <a:spLocks noGrp="1"/>
          </p:cNvSpPr>
          <p:nvPr/>
        </p:nvSpPr>
        <p:spPr>
          <a:xfrm>
            <a:off x="8769804" y="7371398"/>
            <a:ext cx="4476750" cy="342900"/>
          </a:xfrm>
          <a:prstGeom prst="rect">
            <a:avLst/>
          </a:prstGeom>
          <a:noFill/>
          <a:ln w="0">
            <a:noFill/>
          </a:ln>
        </p:spPr>
        <p:txBody>
          <a:bodyPr wrap="square">
            <a:noAutofit/>
          </a:bodyPr>
          <a:lstStyle/>
          <a:p>
            <a:pPr>
              <a:defRPr sz="1725" b="0">
                <a:solidFill>
                  <a:srgbClr val="5C6F7F"/>
                </a:solidFill>
                <a:latin typeface="Aptos"/>
                <a:ea typeface="Aptos"/>
                <a:cs typeface="Aptos"/>
              </a:defRPr>
            </a:pPr>
            <a:r>
              <a:rPr lang="en-US" sz="1725" b="1">
                <a:solidFill>
                  <a:srgbClr val="007F83"/>
                </a:solidFill>
                <a:latin typeface="Aptos"/>
                <a:ea typeface="Aptos"/>
                <a:cs typeface="Aptos"/>
              </a:rPr>
              <a:t>15%  /  15–22 Jun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0000002-0001-4000-8000-000000000000}"/>
              </a:ext>
            </a:extLst>
          </p:cNvPr>
          <p:cNvSpPr>
            <a:spLocks noGrp="1"/>
          </p:cNvSpPr>
          <p:nvPr/>
        </p:nvSpPr>
        <p:spPr>
          <a:xfrm>
            <a:off x="762000" y="542925"/>
            <a:ext cx="13811250" cy="666750"/>
          </a:xfrm>
          <a:prstGeom prst="rect">
            <a:avLst/>
          </a:prstGeom>
          <a:noFill/>
          <a:ln w="0">
            <a:noFill/>
          </a:ln>
        </p:spPr>
        <p:txBody>
          <a:bodyPr wrap="square">
            <a:noAutofit/>
          </a:bodyPr>
          <a:lstStyle/>
          <a:p>
            <a:pPr>
              <a:defRPr sz="3675" b="1">
                <a:solidFill>
                  <a:srgbClr val="122C49"/>
                </a:solidFill>
                <a:latin typeface="Aptos"/>
                <a:ea typeface="Aptos"/>
                <a:cs typeface="Aptos"/>
              </a:defRPr>
            </a:pPr>
            <a:r>
              <a:rPr lang="en-US" sz="3675" b="1">
                <a:solidFill>
                  <a:srgbClr val="122C49"/>
                </a:solidFill>
                <a:latin typeface="Aptos"/>
                <a:ea typeface="Aptos"/>
                <a:cs typeface="Aptos"/>
              </a:rPr>
              <a:t>External Financial Reporting</a:t>
            </a:r>
          </a:p>
        </p:txBody>
      </p:sp>
      <p:sp>
        <p:nvSpPr>
          <p:cNvPr id="2" name="Rectangle 1">
            <a:extLst>
              <a:ext uri="{FF2B5EF4-FFF2-40B4-BE49-F238E27FC236}">
                <a16:creationId xmlns:a16="http://schemas.microsoft.com/office/drawing/2014/main" id="{00000002-0002-4000-8000-000000000000}"/>
              </a:ext>
            </a:extLst>
          </p:cNvPr>
          <p:cNvSpPr>
            <a:spLocks noGrp="1"/>
          </p:cNvSpPr>
          <p:nvPr/>
        </p:nvSpPr>
        <p:spPr>
          <a:xfrm>
            <a:off x="762000" y="1185862"/>
            <a:ext cx="13811250" cy="400050"/>
          </a:xfrm>
          <a:prstGeom prst="rect">
            <a:avLst/>
          </a:prstGeom>
          <a:noFill/>
          <a:ln w="0">
            <a:noFill/>
          </a:ln>
        </p:spPr>
        <p:txBody>
          <a:bodyPr wrap="square">
            <a:noAutofit/>
          </a:bodyPr>
          <a:lstStyle/>
          <a:p>
            <a:pPr>
              <a:defRPr sz="2025" b="0">
                <a:solidFill>
                  <a:srgbClr val="007F83"/>
                </a:solidFill>
                <a:latin typeface="Aptos"/>
                <a:ea typeface="Aptos"/>
                <a:cs typeface="Aptos"/>
              </a:defRPr>
            </a:pPr>
            <a:r>
              <a:rPr lang="en-US" sz="2400" b="0">
                <a:solidFill>
                  <a:srgbClr val="007F83"/>
                </a:solidFill>
                <a:latin typeface="Aptos"/>
                <a:ea typeface="Aptos"/>
                <a:cs typeface="Aptos"/>
              </a:rPr>
              <a:t>16–19 February 2027   /   Sessions 2–3</a:t>
            </a:r>
          </a:p>
        </p:txBody>
      </p:sp>
      <p:graphicFrame>
        <p:nvGraphicFramePr>
          <p:cNvPr id="3" name="Table 2"/>
          <p:cNvGraphicFramePr/>
          <p:nvPr>
            <p:extLst>
              <p:ext uri="{D42A27DB-BD31-4B8C-83A1-F6EECF244321}">
                <p14:modId xmlns:p14="http://schemas.microsoft.com/office/powerpoint/2010/main" val="2372904501"/>
              </p:ext>
            </p:extLst>
          </p:nvPr>
        </p:nvGraphicFramePr>
        <p:xfrm>
          <a:off x="762000" y="2028825"/>
          <a:ext cx="13811251" cy="3924300"/>
        </p:xfrm>
        <a:graphic>
          <a:graphicData uri="http://schemas.openxmlformats.org/drawingml/2006/table">
            <a:tbl>
              <a:tblPr/>
              <a:tblGrid>
                <a:gridCol w="1962652">
                  <a:extLst>
                    <a:ext uri="{9D8B030D-6E8A-4147-A177-3AD203B41FA5}">
                      <a16:colId xmlns:a16="http://schemas.microsoft.com/office/drawing/2014/main" val="20000"/>
                    </a:ext>
                  </a:extLst>
                </a:gridCol>
                <a:gridCol w="4984248">
                  <a:extLst>
                    <a:ext uri="{9D8B030D-6E8A-4147-A177-3AD203B41FA5}">
                      <a16:colId xmlns:a16="http://schemas.microsoft.com/office/drawing/2014/main" val="20001"/>
                    </a:ext>
                  </a:extLst>
                </a:gridCol>
                <a:gridCol w="5172911">
                  <a:extLst>
                    <a:ext uri="{9D8B030D-6E8A-4147-A177-3AD203B41FA5}">
                      <a16:colId xmlns:a16="http://schemas.microsoft.com/office/drawing/2014/main" val="20002"/>
                    </a:ext>
                  </a:extLst>
                </a:gridCol>
                <a:gridCol w="1691440">
                  <a:extLst>
                    <a:ext uri="{9D8B030D-6E8A-4147-A177-3AD203B41FA5}">
                      <a16:colId xmlns:a16="http://schemas.microsoft.com/office/drawing/2014/main" val="20003"/>
                    </a:ext>
                  </a:extLst>
                </a:gridCol>
              </a:tblGrid>
              <a:tr h="514350">
                <a:tc>
                  <a:txBody>
                    <a:bodyPr/>
                    <a:lstStyle/>
                    <a:p>
                      <a:pPr algn="ctr"/>
                      <a:r>
                        <a:rPr lang="en-US" sz="1800" b="1">
                          <a:solidFill>
                            <a:srgbClr val="FFFFFF"/>
                          </a:solidFill>
                          <a:latin typeface="Aptos"/>
                          <a:ea typeface="Aptos"/>
                          <a:cs typeface="Aptos"/>
                        </a:rPr>
                        <a:t>Session / date</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Study unit</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Coverage and practice</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Subunits</a:t>
                      </a:r>
                    </a:p>
                  </a:txBody>
                  <a:tcPr marL="133350" marR="133350" marT="133350" marB="133350" anchor="ctr">
                    <a:solidFill>
                      <a:srgbClr val="122C49"/>
                    </a:solidFill>
                  </a:tcPr>
                </a:tc>
                <a:extLst>
                  <a:ext uri="{0D108BD9-81ED-4DB2-BD59-A6C34878D82A}">
                    <a16:rowId xmlns:a16="http://schemas.microsoft.com/office/drawing/2014/main" val="10000"/>
                  </a:ext>
                </a:extLst>
              </a:tr>
              <a:tr h="1691640">
                <a:tc>
                  <a:txBody>
                    <a:bodyPr/>
                    <a:lstStyle/>
                    <a:p>
                      <a:r>
                        <a:rPr lang="nn-NO" sz="1800" b="1">
                          <a:solidFill>
                            <a:srgbClr val="007F83"/>
                          </a:solidFill>
                          <a:latin typeface="Aptos"/>
                          <a:ea typeface="Aptos"/>
                          <a:cs typeface="Aptos"/>
                        </a:rPr>
                        <a:t>02</a:t>
                      </a:r>
                    </a:p>
                    <a:p>
                      <a:r>
                        <a:rPr lang="nn-NO" sz="1800" b="1">
                          <a:solidFill>
                            <a:srgbClr val="007F83"/>
                          </a:solidFill>
                          <a:latin typeface="Aptos"/>
                          <a:ea typeface="Aptos"/>
                          <a:cs typeface="Aptos"/>
                        </a:rPr>
                        <a:t>Tue 16 Feb</a:t>
                      </a:r>
                    </a:p>
                    <a:p>
                      <a:r>
                        <a:rPr lang="nn-NO" sz="1800" b="1">
                          <a:solidFill>
                            <a:srgbClr val="007F83"/>
                          </a:solidFill>
                          <a:latin typeface="Aptos"/>
                          <a:ea typeface="Aptos"/>
                          <a:cs typeface="Aptos"/>
                        </a:rPr>
                        <a:t>2027</a:t>
                      </a:r>
                    </a:p>
                  </a:txBody>
                  <a:tcPr marL="133350" marR="133350" marT="133350" marB="133350" anchor="ctr">
                    <a:solidFill>
                      <a:srgbClr val="F3F7F9"/>
                    </a:solidFill>
                  </a:tcPr>
                </a:tc>
                <a:tc>
                  <a:txBody>
                    <a:bodyPr/>
                    <a:lstStyle/>
                    <a:p>
                      <a:r>
                        <a:rPr lang="en-US" sz="1800" b="1">
                          <a:solidFill>
                            <a:srgbClr val="122C49"/>
                          </a:solidFill>
                          <a:latin typeface="Aptos"/>
                          <a:ea typeface="Aptos"/>
                          <a:cs typeface="Aptos"/>
                        </a:rPr>
                        <a:t>Unit 1. External Financial Statements</a:t>
                      </a:r>
                    </a:p>
                    <a:p>
                      <a:r>
                        <a:rPr lang="en-US" sz="1800" b="1">
                          <a:solidFill>
                            <a:srgbClr val="122C49"/>
                          </a:solidFill>
                          <a:latin typeface="Aptos"/>
                          <a:ea typeface="Aptos"/>
                          <a:cs typeface="Aptos"/>
                        </a:rPr>
                        <a:t>Lecture 1 of 2</a:t>
                      </a:r>
                    </a:p>
                  </a:txBody>
                  <a:tcPr marL="133350" marR="133350" marT="133350" marB="133350" anchor="ctr">
                    <a:solidFill>
                      <a:srgbClr val="F3F7F9"/>
                    </a:solidFill>
                  </a:tcPr>
                </a:tc>
                <a:tc>
                  <a:txBody>
                    <a:bodyPr/>
                    <a:lstStyle/>
                    <a:p>
                      <a:pPr marL="285750" indent="-285750">
                        <a:buFont typeface="Arial" panose="020B0604020202020204" pitchFamily="34" charset="0"/>
                        <a:buChar char="•"/>
                      </a:pPr>
                      <a:r>
                        <a:rPr lang="en-US" sz="1800">
                          <a:solidFill>
                            <a:srgbClr val="233B50"/>
                          </a:solidFill>
                          <a:latin typeface="Aptos"/>
                          <a:ea typeface="Aptos"/>
                          <a:cs typeface="Aptos"/>
                        </a:rPr>
                        <a:t>1.1 Concepts of financial accounting.</a:t>
                      </a:r>
                    </a:p>
                    <a:p>
                      <a:pPr marL="285750" indent="-285750">
                        <a:buFont typeface="Arial" panose="020B0604020202020204" pitchFamily="34" charset="0"/>
                        <a:buChar char="•"/>
                      </a:pPr>
                      <a:r>
                        <a:rPr lang="en-US" sz="1800">
                          <a:solidFill>
                            <a:srgbClr val="233B50"/>
                          </a:solidFill>
                          <a:latin typeface="Aptos"/>
                          <a:ea typeface="Aptos"/>
                          <a:cs typeface="Aptos"/>
                        </a:rPr>
                        <a:t>1.2 Statement of financial position.</a:t>
                      </a:r>
                    </a:p>
                    <a:p>
                      <a:pPr marL="285750" indent="-285750">
                        <a:buFont typeface="Arial" panose="020B0604020202020204" pitchFamily="34" charset="0"/>
                        <a:buChar char="•"/>
                      </a:pPr>
                      <a:r>
                        <a:rPr lang="en-US" sz="1800">
                          <a:solidFill>
                            <a:srgbClr val="233B50"/>
                          </a:solidFill>
                          <a:latin typeface="Aptos"/>
                          <a:ea typeface="Aptos"/>
                          <a:cs typeface="Aptos"/>
                        </a:rPr>
                        <a:t>1.3 Income and comprehensive income.</a:t>
                      </a:r>
                    </a:p>
                  </a:txBody>
                  <a:tcPr marL="133350" marR="133350" marT="133350" marB="133350" anchor="ctr">
                    <a:solidFill>
                      <a:srgbClr val="F3F7F9"/>
                    </a:solidFill>
                  </a:tcPr>
                </a:tc>
                <a:tc>
                  <a:txBody>
                    <a:bodyPr/>
                    <a:lstStyle/>
                    <a:p>
                      <a:pPr algn="ctr"/>
                      <a:r>
                        <a:rPr lang="en-US" sz="1800">
                          <a:solidFill>
                            <a:srgbClr val="233B50"/>
                          </a:solidFill>
                          <a:latin typeface="Aptos"/>
                          <a:ea typeface="Aptos"/>
                          <a:cs typeface="Aptos"/>
                        </a:rPr>
                        <a:t>1.1–1.3</a:t>
                      </a:r>
                    </a:p>
                  </a:txBody>
                  <a:tcPr marL="133350" marR="133350" marT="133350" marB="133350" anchor="ctr">
                    <a:solidFill>
                      <a:srgbClr val="F3F7F9"/>
                    </a:solidFill>
                  </a:tcPr>
                </a:tc>
                <a:extLst>
                  <a:ext uri="{0D108BD9-81ED-4DB2-BD59-A6C34878D82A}">
                    <a16:rowId xmlns:a16="http://schemas.microsoft.com/office/drawing/2014/main" val="10001"/>
                  </a:ext>
                </a:extLst>
              </a:tr>
              <a:tr h="1691640">
                <a:tc>
                  <a:txBody>
                    <a:bodyPr/>
                    <a:lstStyle/>
                    <a:p>
                      <a:r>
                        <a:rPr lang="fr-FR" sz="1800" b="1">
                          <a:solidFill>
                            <a:srgbClr val="007F83"/>
                          </a:solidFill>
                          <a:latin typeface="Aptos"/>
                          <a:ea typeface="Aptos"/>
                          <a:cs typeface="Aptos"/>
                        </a:rPr>
                        <a:t>03</a:t>
                      </a:r>
                    </a:p>
                    <a:p>
                      <a:r>
                        <a:rPr lang="fr-FR" sz="1800" b="1">
                          <a:solidFill>
                            <a:srgbClr val="007F83"/>
                          </a:solidFill>
                          <a:latin typeface="Aptos"/>
                          <a:ea typeface="Aptos"/>
                          <a:cs typeface="Aptos"/>
                        </a:rPr>
                        <a:t>Fri 19 Feb</a:t>
                      </a:r>
                    </a:p>
                    <a:p>
                      <a:r>
                        <a:rPr lang="fr-FR" sz="1800" b="1">
                          <a:solidFill>
                            <a:srgbClr val="007F83"/>
                          </a:solidFill>
                          <a:latin typeface="Aptos"/>
                          <a:ea typeface="Aptos"/>
                          <a:cs typeface="Aptos"/>
                        </a:rPr>
                        <a:t>2027</a:t>
                      </a:r>
                    </a:p>
                  </a:txBody>
                  <a:tcPr marL="133350" marR="133350" marT="133350" marB="133350" anchor="ctr">
                    <a:solidFill>
                      <a:srgbClr val="FFFFFF"/>
                    </a:solidFill>
                  </a:tcPr>
                </a:tc>
                <a:tc>
                  <a:txBody>
                    <a:bodyPr/>
                    <a:lstStyle/>
                    <a:p>
                      <a:r>
                        <a:rPr lang="en-US" sz="1800" b="1">
                          <a:solidFill>
                            <a:srgbClr val="122C49"/>
                          </a:solidFill>
                          <a:latin typeface="Aptos"/>
                          <a:ea typeface="Aptos"/>
                          <a:cs typeface="Aptos"/>
                        </a:rPr>
                        <a:t>Unit 1. External Financial Statements</a:t>
                      </a:r>
                    </a:p>
                    <a:p>
                      <a:r>
                        <a:rPr lang="en-US" sz="1800" b="1">
                          <a:solidFill>
                            <a:srgbClr val="122C49"/>
                          </a:solidFill>
                          <a:latin typeface="Aptos"/>
                          <a:ea typeface="Aptos"/>
                          <a:cs typeface="Aptos"/>
                        </a:rPr>
                        <a:t>Lecture 2 of 2</a:t>
                      </a:r>
                    </a:p>
                  </a:txBody>
                  <a:tcPr marL="133350" marR="133350" marT="133350" marB="133350" anchor="ctr">
                    <a:solidFill>
                      <a:srgbClr val="FFFFFF"/>
                    </a:solidFill>
                  </a:tcPr>
                </a:tc>
                <a:tc>
                  <a:txBody>
                    <a:bodyPr/>
                    <a:lstStyle/>
                    <a:p>
                      <a:pPr marL="285750" indent="-285750">
                        <a:buFont typeface="Arial" panose="020B0604020202020204" pitchFamily="34" charset="0"/>
                        <a:buChar char="•"/>
                      </a:pPr>
                      <a:r>
                        <a:rPr lang="en-US" sz="1800">
                          <a:solidFill>
                            <a:srgbClr val="233B50"/>
                          </a:solidFill>
                          <a:latin typeface="Aptos"/>
                          <a:ea typeface="Aptos"/>
                          <a:cs typeface="Aptos"/>
                        </a:rPr>
                        <a:t>1.4 Changes in equity.</a:t>
                      </a:r>
                    </a:p>
                    <a:p>
                      <a:pPr marL="285750" indent="-285750">
                        <a:buFont typeface="Arial" panose="020B0604020202020204" pitchFamily="34" charset="0"/>
                        <a:buChar char="•"/>
                      </a:pPr>
                      <a:r>
                        <a:rPr lang="en-US" sz="1800">
                          <a:solidFill>
                            <a:srgbClr val="233B50"/>
                          </a:solidFill>
                          <a:latin typeface="Aptos"/>
                          <a:ea typeface="Aptos"/>
                          <a:cs typeface="Aptos"/>
                        </a:rPr>
                        <a:t>1.5 Cash flows.</a:t>
                      </a:r>
                    </a:p>
                    <a:p>
                      <a:pPr marL="285750" indent="-285750">
                        <a:buFont typeface="Arial" panose="020B0604020202020204" pitchFamily="34" charset="0"/>
                        <a:buChar char="•"/>
                      </a:pPr>
                      <a:r>
                        <a:rPr lang="en-US" sz="1800">
                          <a:solidFill>
                            <a:srgbClr val="233B50"/>
                          </a:solidFill>
                          <a:latin typeface="Aptos"/>
                          <a:ea typeface="Aptos"/>
                          <a:cs typeface="Aptos"/>
                        </a:rPr>
                        <a:t>1.6 Consolidation accounting.</a:t>
                      </a:r>
                    </a:p>
                  </a:txBody>
                  <a:tcPr marL="133350" marR="133350" marT="133350" marB="133350" anchor="ctr">
                    <a:solidFill>
                      <a:srgbClr val="FFFFFF"/>
                    </a:solidFill>
                  </a:tcPr>
                </a:tc>
                <a:tc>
                  <a:txBody>
                    <a:bodyPr/>
                    <a:lstStyle/>
                    <a:p>
                      <a:pPr algn="ctr"/>
                      <a:r>
                        <a:rPr lang="en-US" sz="1800">
                          <a:solidFill>
                            <a:srgbClr val="233B50"/>
                          </a:solidFill>
                          <a:latin typeface="Aptos"/>
                          <a:ea typeface="Aptos"/>
                          <a:cs typeface="Aptos"/>
                        </a:rPr>
                        <a:t>1.4–1.6</a:t>
                      </a:r>
                    </a:p>
                  </a:txBody>
                  <a:tcPr marL="133350" marR="133350" marT="133350" marB="133350" anchor="ctr">
                    <a:solidFill>
                      <a:srgbClr val="FFFFFF"/>
                    </a:solidFill>
                  </a:tcPr>
                </a:tc>
                <a:extLst>
                  <a:ext uri="{0D108BD9-81ED-4DB2-BD59-A6C34878D82A}">
                    <a16:rowId xmlns:a16="http://schemas.microsoft.com/office/drawing/2014/main" val="10002"/>
                  </a:ext>
                </a:extLst>
              </a:tr>
            </a:tbl>
          </a:graphicData>
        </a:graphic>
      </p:graphicFrame>
      <p:sp>
        <p:nvSpPr>
          <p:cNvPr id="5" name="Rectangle 4">
            <a:extLst>
              <a:ext uri="{FF2B5EF4-FFF2-40B4-BE49-F238E27FC236}">
                <a16:creationId xmlns:a16="http://schemas.microsoft.com/office/drawing/2014/main" id="{00000002-0004-4000-8000-000000000000}"/>
              </a:ext>
            </a:extLst>
          </p:cNvPr>
          <p:cNvSpPr>
            <a:spLocks noGrp="1"/>
          </p:cNvSpPr>
          <p:nvPr/>
        </p:nvSpPr>
        <p:spPr>
          <a:xfrm>
            <a:off x="13811250" y="8077200"/>
            <a:ext cx="666750" cy="285750"/>
          </a:xfrm>
          <a:prstGeom prst="rect">
            <a:avLst/>
          </a:prstGeom>
          <a:noFill/>
          <a:ln w="0">
            <a:noFill/>
          </a:ln>
        </p:spPr>
        <p:txBody>
          <a:bodyPr wrap="square">
            <a:noAutofit/>
          </a:bodyPr>
          <a:lstStyle/>
          <a:p>
            <a:pPr>
              <a:defRPr sz="1350" b="0">
                <a:solidFill>
                  <a:srgbClr val="5C6F7F"/>
                </a:solidFill>
                <a:latin typeface="Aptos"/>
                <a:ea typeface="Aptos"/>
                <a:cs typeface="Aptos"/>
              </a:defRPr>
            </a:pPr>
            <a:r>
              <a:rPr lang="en-US" sz="1350" b="0">
                <a:solidFill>
                  <a:srgbClr val="5C6F7F"/>
                </a:solidFill>
                <a:latin typeface="Aptos"/>
                <a:ea typeface="Aptos"/>
                <a:cs typeface="Aptos"/>
              </a:rPr>
              <a:t>17</a:t>
            </a:r>
          </a:p>
        </p:txBody>
      </p:sp>
      <p:sp>
        <p:nvSpPr>
          <p:cNvPr id="7" name="Section exam weighting">
            <a:extLst>
              <a:ext uri="{FF2B5EF4-FFF2-40B4-BE49-F238E27FC236}">
                <a16:creationId xmlns:a16="http://schemas.microsoft.com/office/drawing/2014/main" id="{00000002-0002-4000-8000-000000000000}"/>
              </a:ext>
            </a:extLst>
          </p:cNvPr>
          <p:cNvSpPr>
            <a:spLocks noGrp="1"/>
          </p:cNvSpPr>
          <p:nvPr/>
        </p:nvSpPr>
        <p:spPr>
          <a:xfrm>
            <a:off x="762000" y="1657350"/>
            <a:ext cx="13811250" cy="276225"/>
          </a:xfrm>
          <a:prstGeom prst="rect">
            <a:avLst/>
          </a:prstGeom>
          <a:noFill/>
          <a:ln w="0">
            <a:noFill/>
          </a:ln>
        </p:spPr>
        <p:txBody>
          <a:bodyPr wrap="square" tIns="0" bIns="0">
            <a:noAutofit/>
          </a:bodyPr>
          <a:lstStyle/>
          <a:p>
            <a:pPr>
              <a:defRPr sz="2025" b="0">
                <a:solidFill>
                  <a:srgbClr val="007F83"/>
                </a:solidFill>
                <a:latin typeface="Aptos"/>
                <a:ea typeface="Aptos"/>
                <a:cs typeface="Aptos"/>
              </a:defRPr>
            </a:pPr>
            <a:r>
              <a:rPr lang="en-US" b="1">
                <a:solidFill>
                  <a:srgbClr val="007F83"/>
                </a:solidFill>
                <a:latin typeface="Aptos"/>
                <a:ea typeface="Aptos"/>
                <a:cs typeface="Aptos"/>
              </a:rPr>
              <a:t>Section exam weight: External Financial Reporting Decisions 15%</a:t>
            </a:r>
          </a:p>
        </p:txBody>
      </p:sp>
      <p:sp>
        <p:nvSpPr>
          <p:cNvPr id="9" name="Rectangle 8">
            <a:extLst>
              <a:ext uri="{FF2B5EF4-FFF2-40B4-BE49-F238E27FC236}">
                <a16:creationId xmlns:a16="http://schemas.microsoft.com/office/drawing/2014/main" id="{769240ED-E110-FFA2-96F6-9619968F0D03}"/>
              </a:ext>
            </a:extLst>
          </p:cNvPr>
          <p:cNvSpPr>
            <a:spLocks noGrp="1"/>
          </p:cNvSpPr>
          <p:nvPr/>
        </p:nvSpPr>
        <p:spPr>
          <a:xfrm>
            <a:off x="762000" y="8077200"/>
            <a:ext cx="11430000" cy="285750"/>
          </a:xfrm>
          <a:prstGeom prst="rect">
            <a:avLst/>
          </a:prstGeom>
          <a:noFill/>
          <a:ln w="0">
            <a:noFill/>
          </a:ln>
        </p:spPr>
        <p:txBody>
          <a:bodyPr wrap="square">
            <a:noAutofit/>
          </a:bodyPr>
          <a:lstStyle/>
          <a:p>
            <a:pPr>
              <a:defRPr sz="1350" b="0">
                <a:solidFill>
                  <a:srgbClr val="5C6F7F"/>
                </a:solidFill>
                <a:latin typeface="Aptos"/>
                <a:ea typeface="Aptos"/>
                <a:cs typeface="Aptos"/>
              </a:defRPr>
            </a:pPr>
            <a:r>
              <a:rPr sz="1350" b="0">
                <a:solidFill>
                  <a:srgbClr val="5C6F7F"/>
                </a:solidFill>
                <a:latin typeface="Aptos"/>
                <a:ea typeface="Aptos"/>
                <a:cs typeface="Aptos"/>
              </a:rPr>
              <a:t>CMA Part 1. Supplied course outline. Subunit references shown.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0000002-0001-4000-8000-000000000000}"/>
              </a:ext>
            </a:extLst>
          </p:cNvPr>
          <p:cNvSpPr>
            <a:spLocks noGrp="1"/>
          </p:cNvSpPr>
          <p:nvPr/>
        </p:nvSpPr>
        <p:spPr>
          <a:xfrm>
            <a:off x="762000" y="542925"/>
            <a:ext cx="13811250" cy="666750"/>
          </a:xfrm>
          <a:prstGeom prst="rect">
            <a:avLst/>
          </a:prstGeom>
          <a:noFill/>
          <a:ln w="0">
            <a:noFill/>
          </a:ln>
        </p:spPr>
        <p:txBody>
          <a:bodyPr wrap="square">
            <a:noAutofit/>
          </a:bodyPr>
          <a:lstStyle/>
          <a:p>
            <a:pPr>
              <a:defRPr sz="3675" b="1">
                <a:solidFill>
                  <a:srgbClr val="122C49"/>
                </a:solidFill>
                <a:latin typeface="Aptos"/>
                <a:ea typeface="Aptos"/>
                <a:cs typeface="Aptos"/>
              </a:defRPr>
            </a:pPr>
            <a:r>
              <a:rPr lang="en-US" sz="3675" b="1">
                <a:solidFill>
                  <a:srgbClr val="122C49"/>
                </a:solidFill>
                <a:latin typeface="Aptos"/>
                <a:ea typeface="Aptos"/>
                <a:cs typeface="Aptos"/>
              </a:rPr>
              <a:t>External Financial Reporting</a:t>
            </a:r>
          </a:p>
        </p:txBody>
      </p:sp>
      <p:sp>
        <p:nvSpPr>
          <p:cNvPr id="2" name="Rectangle 1">
            <a:extLst>
              <a:ext uri="{FF2B5EF4-FFF2-40B4-BE49-F238E27FC236}">
                <a16:creationId xmlns:a16="http://schemas.microsoft.com/office/drawing/2014/main" id="{00000002-0002-4000-8000-000000000000}"/>
              </a:ext>
            </a:extLst>
          </p:cNvPr>
          <p:cNvSpPr>
            <a:spLocks noGrp="1"/>
          </p:cNvSpPr>
          <p:nvPr/>
        </p:nvSpPr>
        <p:spPr>
          <a:xfrm>
            <a:off x="762000" y="1185862"/>
            <a:ext cx="13811250" cy="400050"/>
          </a:xfrm>
          <a:prstGeom prst="rect">
            <a:avLst/>
          </a:prstGeom>
          <a:noFill/>
          <a:ln w="0">
            <a:noFill/>
          </a:ln>
        </p:spPr>
        <p:txBody>
          <a:bodyPr wrap="square">
            <a:noAutofit/>
          </a:bodyPr>
          <a:lstStyle/>
          <a:p>
            <a:pPr>
              <a:defRPr sz="2025" b="0">
                <a:solidFill>
                  <a:srgbClr val="007F83"/>
                </a:solidFill>
                <a:latin typeface="Aptos"/>
                <a:ea typeface="Aptos"/>
                <a:cs typeface="Aptos"/>
              </a:defRPr>
            </a:pPr>
            <a:r>
              <a:rPr lang="en-US" sz="2400" b="0">
                <a:solidFill>
                  <a:srgbClr val="007F83"/>
                </a:solidFill>
                <a:latin typeface="Aptos"/>
                <a:ea typeface="Aptos"/>
                <a:cs typeface="Aptos"/>
              </a:rPr>
              <a:t>23–26 February 2027   /   Sessions 4–5</a:t>
            </a:r>
          </a:p>
        </p:txBody>
      </p:sp>
      <p:graphicFrame>
        <p:nvGraphicFramePr>
          <p:cNvPr id="3" name="Table 2"/>
          <p:cNvGraphicFramePr/>
          <p:nvPr>
            <p:extLst>
              <p:ext uri="{D42A27DB-BD31-4B8C-83A1-F6EECF244321}">
                <p14:modId xmlns:p14="http://schemas.microsoft.com/office/powerpoint/2010/main" val="1972187897"/>
              </p:ext>
            </p:extLst>
          </p:nvPr>
        </p:nvGraphicFramePr>
        <p:xfrm>
          <a:off x="762000" y="2028825"/>
          <a:ext cx="13811251" cy="3924300"/>
        </p:xfrm>
        <a:graphic>
          <a:graphicData uri="http://schemas.openxmlformats.org/drawingml/2006/table">
            <a:tbl>
              <a:tblPr/>
              <a:tblGrid>
                <a:gridCol w="1962652">
                  <a:extLst>
                    <a:ext uri="{9D8B030D-6E8A-4147-A177-3AD203B41FA5}">
                      <a16:colId xmlns:a16="http://schemas.microsoft.com/office/drawing/2014/main" val="20000"/>
                    </a:ext>
                  </a:extLst>
                </a:gridCol>
                <a:gridCol w="4984248">
                  <a:extLst>
                    <a:ext uri="{9D8B030D-6E8A-4147-A177-3AD203B41FA5}">
                      <a16:colId xmlns:a16="http://schemas.microsoft.com/office/drawing/2014/main" val="20001"/>
                    </a:ext>
                  </a:extLst>
                </a:gridCol>
                <a:gridCol w="5172911">
                  <a:extLst>
                    <a:ext uri="{9D8B030D-6E8A-4147-A177-3AD203B41FA5}">
                      <a16:colId xmlns:a16="http://schemas.microsoft.com/office/drawing/2014/main" val="20002"/>
                    </a:ext>
                  </a:extLst>
                </a:gridCol>
                <a:gridCol w="1691440">
                  <a:extLst>
                    <a:ext uri="{9D8B030D-6E8A-4147-A177-3AD203B41FA5}">
                      <a16:colId xmlns:a16="http://schemas.microsoft.com/office/drawing/2014/main" val="20003"/>
                    </a:ext>
                  </a:extLst>
                </a:gridCol>
              </a:tblGrid>
              <a:tr h="514350">
                <a:tc>
                  <a:txBody>
                    <a:bodyPr/>
                    <a:lstStyle/>
                    <a:p>
                      <a:pPr algn="ctr"/>
                      <a:r>
                        <a:rPr lang="en-US" sz="1800" b="1">
                          <a:solidFill>
                            <a:srgbClr val="FFFFFF"/>
                          </a:solidFill>
                          <a:latin typeface="Aptos"/>
                          <a:ea typeface="Aptos"/>
                          <a:cs typeface="Aptos"/>
                        </a:rPr>
                        <a:t>Session / date</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Study unit</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Coverage and practice</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Subunits</a:t>
                      </a:r>
                    </a:p>
                  </a:txBody>
                  <a:tcPr marL="133350" marR="133350" marT="133350" marB="133350" anchor="ctr">
                    <a:solidFill>
                      <a:srgbClr val="122C49"/>
                    </a:solidFill>
                  </a:tcPr>
                </a:tc>
                <a:extLst>
                  <a:ext uri="{0D108BD9-81ED-4DB2-BD59-A6C34878D82A}">
                    <a16:rowId xmlns:a16="http://schemas.microsoft.com/office/drawing/2014/main" val="10000"/>
                  </a:ext>
                </a:extLst>
              </a:tr>
              <a:tr h="1691640">
                <a:tc>
                  <a:txBody>
                    <a:bodyPr/>
                    <a:lstStyle/>
                    <a:p>
                      <a:r>
                        <a:rPr lang="nn-NO" sz="1800" b="1">
                          <a:solidFill>
                            <a:srgbClr val="007F83"/>
                          </a:solidFill>
                          <a:latin typeface="Aptos"/>
                          <a:ea typeface="Aptos"/>
                          <a:cs typeface="Aptos"/>
                        </a:rPr>
                        <a:t>04</a:t>
                      </a:r>
                    </a:p>
                    <a:p>
                      <a:r>
                        <a:rPr lang="nn-NO" sz="1800" b="1">
                          <a:solidFill>
                            <a:srgbClr val="007F83"/>
                          </a:solidFill>
                          <a:latin typeface="Aptos"/>
                          <a:ea typeface="Aptos"/>
                          <a:cs typeface="Aptos"/>
                        </a:rPr>
                        <a:t>Tue 23 Feb</a:t>
                      </a:r>
                    </a:p>
                    <a:p>
                      <a:r>
                        <a:rPr lang="nn-NO" sz="1800" b="1">
                          <a:solidFill>
                            <a:srgbClr val="007F83"/>
                          </a:solidFill>
                          <a:latin typeface="Aptos"/>
                          <a:ea typeface="Aptos"/>
                          <a:cs typeface="Aptos"/>
                        </a:rPr>
                        <a:t>2027</a:t>
                      </a:r>
                    </a:p>
                  </a:txBody>
                  <a:tcPr marL="133350" marR="133350" marT="133350" marB="133350" anchor="ctr">
                    <a:solidFill>
                      <a:srgbClr val="F3F7F9"/>
                    </a:solidFill>
                  </a:tcPr>
                </a:tc>
                <a:tc>
                  <a:txBody>
                    <a:bodyPr/>
                    <a:lstStyle/>
                    <a:p>
                      <a:r>
                        <a:rPr lang="en-US" sz="1800" b="1">
                          <a:solidFill>
                            <a:srgbClr val="122C49"/>
                          </a:solidFill>
                          <a:latin typeface="Aptos"/>
                          <a:ea typeface="Aptos"/>
                          <a:cs typeface="Aptos"/>
                        </a:rPr>
                        <a:t>Unit 2. Short-Term Assets</a:t>
                      </a:r>
                    </a:p>
                    <a:p>
                      <a:r>
                        <a:rPr lang="en-US" sz="1800" b="1">
                          <a:solidFill>
                            <a:srgbClr val="122C49"/>
                          </a:solidFill>
                          <a:latin typeface="Aptos"/>
                          <a:ea typeface="Aptos"/>
                          <a:cs typeface="Aptos"/>
                        </a:rPr>
                        <a:t>Lecture 1 of 2</a:t>
                      </a:r>
                    </a:p>
                  </a:txBody>
                  <a:tcPr marL="133350" marR="133350" marT="133350" marB="133350" anchor="ctr">
                    <a:solidFill>
                      <a:srgbClr val="F3F7F9"/>
                    </a:solidFill>
                  </a:tcPr>
                </a:tc>
                <a:tc>
                  <a:txBody>
                    <a:bodyPr/>
                    <a:lstStyle/>
                    <a:p>
                      <a:pPr marL="285750" indent="-285750">
                        <a:buFont typeface="Arial" panose="020B0604020202020204" pitchFamily="34" charset="0"/>
                        <a:buChar char="•"/>
                      </a:pPr>
                      <a:r>
                        <a:rPr lang="en-US" sz="1800">
                          <a:solidFill>
                            <a:srgbClr val="233B50"/>
                          </a:solidFill>
                          <a:latin typeface="Aptos"/>
                          <a:ea typeface="Aptos"/>
                          <a:cs typeface="Aptos"/>
                        </a:rPr>
                        <a:t>2.1 Accounts receivable.</a:t>
                      </a:r>
                    </a:p>
                    <a:p>
                      <a:pPr marL="285750" indent="-285750">
                        <a:buFont typeface="Arial" panose="020B0604020202020204" pitchFamily="34" charset="0"/>
                        <a:buChar char="•"/>
                      </a:pPr>
                      <a:r>
                        <a:rPr lang="en-US" sz="1800">
                          <a:solidFill>
                            <a:srgbClr val="233B50"/>
                          </a:solidFill>
                          <a:latin typeface="Aptos"/>
                          <a:ea typeface="Aptos"/>
                          <a:cs typeface="Aptos"/>
                        </a:rPr>
                        <a:t>2.2 Inventory fundamentals.</a:t>
                      </a:r>
                    </a:p>
                  </a:txBody>
                  <a:tcPr marL="133350" marR="133350" marT="133350" marB="133350" anchor="ctr">
                    <a:solidFill>
                      <a:srgbClr val="F3F7F9"/>
                    </a:solidFill>
                  </a:tcPr>
                </a:tc>
                <a:tc>
                  <a:txBody>
                    <a:bodyPr/>
                    <a:lstStyle/>
                    <a:p>
                      <a:pPr algn="ctr"/>
                      <a:r>
                        <a:rPr lang="en-US" sz="1800">
                          <a:solidFill>
                            <a:srgbClr val="233B50"/>
                          </a:solidFill>
                          <a:latin typeface="Aptos"/>
                          <a:ea typeface="Aptos"/>
                          <a:cs typeface="Aptos"/>
                        </a:rPr>
                        <a:t>2.1–2.2</a:t>
                      </a:r>
                    </a:p>
                  </a:txBody>
                  <a:tcPr marL="133350" marR="133350" marT="133350" marB="133350" anchor="ctr">
                    <a:solidFill>
                      <a:srgbClr val="F3F7F9"/>
                    </a:solidFill>
                  </a:tcPr>
                </a:tc>
                <a:extLst>
                  <a:ext uri="{0D108BD9-81ED-4DB2-BD59-A6C34878D82A}">
                    <a16:rowId xmlns:a16="http://schemas.microsoft.com/office/drawing/2014/main" val="10001"/>
                  </a:ext>
                </a:extLst>
              </a:tr>
              <a:tr h="1691640">
                <a:tc>
                  <a:txBody>
                    <a:bodyPr/>
                    <a:lstStyle/>
                    <a:p>
                      <a:r>
                        <a:rPr lang="fr-FR" sz="1800" b="1">
                          <a:solidFill>
                            <a:srgbClr val="007F83"/>
                          </a:solidFill>
                          <a:latin typeface="Aptos"/>
                          <a:ea typeface="Aptos"/>
                          <a:cs typeface="Aptos"/>
                        </a:rPr>
                        <a:t>05</a:t>
                      </a:r>
                    </a:p>
                    <a:p>
                      <a:r>
                        <a:rPr lang="fr-FR" sz="1800" b="1">
                          <a:solidFill>
                            <a:srgbClr val="007F83"/>
                          </a:solidFill>
                          <a:latin typeface="Aptos"/>
                          <a:ea typeface="Aptos"/>
                          <a:cs typeface="Aptos"/>
                        </a:rPr>
                        <a:t>Fri 26 Feb</a:t>
                      </a:r>
                    </a:p>
                    <a:p>
                      <a:r>
                        <a:rPr lang="fr-FR" sz="1800" b="1">
                          <a:solidFill>
                            <a:srgbClr val="007F83"/>
                          </a:solidFill>
                          <a:latin typeface="Aptos"/>
                          <a:ea typeface="Aptos"/>
                          <a:cs typeface="Aptos"/>
                        </a:rPr>
                        <a:t>2027</a:t>
                      </a:r>
                    </a:p>
                  </a:txBody>
                  <a:tcPr marL="133350" marR="133350" marT="133350" marB="133350" anchor="ctr">
                    <a:solidFill>
                      <a:srgbClr val="FFFFFF"/>
                    </a:solidFill>
                  </a:tcPr>
                </a:tc>
                <a:tc>
                  <a:txBody>
                    <a:bodyPr/>
                    <a:lstStyle/>
                    <a:p>
                      <a:r>
                        <a:rPr lang="en-US" sz="1800" b="1">
                          <a:solidFill>
                            <a:srgbClr val="122C49"/>
                          </a:solidFill>
                          <a:latin typeface="Aptos"/>
                          <a:ea typeface="Aptos"/>
                          <a:cs typeface="Aptos"/>
                        </a:rPr>
                        <a:t>Unit 2. Short-Term Assets</a:t>
                      </a:r>
                    </a:p>
                    <a:p>
                      <a:r>
                        <a:rPr lang="en-US" sz="1800" b="1">
                          <a:solidFill>
                            <a:srgbClr val="122C49"/>
                          </a:solidFill>
                          <a:latin typeface="Aptos"/>
                          <a:ea typeface="Aptos"/>
                          <a:cs typeface="Aptos"/>
                        </a:rPr>
                        <a:t>Lecture 2 of 2</a:t>
                      </a:r>
                    </a:p>
                  </a:txBody>
                  <a:tcPr marL="133350" marR="133350" marT="133350" marB="133350" anchor="ctr">
                    <a:solidFill>
                      <a:srgbClr val="FFFFFF"/>
                    </a:solidFill>
                  </a:tcPr>
                </a:tc>
                <a:tc>
                  <a:txBody>
                    <a:bodyPr/>
                    <a:lstStyle/>
                    <a:p>
                      <a:pPr marL="285750" indent="-285750">
                        <a:buFont typeface="Arial" panose="020B0604020202020204" pitchFamily="34" charset="0"/>
                        <a:buChar char="•"/>
                      </a:pPr>
                      <a:r>
                        <a:rPr lang="en-US" sz="1800">
                          <a:solidFill>
                            <a:srgbClr val="233B50"/>
                          </a:solidFill>
                          <a:latin typeface="Aptos"/>
                          <a:ea typeface="Aptos"/>
                          <a:cs typeface="Aptos"/>
                        </a:rPr>
                        <a:t>2.3 Inventory cost flow methods.</a:t>
                      </a:r>
                    </a:p>
                    <a:p>
                      <a:pPr marL="285750" indent="-285750">
                        <a:buFont typeface="Arial" panose="020B0604020202020204" pitchFamily="34" charset="0"/>
                        <a:buChar char="•"/>
                      </a:pPr>
                      <a:r>
                        <a:rPr lang="en-US" sz="1800">
                          <a:solidFill>
                            <a:srgbClr val="233B50"/>
                          </a:solidFill>
                          <a:latin typeface="Aptos"/>
                          <a:ea typeface="Aptos"/>
                          <a:cs typeface="Aptos"/>
                        </a:rPr>
                        <a:t>2.4 Measurement of inventory after initial recognition.</a:t>
                      </a:r>
                    </a:p>
                  </a:txBody>
                  <a:tcPr marL="133350" marR="133350" marT="133350" marB="133350" anchor="ctr">
                    <a:solidFill>
                      <a:srgbClr val="FFFFFF"/>
                    </a:solidFill>
                  </a:tcPr>
                </a:tc>
                <a:tc>
                  <a:txBody>
                    <a:bodyPr/>
                    <a:lstStyle/>
                    <a:p>
                      <a:pPr algn="ctr"/>
                      <a:r>
                        <a:rPr lang="en-US" sz="1800">
                          <a:solidFill>
                            <a:srgbClr val="233B50"/>
                          </a:solidFill>
                          <a:latin typeface="Aptos"/>
                          <a:ea typeface="Aptos"/>
                          <a:cs typeface="Aptos"/>
                        </a:rPr>
                        <a:t>2.3–2.4</a:t>
                      </a:r>
                    </a:p>
                  </a:txBody>
                  <a:tcPr marL="133350" marR="133350" marT="133350" marB="133350" anchor="ctr">
                    <a:solidFill>
                      <a:srgbClr val="FFFFFF"/>
                    </a:solidFill>
                  </a:tcPr>
                </a:tc>
                <a:extLst>
                  <a:ext uri="{0D108BD9-81ED-4DB2-BD59-A6C34878D82A}">
                    <a16:rowId xmlns:a16="http://schemas.microsoft.com/office/drawing/2014/main" val="10002"/>
                  </a:ext>
                </a:extLst>
              </a:tr>
            </a:tbl>
          </a:graphicData>
        </a:graphic>
      </p:graphicFrame>
      <p:sp>
        <p:nvSpPr>
          <p:cNvPr id="5" name="Rectangle 4">
            <a:extLst>
              <a:ext uri="{FF2B5EF4-FFF2-40B4-BE49-F238E27FC236}">
                <a16:creationId xmlns:a16="http://schemas.microsoft.com/office/drawing/2014/main" id="{00000002-0004-4000-8000-000000000000}"/>
              </a:ext>
            </a:extLst>
          </p:cNvPr>
          <p:cNvSpPr>
            <a:spLocks noGrp="1"/>
          </p:cNvSpPr>
          <p:nvPr/>
        </p:nvSpPr>
        <p:spPr>
          <a:xfrm>
            <a:off x="13811250" y="8077200"/>
            <a:ext cx="666750" cy="285750"/>
          </a:xfrm>
          <a:prstGeom prst="rect">
            <a:avLst/>
          </a:prstGeom>
          <a:noFill/>
          <a:ln w="0">
            <a:noFill/>
          </a:ln>
        </p:spPr>
        <p:txBody>
          <a:bodyPr wrap="square">
            <a:noAutofit/>
          </a:bodyPr>
          <a:lstStyle/>
          <a:p>
            <a:pPr>
              <a:defRPr sz="1350" b="0">
                <a:solidFill>
                  <a:srgbClr val="5C6F7F"/>
                </a:solidFill>
                <a:latin typeface="Aptos"/>
                <a:ea typeface="Aptos"/>
                <a:cs typeface="Aptos"/>
              </a:defRPr>
            </a:pPr>
            <a:r>
              <a:rPr lang="en-US" sz="1350" b="0">
                <a:solidFill>
                  <a:srgbClr val="5C6F7F"/>
                </a:solidFill>
                <a:latin typeface="Aptos"/>
                <a:ea typeface="Aptos"/>
                <a:cs typeface="Aptos"/>
              </a:rPr>
              <a:t>18</a:t>
            </a:r>
          </a:p>
        </p:txBody>
      </p:sp>
      <p:sp>
        <p:nvSpPr>
          <p:cNvPr id="7" name="Section exam weighting">
            <a:extLst>
              <a:ext uri="{FF2B5EF4-FFF2-40B4-BE49-F238E27FC236}">
                <a16:creationId xmlns:a16="http://schemas.microsoft.com/office/drawing/2014/main" id="{00000002-0002-4000-8000-000000000000}"/>
              </a:ext>
            </a:extLst>
          </p:cNvPr>
          <p:cNvSpPr>
            <a:spLocks noGrp="1"/>
          </p:cNvSpPr>
          <p:nvPr/>
        </p:nvSpPr>
        <p:spPr>
          <a:xfrm>
            <a:off x="762000" y="1657350"/>
            <a:ext cx="13811250" cy="276225"/>
          </a:xfrm>
          <a:prstGeom prst="rect">
            <a:avLst/>
          </a:prstGeom>
          <a:noFill/>
          <a:ln w="0">
            <a:noFill/>
          </a:ln>
        </p:spPr>
        <p:txBody>
          <a:bodyPr wrap="square" tIns="0" bIns="0">
            <a:noAutofit/>
          </a:bodyPr>
          <a:lstStyle/>
          <a:p>
            <a:pPr>
              <a:defRPr sz="2025" b="0">
                <a:solidFill>
                  <a:srgbClr val="007F83"/>
                </a:solidFill>
                <a:latin typeface="Aptos"/>
                <a:ea typeface="Aptos"/>
                <a:cs typeface="Aptos"/>
              </a:defRPr>
            </a:pPr>
            <a:r>
              <a:rPr lang="en-US" b="1">
                <a:solidFill>
                  <a:srgbClr val="007F83"/>
                </a:solidFill>
                <a:latin typeface="Aptos"/>
                <a:ea typeface="Aptos"/>
                <a:cs typeface="Aptos"/>
              </a:rPr>
              <a:t>Section exam weight: External Financial Reporting Decisions 15%</a:t>
            </a:r>
          </a:p>
        </p:txBody>
      </p:sp>
      <p:sp>
        <p:nvSpPr>
          <p:cNvPr id="9" name="Rectangle 8">
            <a:extLst>
              <a:ext uri="{FF2B5EF4-FFF2-40B4-BE49-F238E27FC236}">
                <a16:creationId xmlns:a16="http://schemas.microsoft.com/office/drawing/2014/main" id="{769240ED-E110-FFA2-96F6-9619968F0D03}"/>
              </a:ext>
            </a:extLst>
          </p:cNvPr>
          <p:cNvSpPr>
            <a:spLocks noGrp="1"/>
          </p:cNvSpPr>
          <p:nvPr/>
        </p:nvSpPr>
        <p:spPr>
          <a:xfrm>
            <a:off x="762000" y="8077200"/>
            <a:ext cx="11430000" cy="285750"/>
          </a:xfrm>
          <a:prstGeom prst="rect">
            <a:avLst/>
          </a:prstGeom>
          <a:noFill/>
          <a:ln w="0">
            <a:noFill/>
          </a:ln>
        </p:spPr>
        <p:txBody>
          <a:bodyPr wrap="square">
            <a:noAutofit/>
          </a:bodyPr>
          <a:lstStyle/>
          <a:p>
            <a:pPr>
              <a:defRPr sz="1350" b="0">
                <a:solidFill>
                  <a:srgbClr val="5C6F7F"/>
                </a:solidFill>
                <a:latin typeface="Aptos"/>
                <a:ea typeface="Aptos"/>
                <a:cs typeface="Aptos"/>
              </a:defRPr>
            </a:pPr>
            <a:r>
              <a:rPr sz="1350" b="0">
                <a:solidFill>
                  <a:srgbClr val="5C6F7F"/>
                </a:solidFill>
                <a:latin typeface="Aptos"/>
                <a:ea typeface="Aptos"/>
                <a:cs typeface="Aptos"/>
              </a:rPr>
              <a:t>CMA Part 1. Supplied course outline. Subunit references shown.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0000002-0001-4000-8000-000000000000}"/>
              </a:ext>
            </a:extLst>
          </p:cNvPr>
          <p:cNvSpPr>
            <a:spLocks noGrp="1"/>
          </p:cNvSpPr>
          <p:nvPr/>
        </p:nvSpPr>
        <p:spPr>
          <a:xfrm>
            <a:off x="762000" y="542925"/>
            <a:ext cx="13811250" cy="666750"/>
          </a:xfrm>
          <a:prstGeom prst="rect">
            <a:avLst/>
          </a:prstGeom>
          <a:noFill/>
          <a:ln w="0">
            <a:noFill/>
          </a:ln>
        </p:spPr>
        <p:txBody>
          <a:bodyPr wrap="square">
            <a:noAutofit/>
          </a:bodyPr>
          <a:lstStyle/>
          <a:p>
            <a:pPr>
              <a:defRPr sz="3675" b="1">
                <a:solidFill>
                  <a:srgbClr val="122C49"/>
                </a:solidFill>
                <a:latin typeface="Aptos"/>
                <a:ea typeface="Aptos"/>
                <a:cs typeface="Aptos"/>
              </a:defRPr>
            </a:pPr>
            <a:r>
              <a:rPr lang="en-US" sz="3675" b="1">
                <a:solidFill>
                  <a:srgbClr val="122C49"/>
                </a:solidFill>
                <a:latin typeface="Aptos"/>
                <a:ea typeface="Aptos"/>
                <a:cs typeface="Aptos"/>
              </a:rPr>
              <a:t>External Financial Reporting</a:t>
            </a:r>
          </a:p>
        </p:txBody>
      </p:sp>
      <p:sp>
        <p:nvSpPr>
          <p:cNvPr id="2" name="Rectangle 1">
            <a:extLst>
              <a:ext uri="{FF2B5EF4-FFF2-40B4-BE49-F238E27FC236}">
                <a16:creationId xmlns:a16="http://schemas.microsoft.com/office/drawing/2014/main" id="{00000002-0002-4000-8000-000000000000}"/>
              </a:ext>
            </a:extLst>
          </p:cNvPr>
          <p:cNvSpPr>
            <a:spLocks noGrp="1"/>
          </p:cNvSpPr>
          <p:nvPr/>
        </p:nvSpPr>
        <p:spPr>
          <a:xfrm>
            <a:off x="762000" y="1185862"/>
            <a:ext cx="13811250" cy="400050"/>
          </a:xfrm>
          <a:prstGeom prst="rect">
            <a:avLst/>
          </a:prstGeom>
          <a:noFill/>
          <a:ln w="0">
            <a:noFill/>
          </a:ln>
        </p:spPr>
        <p:txBody>
          <a:bodyPr wrap="square">
            <a:noAutofit/>
          </a:bodyPr>
          <a:lstStyle/>
          <a:p>
            <a:pPr>
              <a:defRPr sz="2025" b="0">
                <a:solidFill>
                  <a:srgbClr val="007F83"/>
                </a:solidFill>
                <a:latin typeface="Aptos"/>
                <a:ea typeface="Aptos"/>
                <a:cs typeface="Aptos"/>
              </a:defRPr>
            </a:pPr>
            <a:r>
              <a:rPr lang="en-US" sz="2400" b="0">
                <a:solidFill>
                  <a:srgbClr val="007F83"/>
                </a:solidFill>
                <a:latin typeface="Aptos"/>
                <a:ea typeface="Aptos"/>
                <a:cs typeface="Aptos"/>
              </a:rPr>
              <a:t>2–5 March 2027   /   Sessions 6–7</a:t>
            </a:r>
          </a:p>
        </p:txBody>
      </p:sp>
      <p:graphicFrame>
        <p:nvGraphicFramePr>
          <p:cNvPr id="3" name="Table 2"/>
          <p:cNvGraphicFramePr/>
          <p:nvPr>
            <p:extLst>
              <p:ext uri="{D42A27DB-BD31-4B8C-83A1-F6EECF244321}">
                <p14:modId xmlns:p14="http://schemas.microsoft.com/office/powerpoint/2010/main" val="1972187897"/>
              </p:ext>
            </p:extLst>
          </p:nvPr>
        </p:nvGraphicFramePr>
        <p:xfrm>
          <a:off x="762000" y="2028825"/>
          <a:ext cx="13811251" cy="3924300"/>
        </p:xfrm>
        <a:graphic>
          <a:graphicData uri="http://schemas.openxmlformats.org/drawingml/2006/table">
            <a:tbl>
              <a:tblPr/>
              <a:tblGrid>
                <a:gridCol w="1962652">
                  <a:extLst>
                    <a:ext uri="{9D8B030D-6E8A-4147-A177-3AD203B41FA5}">
                      <a16:colId xmlns:a16="http://schemas.microsoft.com/office/drawing/2014/main" val="20000"/>
                    </a:ext>
                  </a:extLst>
                </a:gridCol>
                <a:gridCol w="4984248">
                  <a:extLst>
                    <a:ext uri="{9D8B030D-6E8A-4147-A177-3AD203B41FA5}">
                      <a16:colId xmlns:a16="http://schemas.microsoft.com/office/drawing/2014/main" val="20001"/>
                    </a:ext>
                  </a:extLst>
                </a:gridCol>
                <a:gridCol w="5172911">
                  <a:extLst>
                    <a:ext uri="{9D8B030D-6E8A-4147-A177-3AD203B41FA5}">
                      <a16:colId xmlns:a16="http://schemas.microsoft.com/office/drawing/2014/main" val="20002"/>
                    </a:ext>
                  </a:extLst>
                </a:gridCol>
                <a:gridCol w="1691440">
                  <a:extLst>
                    <a:ext uri="{9D8B030D-6E8A-4147-A177-3AD203B41FA5}">
                      <a16:colId xmlns:a16="http://schemas.microsoft.com/office/drawing/2014/main" val="20003"/>
                    </a:ext>
                  </a:extLst>
                </a:gridCol>
              </a:tblGrid>
              <a:tr h="514350">
                <a:tc>
                  <a:txBody>
                    <a:bodyPr/>
                    <a:lstStyle/>
                    <a:p>
                      <a:pPr algn="ctr"/>
                      <a:r>
                        <a:rPr lang="en-US" sz="1800" b="1">
                          <a:solidFill>
                            <a:srgbClr val="FFFFFF"/>
                          </a:solidFill>
                          <a:latin typeface="Aptos"/>
                          <a:ea typeface="Aptos"/>
                          <a:cs typeface="Aptos"/>
                        </a:rPr>
                        <a:t>Session / date</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Study unit</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Coverage and practice</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Subunits</a:t>
                      </a:r>
                    </a:p>
                  </a:txBody>
                  <a:tcPr marL="133350" marR="133350" marT="133350" marB="133350" anchor="ctr">
                    <a:solidFill>
                      <a:srgbClr val="122C49"/>
                    </a:solidFill>
                  </a:tcPr>
                </a:tc>
                <a:extLst>
                  <a:ext uri="{0D108BD9-81ED-4DB2-BD59-A6C34878D82A}">
                    <a16:rowId xmlns:a16="http://schemas.microsoft.com/office/drawing/2014/main" val="10000"/>
                  </a:ext>
                </a:extLst>
              </a:tr>
              <a:tr h="1691640">
                <a:tc>
                  <a:txBody>
                    <a:bodyPr/>
                    <a:lstStyle/>
                    <a:p>
                      <a:r>
                        <a:rPr lang="nn-NO" sz="1800" b="1">
                          <a:solidFill>
                            <a:srgbClr val="007F83"/>
                          </a:solidFill>
                          <a:latin typeface="Aptos"/>
                          <a:ea typeface="Aptos"/>
                          <a:cs typeface="Aptos"/>
                        </a:rPr>
                        <a:t>06</a:t>
                      </a:r>
                    </a:p>
                    <a:p>
                      <a:r>
                        <a:rPr lang="nn-NO" sz="1800" b="1">
                          <a:solidFill>
                            <a:srgbClr val="007F83"/>
                          </a:solidFill>
                          <a:latin typeface="Aptos"/>
                          <a:ea typeface="Aptos"/>
                          <a:cs typeface="Aptos"/>
                        </a:rPr>
                        <a:t>Tue 02 Mar</a:t>
                      </a:r>
                    </a:p>
                    <a:p>
                      <a:r>
                        <a:rPr lang="nn-NO" sz="1800" b="1">
                          <a:solidFill>
                            <a:srgbClr val="007F83"/>
                          </a:solidFill>
                          <a:latin typeface="Aptos"/>
                          <a:ea typeface="Aptos"/>
                          <a:cs typeface="Aptos"/>
                        </a:rPr>
                        <a:t>2027</a:t>
                      </a:r>
                    </a:p>
                  </a:txBody>
                  <a:tcPr marL="133350" marR="133350" marT="133350" marB="133350" anchor="ctr">
                    <a:solidFill>
                      <a:srgbClr val="F3F7F9"/>
                    </a:solidFill>
                  </a:tcPr>
                </a:tc>
                <a:tc>
                  <a:txBody>
                    <a:bodyPr/>
                    <a:lstStyle/>
                    <a:p>
                      <a:r>
                        <a:rPr lang="en-US" sz="1800" b="1">
                          <a:solidFill>
                            <a:srgbClr val="122C49"/>
                          </a:solidFill>
                          <a:latin typeface="Aptos"/>
                          <a:ea typeface="Aptos"/>
                          <a:cs typeface="Aptos"/>
                        </a:rPr>
                        <a:t>Unit 3. Long-Term Assets</a:t>
                      </a:r>
                    </a:p>
                    <a:p>
                      <a:r>
                        <a:rPr lang="en-US" sz="1800" b="1">
                          <a:solidFill>
                            <a:srgbClr val="122C49"/>
                          </a:solidFill>
                          <a:latin typeface="Aptos"/>
                          <a:ea typeface="Aptos"/>
                          <a:cs typeface="Aptos"/>
                        </a:rPr>
                        <a:t>Lecture 1 of 2</a:t>
                      </a:r>
                    </a:p>
                  </a:txBody>
                  <a:tcPr marL="133350" marR="133350" marT="133350" marB="133350" anchor="ctr">
                    <a:solidFill>
                      <a:srgbClr val="F3F7F9"/>
                    </a:solidFill>
                  </a:tcPr>
                </a:tc>
                <a:tc>
                  <a:txBody>
                    <a:bodyPr/>
                    <a:lstStyle/>
                    <a:p>
                      <a:pPr marL="285750" indent="-285750">
                        <a:buFont typeface="Arial" panose="020B0604020202020204" pitchFamily="34" charset="0"/>
                        <a:buChar char="•"/>
                      </a:pPr>
                      <a:r>
                        <a:rPr lang="en-US" sz="1800">
                          <a:solidFill>
                            <a:srgbClr val="233B50"/>
                          </a:solidFill>
                          <a:latin typeface="Aptos"/>
                          <a:ea typeface="Aptos"/>
                          <a:cs typeface="Aptos"/>
                        </a:rPr>
                        <a:t>3.1 Equity securities.</a:t>
                      </a:r>
                    </a:p>
                    <a:p>
                      <a:pPr marL="285750" indent="-285750">
                        <a:buFont typeface="Arial" panose="020B0604020202020204" pitchFamily="34" charset="0"/>
                        <a:buChar char="•"/>
                      </a:pPr>
                      <a:r>
                        <a:rPr lang="en-US" sz="1800">
                          <a:solidFill>
                            <a:srgbClr val="233B50"/>
                          </a:solidFill>
                          <a:latin typeface="Aptos"/>
                          <a:ea typeface="Aptos"/>
                          <a:cs typeface="Aptos"/>
                        </a:rPr>
                        <a:t>3.2 Equity method.</a:t>
                      </a:r>
                    </a:p>
                    <a:p>
                      <a:pPr marL="285750" indent="-285750">
                        <a:buFont typeface="Arial" panose="020B0604020202020204" pitchFamily="34" charset="0"/>
                        <a:buChar char="•"/>
                      </a:pPr>
                      <a:r>
                        <a:rPr lang="en-US" sz="1800">
                          <a:solidFill>
                            <a:srgbClr val="233B50"/>
                          </a:solidFill>
                          <a:latin typeface="Aptos"/>
                          <a:ea typeface="Aptos"/>
                          <a:cs typeface="Aptos"/>
                        </a:rPr>
                        <a:t>3.3 Debt securities.</a:t>
                      </a:r>
                    </a:p>
                  </a:txBody>
                  <a:tcPr marL="133350" marR="133350" marT="133350" marB="133350" anchor="ctr">
                    <a:solidFill>
                      <a:srgbClr val="F3F7F9"/>
                    </a:solidFill>
                  </a:tcPr>
                </a:tc>
                <a:tc>
                  <a:txBody>
                    <a:bodyPr/>
                    <a:lstStyle/>
                    <a:p>
                      <a:pPr algn="ctr"/>
                      <a:r>
                        <a:rPr lang="en-US" sz="1800">
                          <a:solidFill>
                            <a:srgbClr val="233B50"/>
                          </a:solidFill>
                          <a:latin typeface="Aptos"/>
                          <a:ea typeface="Aptos"/>
                          <a:cs typeface="Aptos"/>
                        </a:rPr>
                        <a:t>3.1–3.3</a:t>
                      </a:r>
                    </a:p>
                  </a:txBody>
                  <a:tcPr marL="133350" marR="133350" marT="133350" marB="133350" anchor="ctr">
                    <a:solidFill>
                      <a:srgbClr val="F3F7F9"/>
                    </a:solidFill>
                  </a:tcPr>
                </a:tc>
                <a:extLst>
                  <a:ext uri="{0D108BD9-81ED-4DB2-BD59-A6C34878D82A}">
                    <a16:rowId xmlns:a16="http://schemas.microsoft.com/office/drawing/2014/main" val="10001"/>
                  </a:ext>
                </a:extLst>
              </a:tr>
              <a:tr h="1691640">
                <a:tc>
                  <a:txBody>
                    <a:bodyPr/>
                    <a:lstStyle/>
                    <a:p>
                      <a:r>
                        <a:rPr lang="fr-FR" sz="1800" b="1">
                          <a:solidFill>
                            <a:srgbClr val="007F83"/>
                          </a:solidFill>
                          <a:latin typeface="Aptos"/>
                          <a:ea typeface="Aptos"/>
                          <a:cs typeface="Aptos"/>
                        </a:rPr>
                        <a:t>07</a:t>
                      </a:r>
                    </a:p>
                    <a:p>
                      <a:r>
                        <a:rPr lang="fr-FR" sz="1800" b="1">
                          <a:solidFill>
                            <a:srgbClr val="007F83"/>
                          </a:solidFill>
                          <a:latin typeface="Aptos"/>
                          <a:ea typeface="Aptos"/>
                          <a:cs typeface="Aptos"/>
                        </a:rPr>
                        <a:t>Fri 05 Mar</a:t>
                      </a:r>
                    </a:p>
                    <a:p>
                      <a:r>
                        <a:rPr lang="fr-FR" sz="1800" b="1">
                          <a:solidFill>
                            <a:srgbClr val="007F83"/>
                          </a:solidFill>
                          <a:latin typeface="Aptos"/>
                          <a:ea typeface="Aptos"/>
                          <a:cs typeface="Aptos"/>
                        </a:rPr>
                        <a:t>2027</a:t>
                      </a:r>
                    </a:p>
                  </a:txBody>
                  <a:tcPr marL="133350" marR="133350" marT="133350" marB="133350" anchor="ctr">
                    <a:solidFill>
                      <a:srgbClr val="FFFFFF"/>
                    </a:solidFill>
                  </a:tcPr>
                </a:tc>
                <a:tc>
                  <a:txBody>
                    <a:bodyPr/>
                    <a:lstStyle/>
                    <a:p>
                      <a:r>
                        <a:rPr lang="en-US" sz="1800" b="1">
                          <a:solidFill>
                            <a:srgbClr val="122C49"/>
                          </a:solidFill>
                          <a:latin typeface="Aptos"/>
                          <a:ea typeface="Aptos"/>
                          <a:cs typeface="Aptos"/>
                        </a:rPr>
                        <a:t>Unit 3. Long-Term Assets</a:t>
                      </a:r>
                    </a:p>
                    <a:p>
                      <a:r>
                        <a:rPr lang="en-US" sz="1800" b="1">
                          <a:solidFill>
                            <a:srgbClr val="122C49"/>
                          </a:solidFill>
                          <a:latin typeface="Aptos"/>
                          <a:ea typeface="Aptos"/>
                          <a:cs typeface="Aptos"/>
                        </a:rPr>
                        <a:t>Lecture 2 of 2</a:t>
                      </a:r>
                    </a:p>
                  </a:txBody>
                  <a:tcPr marL="133350" marR="133350" marT="133350" marB="133350" anchor="ctr">
                    <a:solidFill>
                      <a:srgbClr val="FFFFFF"/>
                    </a:solidFill>
                  </a:tcPr>
                </a:tc>
                <a:tc>
                  <a:txBody>
                    <a:bodyPr/>
                    <a:lstStyle/>
                    <a:p>
                      <a:pPr marL="285750" indent="-285750">
                        <a:buFont typeface="Arial" panose="020B0604020202020204" pitchFamily="34" charset="0"/>
                        <a:buChar char="•"/>
                      </a:pPr>
                      <a:r>
                        <a:rPr lang="en-US" sz="1800">
                          <a:solidFill>
                            <a:srgbClr val="233B50"/>
                          </a:solidFill>
                          <a:latin typeface="Aptos"/>
                          <a:ea typeface="Aptos"/>
                          <a:cs typeface="Aptos"/>
                        </a:rPr>
                        <a:t>3.4 Property, plant and equipment.</a:t>
                      </a:r>
                    </a:p>
                    <a:p>
                      <a:pPr marL="285750" indent="-285750">
                        <a:buFont typeface="Arial" panose="020B0604020202020204" pitchFamily="34" charset="0"/>
                        <a:buChar char="•"/>
                      </a:pPr>
                      <a:r>
                        <a:rPr lang="en-US" sz="1800">
                          <a:solidFill>
                            <a:srgbClr val="233B50"/>
                          </a:solidFill>
                          <a:latin typeface="Aptos"/>
                          <a:ea typeface="Aptos"/>
                          <a:cs typeface="Aptos"/>
                        </a:rPr>
                        <a:t>3.5 Intangible assets.</a:t>
                      </a:r>
                    </a:p>
                  </a:txBody>
                  <a:tcPr marL="133350" marR="133350" marT="133350" marB="133350" anchor="ctr">
                    <a:solidFill>
                      <a:srgbClr val="FFFFFF"/>
                    </a:solidFill>
                  </a:tcPr>
                </a:tc>
                <a:tc>
                  <a:txBody>
                    <a:bodyPr/>
                    <a:lstStyle/>
                    <a:p>
                      <a:pPr algn="ctr"/>
                      <a:r>
                        <a:rPr lang="en-US" sz="1800">
                          <a:solidFill>
                            <a:srgbClr val="233B50"/>
                          </a:solidFill>
                          <a:latin typeface="Aptos"/>
                          <a:ea typeface="Aptos"/>
                          <a:cs typeface="Aptos"/>
                        </a:rPr>
                        <a:t>3.4–3.5</a:t>
                      </a:r>
                    </a:p>
                  </a:txBody>
                  <a:tcPr marL="133350" marR="133350" marT="133350" marB="133350" anchor="ctr">
                    <a:solidFill>
                      <a:srgbClr val="FFFFFF"/>
                    </a:solidFill>
                  </a:tcPr>
                </a:tc>
                <a:extLst>
                  <a:ext uri="{0D108BD9-81ED-4DB2-BD59-A6C34878D82A}">
                    <a16:rowId xmlns:a16="http://schemas.microsoft.com/office/drawing/2014/main" val="10002"/>
                  </a:ext>
                </a:extLst>
              </a:tr>
            </a:tbl>
          </a:graphicData>
        </a:graphic>
      </p:graphicFrame>
      <p:sp>
        <p:nvSpPr>
          <p:cNvPr id="5" name="Rectangle 4">
            <a:extLst>
              <a:ext uri="{FF2B5EF4-FFF2-40B4-BE49-F238E27FC236}">
                <a16:creationId xmlns:a16="http://schemas.microsoft.com/office/drawing/2014/main" id="{00000002-0004-4000-8000-000000000000}"/>
              </a:ext>
            </a:extLst>
          </p:cNvPr>
          <p:cNvSpPr>
            <a:spLocks noGrp="1"/>
          </p:cNvSpPr>
          <p:nvPr/>
        </p:nvSpPr>
        <p:spPr>
          <a:xfrm>
            <a:off x="13811250" y="8077200"/>
            <a:ext cx="666750" cy="285750"/>
          </a:xfrm>
          <a:prstGeom prst="rect">
            <a:avLst/>
          </a:prstGeom>
          <a:noFill/>
          <a:ln w="0">
            <a:noFill/>
          </a:ln>
        </p:spPr>
        <p:txBody>
          <a:bodyPr wrap="square">
            <a:noAutofit/>
          </a:bodyPr>
          <a:lstStyle/>
          <a:p>
            <a:pPr>
              <a:defRPr sz="1350" b="0">
                <a:solidFill>
                  <a:srgbClr val="5C6F7F"/>
                </a:solidFill>
                <a:latin typeface="Aptos"/>
                <a:ea typeface="Aptos"/>
                <a:cs typeface="Aptos"/>
              </a:defRPr>
            </a:pPr>
            <a:r>
              <a:rPr lang="en-US" sz="1350" b="0">
                <a:solidFill>
                  <a:srgbClr val="5C6F7F"/>
                </a:solidFill>
                <a:latin typeface="Aptos"/>
                <a:ea typeface="Aptos"/>
                <a:cs typeface="Aptos"/>
              </a:rPr>
              <a:t>19</a:t>
            </a:r>
          </a:p>
        </p:txBody>
      </p:sp>
      <p:sp>
        <p:nvSpPr>
          <p:cNvPr id="7" name="Section exam weighting">
            <a:extLst>
              <a:ext uri="{FF2B5EF4-FFF2-40B4-BE49-F238E27FC236}">
                <a16:creationId xmlns:a16="http://schemas.microsoft.com/office/drawing/2014/main" id="{00000002-0002-4000-8000-000000000000}"/>
              </a:ext>
            </a:extLst>
          </p:cNvPr>
          <p:cNvSpPr>
            <a:spLocks noGrp="1"/>
          </p:cNvSpPr>
          <p:nvPr/>
        </p:nvSpPr>
        <p:spPr>
          <a:xfrm>
            <a:off x="762000" y="1657350"/>
            <a:ext cx="13811250" cy="276225"/>
          </a:xfrm>
          <a:prstGeom prst="rect">
            <a:avLst/>
          </a:prstGeom>
          <a:noFill/>
          <a:ln w="0">
            <a:noFill/>
          </a:ln>
        </p:spPr>
        <p:txBody>
          <a:bodyPr wrap="square" tIns="0" bIns="0">
            <a:noAutofit/>
          </a:bodyPr>
          <a:lstStyle/>
          <a:p>
            <a:pPr>
              <a:defRPr sz="2025" b="0">
                <a:solidFill>
                  <a:srgbClr val="007F83"/>
                </a:solidFill>
                <a:latin typeface="Aptos"/>
                <a:ea typeface="Aptos"/>
                <a:cs typeface="Aptos"/>
              </a:defRPr>
            </a:pPr>
            <a:r>
              <a:rPr lang="en-US" b="1">
                <a:solidFill>
                  <a:srgbClr val="007F83"/>
                </a:solidFill>
                <a:latin typeface="Aptos"/>
                <a:ea typeface="Aptos"/>
                <a:cs typeface="Aptos"/>
              </a:rPr>
              <a:t>Section exam weight: External Financial Reporting Decisions 15%</a:t>
            </a:r>
          </a:p>
        </p:txBody>
      </p:sp>
      <p:sp>
        <p:nvSpPr>
          <p:cNvPr id="9" name="Rectangle 8">
            <a:extLst>
              <a:ext uri="{FF2B5EF4-FFF2-40B4-BE49-F238E27FC236}">
                <a16:creationId xmlns:a16="http://schemas.microsoft.com/office/drawing/2014/main" id="{769240ED-E110-FFA2-96F6-9619968F0D03}"/>
              </a:ext>
            </a:extLst>
          </p:cNvPr>
          <p:cNvSpPr>
            <a:spLocks noGrp="1"/>
          </p:cNvSpPr>
          <p:nvPr/>
        </p:nvSpPr>
        <p:spPr>
          <a:xfrm>
            <a:off x="762000" y="8077200"/>
            <a:ext cx="11430000" cy="285750"/>
          </a:xfrm>
          <a:prstGeom prst="rect">
            <a:avLst/>
          </a:prstGeom>
          <a:noFill/>
          <a:ln w="0">
            <a:noFill/>
          </a:ln>
        </p:spPr>
        <p:txBody>
          <a:bodyPr wrap="square">
            <a:noAutofit/>
          </a:bodyPr>
          <a:lstStyle/>
          <a:p>
            <a:pPr>
              <a:defRPr sz="1350" b="0">
                <a:solidFill>
                  <a:srgbClr val="5C6F7F"/>
                </a:solidFill>
                <a:latin typeface="Aptos"/>
                <a:ea typeface="Aptos"/>
                <a:cs typeface="Aptos"/>
              </a:defRPr>
            </a:pPr>
            <a:r>
              <a:rPr sz="1350" b="0">
                <a:solidFill>
                  <a:srgbClr val="5C6F7F"/>
                </a:solidFill>
                <a:latin typeface="Aptos"/>
                <a:ea typeface="Aptos"/>
                <a:cs typeface="Aptos"/>
              </a:rPr>
              <a:t>CMA Part 1. Supplied course outline. Subunit references shown.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0000002-0001-4000-8000-000000000000}"/>
              </a:ext>
            </a:extLst>
          </p:cNvPr>
          <p:cNvSpPr>
            <a:spLocks noGrp="1"/>
          </p:cNvSpPr>
          <p:nvPr/>
        </p:nvSpPr>
        <p:spPr>
          <a:xfrm>
            <a:off x="762000" y="542925"/>
            <a:ext cx="13811250" cy="666750"/>
          </a:xfrm>
          <a:prstGeom prst="rect">
            <a:avLst/>
          </a:prstGeom>
          <a:noFill/>
          <a:ln w="0">
            <a:noFill/>
          </a:ln>
        </p:spPr>
        <p:txBody>
          <a:bodyPr wrap="square">
            <a:noAutofit/>
          </a:bodyPr>
          <a:lstStyle/>
          <a:p>
            <a:pPr>
              <a:defRPr sz="3675" b="1">
                <a:solidFill>
                  <a:srgbClr val="122C49"/>
                </a:solidFill>
                <a:latin typeface="Aptos"/>
                <a:ea typeface="Aptos"/>
                <a:cs typeface="Aptos"/>
              </a:defRPr>
            </a:pPr>
            <a:r>
              <a:rPr lang="en-US" sz="3675" b="1">
                <a:solidFill>
                  <a:srgbClr val="122C49"/>
                </a:solidFill>
                <a:latin typeface="Aptos"/>
                <a:ea typeface="Aptos"/>
                <a:cs typeface="Aptos"/>
              </a:rPr>
              <a:t>External Financial Reporting</a:t>
            </a:r>
          </a:p>
        </p:txBody>
      </p:sp>
      <p:sp>
        <p:nvSpPr>
          <p:cNvPr id="2" name="Rectangle 1">
            <a:extLst>
              <a:ext uri="{FF2B5EF4-FFF2-40B4-BE49-F238E27FC236}">
                <a16:creationId xmlns:a16="http://schemas.microsoft.com/office/drawing/2014/main" id="{00000002-0002-4000-8000-000000000000}"/>
              </a:ext>
            </a:extLst>
          </p:cNvPr>
          <p:cNvSpPr>
            <a:spLocks noGrp="1"/>
          </p:cNvSpPr>
          <p:nvPr/>
        </p:nvSpPr>
        <p:spPr>
          <a:xfrm>
            <a:off x="762000" y="1185862"/>
            <a:ext cx="13811250" cy="400050"/>
          </a:xfrm>
          <a:prstGeom prst="rect">
            <a:avLst/>
          </a:prstGeom>
          <a:noFill/>
          <a:ln w="0">
            <a:noFill/>
          </a:ln>
        </p:spPr>
        <p:txBody>
          <a:bodyPr wrap="square">
            <a:noAutofit/>
          </a:bodyPr>
          <a:lstStyle/>
          <a:p>
            <a:pPr>
              <a:defRPr sz="2025" b="0">
                <a:solidFill>
                  <a:srgbClr val="007F83"/>
                </a:solidFill>
                <a:latin typeface="Aptos"/>
                <a:ea typeface="Aptos"/>
                <a:cs typeface="Aptos"/>
              </a:defRPr>
            </a:pPr>
            <a:r>
              <a:rPr lang="en-US" sz="2400" b="0">
                <a:solidFill>
                  <a:srgbClr val="007F83"/>
                </a:solidFill>
                <a:latin typeface="Aptos"/>
                <a:ea typeface="Aptos"/>
                <a:cs typeface="Aptos"/>
              </a:rPr>
              <a:t>9–12 March 2027   /   Sessions 8–9</a:t>
            </a:r>
          </a:p>
        </p:txBody>
      </p:sp>
      <p:graphicFrame>
        <p:nvGraphicFramePr>
          <p:cNvPr id="3" name="Table 2"/>
          <p:cNvGraphicFramePr/>
          <p:nvPr>
            <p:extLst>
              <p:ext uri="{D42A27DB-BD31-4B8C-83A1-F6EECF244321}">
                <p14:modId xmlns:p14="http://schemas.microsoft.com/office/powerpoint/2010/main" val="3789006066"/>
              </p:ext>
            </p:extLst>
          </p:nvPr>
        </p:nvGraphicFramePr>
        <p:xfrm>
          <a:off x="762000" y="2028825"/>
          <a:ext cx="13811251" cy="3924300"/>
        </p:xfrm>
        <a:graphic>
          <a:graphicData uri="http://schemas.openxmlformats.org/drawingml/2006/table">
            <a:tbl>
              <a:tblPr/>
              <a:tblGrid>
                <a:gridCol w="1962652">
                  <a:extLst>
                    <a:ext uri="{9D8B030D-6E8A-4147-A177-3AD203B41FA5}">
                      <a16:colId xmlns:a16="http://schemas.microsoft.com/office/drawing/2014/main" val="20000"/>
                    </a:ext>
                  </a:extLst>
                </a:gridCol>
                <a:gridCol w="4984248">
                  <a:extLst>
                    <a:ext uri="{9D8B030D-6E8A-4147-A177-3AD203B41FA5}">
                      <a16:colId xmlns:a16="http://schemas.microsoft.com/office/drawing/2014/main" val="20001"/>
                    </a:ext>
                  </a:extLst>
                </a:gridCol>
                <a:gridCol w="5172911">
                  <a:extLst>
                    <a:ext uri="{9D8B030D-6E8A-4147-A177-3AD203B41FA5}">
                      <a16:colId xmlns:a16="http://schemas.microsoft.com/office/drawing/2014/main" val="20002"/>
                    </a:ext>
                  </a:extLst>
                </a:gridCol>
                <a:gridCol w="1691440">
                  <a:extLst>
                    <a:ext uri="{9D8B030D-6E8A-4147-A177-3AD203B41FA5}">
                      <a16:colId xmlns:a16="http://schemas.microsoft.com/office/drawing/2014/main" val="20003"/>
                    </a:ext>
                  </a:extLst>
                </a:gridCol>
              </a:tblGrid>
              <a:tr h="514350">
                <a:tc>
                  <a:txBody>
                    <a:bodyPr/>
                    <a:lstStyle/>
                    <a:p>
                      <a:pPr algn="ctr"/>
                      <a:r>
                        <a:rPr lang="en-US" sz="1800" b="1">
                          <a:solidFill>
                            <a:srgbClr val="FFFFFF"/>
                          </a:solidFill>
                          <a:latin typeface="Aptos"/>
                          <a:ea typeface="Aptos"/>
                          <a:cs typeface="Aptos"/>
                        </a:rPr>
                        <a:t>Session / date</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Study unit</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Coverage and practice</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Subunits</a:t>
                      </a:r>
                    </a:p>
                  </a:txBody>
                  <a:tcPr marL="133350" marR="133350" marT="133350" marB="133350" anchor="ctr">
                    <a:solidFill>
                      <a:srgbClr val="122C49"/>
                    </a:solidFill>
                  </a:tcPr>
                </a:tc>
                <a:extLst>
                  <a:ext uri="{0D108BD9-81ED-4DB2-BD59-A6C34878D82A}">
                    <a16:rowId xmlns:a16="http://schemas.microsoft.com/office/drawing/2014/main" val="10000"/>
                  </a:ext>
                </a:extLst>
              </a:tr>
              <a:tr h="1691640">
                <a:tc>
                  <a:txBody>
                    <a:bodyPr/>
                    <a:lstStyle/>
                    <a:p>
                      <a:r>
                        <a:rPr lang="nn-NO" sz="1800" b="1">
                          <a:solidFill>
                            <a:srgbClr val="007F83"/>
                          </a:solidFill>
                          <a:latin typeface="Aptos"/>
                          <a:ea typeface="Aptos"/>
                          <a:cs typeface="Aptos"/>
                        </a:rPr>
                        <a:t>08</a:t>
                      </a:r>
                    </a:p>
                    <a:p>
                      <a:r>
                        <a:rPr lang="nn-NO" sz="1800" b="1">
                          <a:solidFill>
                            <a:srgbClr val="007F83"/>
                          </a:solidFill>
                          <a:latin typeface="Aptos"/>
                          <a:ea typeface="Aptos"/>
                          <a:cs typeface="Aptos"/>
                        </a:rPr>
                        <a:t>Tue 09 Mar</a:t>
                      </a:r>
                    </a:p>
                    <a:p>
                      <a:r>
                        <a:rPr lang="nn-NO" sz="1800" b="1">
                          <a:solidFill>
                            <a:srgbClr val="007F83"/>
                          </a:solidFill>
                          <a:latin typeface="Aptos"/>
                          <a:ea typeface="Aptos"/>
                          <a:cs typeface="Aptos"/>
                        </a:rPr>
                        <a:t>2027</a:t>
                      </a:r>
                    </a:p>
                  </a:txBody>
                  <a:tcPr marL="133350" marR="133350" marT="133350" marB="133350" anchor="ctr">
                    <a:solidFill>
                      <a:srgbClr val="F3F7F9"/>
                    </a:solidFill>
                  </a:tcPr>
                </a:tc>
                <a:tc>
                  <a:txBody>
                    <a:bodyPr/>
                    <a:lstStyle/>
                    <a:p>
                      <a:r>
                        <a:rPr lang="en-US" sz="1800" b="1">
                          <a:solidFill>
                            <a:srgbClr val="122C49"/>
                          </a:solidFill>
                          <a:latin typeface="Aptos"/>
                          <a:ea typeface="Aptos"/>
                          <a:cs typeface="Aptos"/>
                        </a:rPr>
                        <a:t>Unit 4. Liabilities</a:t>
                      </a:r>
                    </a:p>
                    <a:p>
                      <a:r>
                        <a:rPr lang="en-US" sz="1800" b="1">
                          <a:solidFill>
                            <a:srgbClr val="122C49"/>
                          </a:solidFill>
                          <a:latin typeface="Aptos"/>
                          <a:ea typeface="Aptos"/>
                          <a:cs typeface="Aptos"/>
                        </a:rPr>
                        <a:t>Lecture 1 of 2</a:t>
                      </a:r>
                    </a:p>
                  </a:txBody>
                  <a:tcPr marL="133350" marR="133350" marT="133350" marB="133350" anchor="ctr">
                    <a:solidFill>
                      <a:srgbClr val="F3F7F9"/>
                    </a:solidFill>
                  </a:tcPr>
                </a:tc>
                <a:tc>
                  <a:txBody>
                    <a:bodyPr/>
                    <a:lstStyle/>
                    <a:p>
                      <a:pPr marL="285750" indent="-285750">
                        <a:buFont typeface="Arial" panose="020B0604020202020204" pitchFamily="34" charset="0"/>
                        <a:buChar char="•"/>
                      </a:pPr>
                      <a:r>
                        <a:rPr lang="en-US" sz="1800">
                          <a:solidFill>
                            <a:srgbClr val="233B50"/>
                          </a:solidFill>
                          <a:latin typeface="Aptos"/>
                          <a:ea typeface="Aptos"/>
                          <a:cs typeface="Aptos"/>
                        </a:rPr>
                        <a:t>4.1 Contingencies and warranties.</a:t>
                      </a:r>
                    </a:p>
                    <a:p>
                      <a:pPr marL="285750" indent="-285750">
                        <a:buFont typeface="Arial" panose="020B0604020202020204" pitchFamily="34" charset="0"/>
                        <a:buChar char="•"/>
                      </a:pPr>
                      <a:r>
                        <a:rPr lang="en-US" sz="1800">
                          <a:solidFill>
                            <a:srgbClr val="233B50"/>
                          </a:solidFill>
                          <a:latin typeface="Aptos"/>
                          <a:ea typeface="Aptos"/>
                          <a:cs typeface="Aptos"/>
                        </a:rPr>
                        <a:t>4.2 Leases.</a:t>
                      </a:r>
                    </a:p>
                  </a:txBody>
                  <a:tcPr marL="133350" marR="133350" marT="133350" marB="133350" anchor="ctr">
                    <a:solidFill>
                      <a:srgbClr val="F3F7F9"/>
                    </a:solidFill>
                  </a:tcPr>
                </a:tc>
                <a:tc>
                  <a:txBody>
                    <a:bodyPr/>
                    <a:lstStyle/>
                    <a:p>
                      <a:pPr algn="ctr"/>
                      <a:r>
                        <a:rPr lang="en-US" sz="1800">
                          <a:solidFill>
                            <a:srgbClr val="233B50"/>
                          </a:solidFill>
                          <a:latin typeface="Aptos"/>
                          <a:ea typeface="Aptos"/>
                          <a:cs typeface="Aptos"/>
                        </a:rPr>
                        <a:t>4.1–4.2</a:t>
                      </a:r>
                    </a:p>
                  </a:txBody>
                  <a:tcPr marL="133350" marR="133350" marT="133350" marB="133350" anchor="ctr">
                    <a:solidFill>
                      <a:srgbClr val="F3F7F9"/>
                    </a:solidFill>
                  </a:tcPr>
                </a:tc>
                <a:extLst>
                  <a:ext uri="{0D108BD9-81ED-4DB2-BD59-A6C34878D82A}">
                    <a16:rowId xmlns:a16="http://schemas.microsoft.com/office/drawing/2014/main" val="10001"/>
                  </a:ext>
                </a:extLst>
              </a:tr>
              <a:tr h="1691640">
                <a:tc>
                  <a:txBody>
                    <a:bodyPr/>
                    <a:lstStyle/>
                    <a:p>
                      <a:r>
                        <a:rPr lang="fr-FR" sz="1800" b="1">
                          <a:solidFill>
                            <a:srgbClr val="007F83"/>
                          </a:solidFill>
                          <a:latin typeface="Aptos"/>
                          <a:ea typeface="Aptos"/>
                          <a:cs typeface="Aptos"/>
                        </a:rPr>
                        <a:t>09</a:t>
                      </a:r>
                    </a:p>
                    <a:p>
                      <a:r>
                        <a:rPr lang="fr-FR" sz="1800" b="1">
                          <a:solidFill>
                            <a:srgbClr val="007F83"/>
                          </a:solidFill>
                          <a:latin typeface="Aptos"/>
                          <a:ea typeface="Aptos"/>
                          <a:cs typeface="Aptos"/>
                        </a:rPr>
                        <a:t>Fri 12 Mar</a:t>
                      </a:r>
                    </a:p>
                    <a:p>
                      <a:r>
                        <a:rPr lang="fr-FR" sz="1800" b="1">
                          <a:solidFill>
                            <a:srgbClr val="007F83"/>
                          </a:solidFill>
                          <a:latin typeface="Aptos"/>
                          <a:ea typeface="Aptos"/>
                          <a:cs typeface="Aptos"/>
                        </a:rPr>
                        <a:t>2027</a:t>
                      </a:r>
                    </a:p>
                  </a:txBody>
                  <a:tcPr marL="133350" marR="133350" marT="133350" marB="133350" anchor="ctr">
                    <a:solidFill>
                      <a:srgbClr val="FFFFFF"/>
                    </a:solidFill>
                  </a:tcPr>
                </a:tc>
                <a:tc>
                  <a:txBody>
                    <a:bodyPr/>
                    <a:lstStyle/>
                    <a:p>
                      <a:r>
                        <a:rPr lang="en-US" sz="1800" b="1">
                          <a:solidFill>
                            <a:srgbClr val="122C49"/>
                          </a:solidFill>
                          <a:latin typeface="Aptos"/>
                          <a:ea typeface="Aptos"/>
                          <a:cs typeface="Aptos"/>
                        </a:rPr>
                        <a:t>Unit 4. Liabilities</a:t>
                      </a:r>
                    </a:p>
                    <a:p>
                      <a:r>
                        <a:rPr lang="en-US" sz="1800" b="1">
                          <a:solidFill>
                            <a:srgbClr val="122C49"/>
                          </a:solidFill>
                          <a:latin typeface="Aptos"/>
                          <a:ea typeface="Aptos"/>
                          <a:cs typeface="Aptos"/>
                        </a:rPr>
                        <a:t>Lecture 2 of 2</a:t>
                      </a:r>
                    </a:p>
                  </a:txBody>
                  <a:tcPr marL="133350" marR="133350" marT="133350" marB="133350" anchor="ctr">
                    <a:solidFill>
                      <a:srgbClr val="FFFFFF"/>
                    </a:solidFill>
                  </a:tcPr>
                </a:tc>
                <a:tc>
                  <a:txBody>
                    <a:bodyPr/>
                    <a:lstStyle/>
                    <a:p>
                      <a:pPr marL="285750" indent="-285750">
                        <a:buFont typeface="Arial" panose="020B0604020202020204" pitchFamily="34" charset="0"/>
                        <a:buChar char="•"/>
                      </a:pPr>
                      <a:r>
                        <a:rPr lang="en-US" sz="1800">
                          <a:solidFill>
                            <a:srgbClr val="233B50"/>
                          </a:solidFill>
                          <a:latin typeface="Aptos"/>
                          <a:ea typeface="Aptos"/>
                          <a:cs typeface="Aptos"/>
                        </a:rPr>
                        <a:t>4.3 Income taxes.</a:t>
                      </a:r>
                    </a:p>
                    <a:p>
                      <a:pPr marL="285750" indent="-285750">
                        <a:buFont typeface="Arial" panose="020B0604020202020204" pitchFamily="34" charset="0"/>
                        <a:buChar char="•"/>
                      </a:pPr>
                      <a:r>
                        <a:rPr lang="en-US" sz="1800">
                          <a:solidFill>
                            <a:srgbClr val="233B50"/>
                          </a:solidFill>
                          <a:latin typeface="Aptos"/>
                          <a:ea typeface="Aptos"/>
                          <a:cs typeface="Aptos"/>
                        </a:rPr>
                        <a:t>4.4 Accounting for bonds payable.</a:t>
                      </a:r>
                    </a:p>
                  </a:txBody>
                  <a:tcPr marL="133350" marR="133350" marT="133350" marB="133350" anchor="ctr">
                    <a:solidFill>
                      <a:srgbClr val="FFFFFF"/>
                    </a:solidFill>
                  </a:tcPr>
                </a:tc>
                <a:tc>
                  <a:txBody>
                    <a:bodyPr/>
                    <a:lstStyle/>
                    <a:p>
                      <a:pPr algn="ctr"/>
                      <a:r>
                        <a:rPr lang="en-US" sz="1800">
                          <a:solidFill>
                            <a:srgbClr val="233B50"/>
                          </a:solidFill>
                          <a:latin typeface="Aptos"/>
                          <a:ea typeface="Aptos"/>
                          <a:cs typeface="Aptos"/>
                        </a:rPr>
                        <a:t>4.3–4.4</a:t>
                      </a:r>
                    </a:p>
                  </a:txBody>
                  <a:tcPr marL="133350" marR="133350" marT="133350" marB="133350" anchor="ctr">
                    <a:solidFill>
                      <a:srgbClr val="FFFFFF"/>
                    </a:solidFill>
                  </a:tcPr>
                </a:tc>
                <a:extLst>
                  <a:ext uri="{0D108BD9-81ED-4DB2-BD59-A6C34878D82A}">
                    <a16:rowId xmlns:a16="http://schemas.microsoft.com/office/drawing/2014/main" val="10002"/>
                  </a:ext>
                </a:extLst>
              </a:tr>
            </a:tbl>
          </a:graphicData>
        </a:graphic>
      </p:graphicFrame>
      <p:sp>
        <p:nvSpPr>
          <p:cNvPr id="5" name="Rectangle 4">
            <a:extLst>
              <a:ext uri="{FF2B5EF4-FFF2-40B4-BE49-F238E27FC236}">
                <a16:creationId xmlns:a16="http://schemas.microsoft.com/office/drawing/2014/main" id="{00000002-0004-4000-8000-000000000000}"/>
              </a:ext>
            </a:extLst>
          </p:cNvPr>
          <p:cNvSpPr>
            <a:spLocks noGrp="1"/>
          </p:cNvSpPr>
          <p:nvPr/>
        </p:nvSpPr>
        <p:spPr>
          <a:xfrm>
            <a:off x="13811250" y="8077200"/>
            <a:ext cx="666750" cy="285750"/>
          </a:xfrm>
          <a:prstGeom prst="rect">
            <a:avLst/>
          </a:prstGeom>
          <a:noFill/>
          <a:ln w="0">
            <a:noFill/>
          </a:ln>
        </p:spPr>
        <p:txBody>
          <a:bodyPr wrap="square">
            <a:noAutofit/>
          </a:bodyPr>
          <a:lstStyle/>
          <a:p>
            <a:pPr>
              <a:defRPr sz="1350" b="0">
                <a:solidFill>
                  <a:srgbClr val="5C6F7F"/>
                </a:solidFill>
                <a:latin typeface="Aptos"/>
                <a:ea typeface="Aptos"/>
                <a:cs typeface="Aptos"/>
              </a:defRPr>
            </a:pPr>
            <a:r>
              <a:rPr lang="en-US" sz="1350" b="0">
                <a:solidFill>
                  <a:srgbClr val="5C6F7F"/>
                </a:solidFill>
                <a:latin typeface="Aptos"/>
                <a:ea typeface="Aptos"/>
                <a:cs typeface="Aptos"/>
              </a:rPr>
              <a:t>20</a:t>
            </a:r>
          </a:p>
        </p:txBody>
      </p:sp>
      <p:sp>
        <p:nvSpPr>
          <p:cNvPr id="7" name="Section exam weighting">
            <a:extLst>
              <a:ext uri="{FF2B5EF4-FFF2-40B4-BE49-F238E27FC236}">
                <a16:creationId xmlns:a16="http://schemas.microsoft.com/office/drawing/2014/main" id="{00000002-0002-4000-8000-000000000000}"/>
              </a:ext>
            </a:extLst>
          </p:cNvPr>
          <p:cNvSpPr>
            <a:spLocks noGrp="1"/>
          </p:cNvSpPr>
          <p:nvPr/>
        </p:nvSpPr>
        <p:spPr>
          <a:xfrm>
            <a:off x="762000" y="1657350"/>
            <a:ext cx="13811250" cy="276225"/>
          </a:xfrm>
          <a:prstGeom prst="rect">
            <a:avLst/>
          </a:prstGeom>
          <a:noFill/>
          <a:ln w="0">
            <a:noFill/>
          </a:ln>
        </p:spPr>
        <p:txBody>
          <a:bodyPr wrap="square" tIns="0" bIns="0">
            <a:noAutofit/>
          </a:bodyPr>
          <a:lstStyle/>
          <a:p>
            <a:pPr>
              <a:defRPr sz="2025" b="0">
                <a:solidFill>
                  <a:srgbClr val="007F83"/>
                </a:solidFill>
                <a:latin typeface="Aptos"/>
                <a:ea typeface="Aptos"/>
                <a:cs typeface="Aptos"/>
              </a:defRPr>
            </a:pPr>
            <a:r>
              <a:rPr lang="en-US" b="1">
                <a:solidFill>
                  <a:srgbClr val="007F83"/>
                </a:solidFill>
                <a:latin typeface="Aptos"/>
                <a:ea typeface="Aptos"/>
                <a:cs typeface="Aptos"/>
              </a:rPr>
              <a:t>Section exam weight: External Financial Reporting Decisions 15%</a:t>
            </a:r>
          </a:p>
        </p:txBody>
      </p:sp>
      <p:sp>
        <p:nvSpPr>
          <p:cNvPr id="9" name="Rectangle 8">
            <a:extLst>
              <a:ext uri="{FF2B5EF4-FFF2-40B4-BE49-F238E27FC236}">
                <a16:creationId xmlns:a16="http://schemas.microsoft.com/office/drawing/2014/main" id="{769240ED-E110-FFA2-96F6-9619968F0D03}"/>
              </a:ext>
            </a:extLst>
          </p:cNvPr>
          <p:cNvSpPr>
            <a:spLocks noGrp="1"/>
          </p:cNvSpPr>
          <p:nvPr/>
        </p:nvSpPr>
        <p:spPr>
          <a:xfrm>
            <a:off x="762000" y="8077200"/>
            <a:ext cx="11430000" cy="285750"/>
          </a:xfrm>
          <a:prstGeom prst="rect">
            <a:avLst/>
          </a:prstGeom>
          <a:noFill/>
          <a:ln w="0">
            <a:noFill/>
          </a:ln>
        </p:spPr>
        <p:txBody>
          <a:bodyPr wrap="square">
            <a:noAutofit/>
          </a:bodyPr>
          <a:lstStyle/>
          <a:p>
            <a:pPr>
              <a:defRPr sz="1350" b="0">
                <a:solidFill>
                  <a:srgbClr val="5C6F7F"/>
                </a:solidFill>
                <a:latin typeface="Aptos"/>
                <a:ea typeface="Aptos"/>
                <a:cs typeface="Aptos"/>
              </a:defRPr>
            </a:pPr>
            <a:r>
              <a:rPr sz="1350" b="0">
                <a:solidFill>
                  <a:srgbClr val="5C6F7F"/>
                </a:solidFill>
                <a:latin typeface="Aptos"/>
                <a:ea typeface="Aptos"/>
                <a:cs typeface="Aptos"/>
              </a:rPr>
              <a:t>CMA Part 1. Supplied course outline. Subunit references shown.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0000002-0001-4000-8000-000000000000}"/>
              </a:ext>
            </a:extLst>
          </p:cNvPr>
          <p:cNvSpPr>
            <a:spLocks noGrp="1"/>
          </p:cNvSpPr>
          <p:nvPr/>
        </p:nvSpPr>
        <p:spPr>
          <a:xfrm>
            <a:off x="762000" y="542925"/>
            <a:ext cx="13811250" cy="666750"/>
          </a:xfrm>
          <a:prstGeom prst="rect">
            <a:avLst/>
          </a:prstGeom>
          <a:noFill/>
          <a:ln w="0">
            <a:noFill/>
          </a:ln>
        </p:spPr>
        <p:txBody>
          <a:bodyPr wrap="square">
            <a:noAutofit/>
          </a:bodyPr>
          <a:lstStyle/>
          <a:p>
            <a:pPr>
              <a:defRPr sz="3675" b="1">
                <a:solidFill>
                  <a:srgbClr val="122C49"/>
                </a:solidFill>
                <a:latin typeface="Aptos"/>
                <a:ea typeface="Aptos"/>
                <a:cs typeface="Aptos"/>
              </a:defRPr>
            </a:pPr>
            <a:r>
              <a:rPr lang="en-US" sz="3675" b="1">
                <a:solidFill>
                  <a:srgbClr val="122C49"/>
                </a:solidFill>
                <a:latin typeface="Aptos"/>
                <a:ea typeface="Aptos"/>
                <a:cs typeface="Aptos"/>
              </a:rPr>
              <a:t>External Financial Reporting</a:t>
            </a:r>
          </a:p>
        </p:txBody>
      </p:sp>
      <p:sp>
        <p:nvSpPr>
          <p:cNvPr id="2" name="Rectangle 1">
            <a:extLst>
              <a:ext uri="{FF2B5EF4-FFF2-40B4-BE49-F238E27FC236}">
                <a16:creationId xmlns:a16="http://schemas.microsoft.com/office/drawing/2014/main" id="{00000002-0002-4000-8000-000000000000}"/>
              </a:ext>
            </a:extLst>
          </p:cNvPr>
          <p:cNvSpPr>
            <a:spLocks noGrp="1"/>
          </p:cNvSpPr>
          <p:nvPr/>
        </p:nvSpPr>
        <p:spPr>
          <a:xfrm>
            <a:off x="762000" y="1185862"/>
            <a:ext cx="13811250" cy="400050"/>
          </a:xfrm>
          <a:prstGeom prst="rect">
            <a:avLst/>
          </a:prstGeom>
          <a:noFill/>
          <a:ln w="0">
            <a:noFill/>
          </a:ln>
        </p:spPr>
        <p:txBody>
          <a:bodyPr wrap="square">
            <a:noAutofit/>
          </a:bodyPr>
          <a:lstStyle/>
          <a:p>
            <a:pPr>
              <a:defRPr sz="2025" b="0">
                <a:solidFill>
                  <a:srgbClr val="007F83"/>
                </a:solidFill>
                <a:latin typeface="Aptos"/>
                <a:ea typeface="Aptos"/>
                <a:cs typeface="Aptos"/>
              </a:defRPr>
            </a:pPr>
            <a:r>
              <a:rPr lang="en-US" sz="2400" b="0">
                <a:solidFill>
                  <a:srgbClr val="007F83"/>
                </a:solidFill>
                <a:latin typeface="Aptos"/>
                <a:ea typeface="Aptos"/>
                <a:cs typeface="Aptos"/>
              </a:rPr>
              <a:t>16–19 March 2027   /   Sessions 10–11</a:t>
            </a:r>
          </a:p>
        </p:txBody>
      </p:sp>
      <p:graphicFrame>
        <p:nvGraphicFramePr>
          <p:cNvPr id="3" name="Table 2"/>
          <p:cNvGraphicFramePr/>
          <p:nvPr>
            <p:extLst>
              <p:ext uri="{D42A27DB-BD31-4B8C-83A1-F6EECF244321}">
                <p14:modId xmlns:p14="http://schemas.microsoft.com/office/powerpoint/2010/main" val="1271260267"/>
              </p:ext>
            </p:extLst>
          </p:nvPr>
        </p:nvGraphicFramePr>
        <p:xfrm>
          <a:off x="762000" y="2028825"/>
          <a:ext cx="13811251" cy="3924300"/>
        </p:xfrm>
        <a:graphic>
          <a:graphicData uri="http://schemas.openxmlformats.org/drawingml/2006/table">
            <a:tbl>
              <a:tblPr/>
              <a:tblGrid>
                <a:gridCol w="1962652">
                  <a:extLst>
                    <a:ext uri="{9D8B030D-6E8A-4147-A177-3AD203B41FA5}">
                      <a16:colId xmlns:a16="http://schemas.microsoft.com/office/drawing/2014/main" val="20000"/>
                    </a:ext>
                  </a:extLst>
                </a:gridCol>
                <a:gridCol w="4984248">
                  <a:extLst>
                    <a:ext uri="{9D8B030D-6E8A-4147-A177-3AD203B41FA5}">
                      <a16:colId xmlns:a16="http://schemas.microsoft.com/office/drawing/2014/main" val="20001"/>
                    </a:ext>
                  </a:extLst>
                </a:gridCol>
                <a:gridCol w="5172911">
                  <a:extLst>
                    <a:ext uri="{9D8B030D-6E8A-4147-A177-3AD203B41FA5}">
                      <a16:colId xmlns:a16="http://schemas.microsoft.com/office/drawing/2014/main" val="20002"/>
                    </a:ext>
                  </a:extLst>
                </a:gridCol>
                <a:gridCol w="1691440">
                  <a:extLst>
                    <a:ext uri="{9D8B030D-6E8A-4147-A177-3AD203B41FA5}">
                      <a16:colId xmlns:a16="http://schemas.microsoft.com/office/drawing/2014/main" val="20003"/>
                    </a:ext>
                  </a:extLst>
                </a:gridCol>
              </a:tblGrid>
              <a:tr h="514350">
                <a:tc>
                  <a:txBody>
                    <a:bodyPr/>
                    <a:lstStyle/>
                    <a:p>
                      <a:pPr algn="ctr"/>
                      <a:r>
                        <a:rPr lang="en-US" sz="1800" b="1">
                          <a:solidFill>
                            <a:srgbClr val="FFFFFF"/>
                          </a:solidFill>
                          <a:latin typeface="Aptos"/>
                          <a:ea typeface="Aptos"/>
                          <a:cs typeface="Aptos"/>
                        </a:rPr>
                        <a:t>Session / date</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Study unit</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Coverage and practice</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Subunits</a:t>
                      </a:r>
                    </a:p>
                  </a:txBody>
                  <a:tcPr marL="133350" marR="133350" marT="133350" marB="133350" anchor="ctr">
                    <a:solidFill>
                      <a:srgbClr val="122C49"/>
                    </a:solidFill>
                  </a:tcPr>
                </a:tc>
                <a:extLst>
                  <a:ext uri="{0D108BD9-81ED-4DB2-BD59-A6C34878D82A}">
                    <a16:rowId xmlns:a16="http://schemas.microsoft.com/office/drawing/2014/main" val="10000"/>
                  </a:ext>
                </a:extLst>
              </a:tr>
              <a:tr h="1691640">
                <a:tc>
                  <a:txBody>
                    <a:bodyPr/>
                    <a:lstStyle/>
                    <a:p>
                      <a:r>
                        <a:rPr lang="nn-NO" sz="1800" b="1">
                          <a:solidFill>
                            <a:srgbClr val="007F83"/>
                          </a:solidFill>
                          <a:latin typeface="Aptos"/>
                          <a:ea typeface="Aptos"/>
                          <a:cs typeface="Aptos"/>
                        </a:rPr>
                        <a:t>10</a:t>
                      </a:r>
                    </a:p>
                    <a:p>
                      <a:r>
                        <a:rPr lang="nn-NO" sz="1800" b="1">
                          <a:solidFill>
                            <a:srgbClr val="007F83"/>
                          </a:solidFill>
                          <a:latin typeface="Aptos"/>
                          <a:ea typeface="Aptos"/>
                          <a:cs typeface="Aptos"/>
                        </a:rPr>
                        <a:t>Tue 16 Mar</a:t>
                      </a:r>
                    </a:p>
                    <a:p>
                      <a:r>
                        <a:rPr lang="nn-NO" sz="1800" b="1">
                          <a:solidFill>
                            <a:srgbClr val="007F83"/>
                          </a:solidFill>
                          <a:latin typeface="Aptos"/>
                          <a:ea typeface="Aptos"/>
                          <a:cs typeface="Aptos"/>
                        </a:rPr>
                        <a:t>2027</a:t>
                      </a:r>
                    </a:p>
                  </a:txBody>
                  <a:tcPr marL="133350" marR="133350" marT="133350" marB="133350" anchor="ctr">
                    <a:solidFill>
                      <a:srgbClr val="F3F7F9"/>
                    </a:solidFill>
                  </a:tcPr>
                </a:tc>
                <a:tc>
                  <a:txBody>
                    <a:bodyPr/>
                    <a:lstStyle/>
                    <a:p>
                      <a:r>
                        <a:rPr lang="en-US" sz="1800" b="1">
                          <a:solidFill>
                            <a:srgbClr val="122C49"/>
                          </a:solidFill>
                          <a:latin typeface="Aptos"/>
                          <a:ea typeface="Aptos"/>
                          <a:cs typeface="Aptos"/>
                        </a:rPr>
                        <a:t>Unit 5. Revenue and Impairment Recognition</a:t>
                      </a:r>
                    </a:p>
                    <a:p>
                      <a:r>
                        <a:rPr lang="en-US" sz="1800" b="1">
                          <a:solidFill>
                            <a:srgbClr val="122C49"/>
                          </a:solidFill>
                          <a:latin typeface="Aptos"/>
                          <a:ea typeface="Aptos"/>
                          <a:cs typeface="Aptos"/>
                        </a:rPr>
                        <a:t>Lecture 1 of 2</a:t>
                      </a:r>
                    </a:p>
                  </a:txBody>
                  <a:tcPr marL="133350" marR="133350" marT="133350" marB="133350" anchor="ctr">
                    <a:solidFill>
                      <a:srgbClr val="F3F7F9"/>
                    </a:solidFill>
                  </a:tcPr>
                </a:tc>
                <a:tc>
                  <a:txBody>
                    <a:bodyPr/>
                    <a:lstStyle/>
                    <a:p>
                      <a:pPr marL="285750" indent="-285750">
                        <a:buFont typeface="Arial" panose="020B0604020202020204" pitchFamily="34" charset="0"/>
                        <a:buChar char="•"/>
                      </a:pPr>
                      <a:r>
                        <a:rPr lang="en-US" sz="1800">
                          <a:solidFill>
                            <a:srgbClr val="233B50"/>
                          </a:solidFill>
                          <a:latin typeface="Aptos"/>
                          <a:ea typeface="Aptos"/>
                          <a:cs typeface="Aptos"/>
                        </a:rPr>
                        <a:t>5.1 Revenue from contracts with customers.</a:t>
                      </a:r>
                    </a:p>
                    <a:p>
                      <a:pPr marL="285750" indent="-285750">
                        <a:buFont typeface="Arial" panose="020B0604020202020204" pitchFamily="34" charset="0"/>
                        <a:buChar char="•"/>
                      </a:pPr>
                      <a:r>
                        <a:rPr lang="en-US" sz="1800">
                          <a:solidFill>
                            <a:srgbClr val="233B50"/>
                          </a:solidFill>
                          <a:latin typeface="Aptos"/>
                          <a:ea typeface="Aptos"/>
                          <a:cs typeface="Aptos"/>
                        </a:rPr>
                        <a:t>5.2 Recognition of revenue over time.</a:t>
                      </a:r>
                    </a:p>
                  </a:txBody>
                  <a:tcPr marL="133350" marR="133350" marT="133350" marB="133350" anchor="ctr">
                    <a:solidFill>
                      <a:srgbClr val="F3F7F9"/>
                    </a:solidFill>
                  </a:tcPr>
                </a:tc>
                <a:tc>
                  <a:txBody>
                    <a:bodyPr/>
                    <a:lstStyle/>
                    <a:p>
                      <a:pPr algn="ctr"/>
                      <a:r>
                        <a:rPr lang="en-US" sz="1800">
                          <a:solidFill>
                            <a:srgbClr val="233B50"/>
                          </a:solidFill>
                          <a:latin typeface="Aptos"/>
                          <a:ea typeface="Aptos"/>
                          <a:cs typeface="Aptos"/>
                        </a:rPr>
                        <a:t>5.1–5.2</a:t>
                      </a:r>
                    </a:p>
                  </a:txBody>
                  <a:tcPr marL="133350" marR="133350" marT="133350" marB="133350" anchor="ctr">
                    <a:solidFill>
                      <a:srgbClr val="F3F7F9"/>
                    </a:solidFill>
                  </a:tcPr>
                </a:tc>
                <a:extLst>
                  <a:ext uri="{0D108BD9-81ED-4DB2-BD59-A6C34878D82A}">
                    <a16:rowId xmlns:a16="http://schemas.microsoft.com/office/drawing/2014/main" val="10001"/>
                  </a:ext>
                </a:extLst>
              </a:tr>
              <a:tr h="1691640">
                <a:tc>
                  <a:txBody>
                    <a:bodyPr/>
                    <a:lstStyle/>
                    <a:p>
                      <a:r>
                        <a:rPr lang="fr-FR" sz="1800" b="1">
                          <a:solidFill>
                            <a:srgbClr val="007F83"/>
                          </a:solidFill>
                          <a:latin typeface="Aptos"/>
                          <a:ea typeface="Aptos"/>
                          <a:cs typeface="Aptos"/>
                        </a:rPr>
                        <a:t>11</a:t>
                      </a:r>
                    </a:p>
                    <a:p>
                      <a:r>
                        <a:rPr lang="fr-FR" sz="1800" b="1">
                          <a:solidFill>
                            <a:srgbClr val="007F83"/>
                          </a:solidFill>
                          <a:latin typeface="Aptos"/>
                          <a:ea typeface="Aptos"/>
                          <a:cs typeface="Aptos"/>
                        </a:rPr>
                        <a:t>Fri 19 Mar</a:t>
                      </a:r>
                    </a:p>
                    <a:p>
                      <a:r>
                        <a:rPr lang="fr-FR" sz="1800" b="1">
                          <a:solidFill>
                            <a:srgbClr val="007F83"/>
                          </a:solidFill>
                          <a:latin typeface="Aptos"/>
                          <a:ea typeface="Aptos"/>
                          <a:cs typeface="Aptos"/>
                        </a:rPr>
                        <a:t>2027</a:t>
                      </a:r>
                    </a:p>
                  </a:txBody>
                  <a:tcPr marL="133350" marR="133350" marT="133350" marB="133350" anchor="ctr">
                    <a:solidFill>
                      <a:srgbClr val="FFFFFF"/>
                    </a:solidFill>
                  </a:tcPr>
                </a:tc>
                <a:tc>
                  <a:txBody>
                    <a:bodyPr/>
                    <a:lstStyle/>
                    <a:p>
                      <a:r>
                        <a:rPr lang="en-US" sz="1800" b="1">
                          <a:solidFill>
                            <a:srgbClr val="122C49"/>
                          </a:solidFill>
                          <a:latin typeface="Aptos"/>
                          <a:ea typeface="Aptos"/>
                          <a:cs typeface="Aptos"/>
                        </a:rPr>
                        <a:t>Unit 5. Revenue and Impairment Recognition</a:t>
                      </a:r>
                    </a:p>
                    <a:p>
                      <a:r>
                        <a:rPr lang="en-US" sz="1800" b="1">
                          <a:solidFill>
                            <a:srgbClr val="122C49"/>
                          </a:solidFill>
                          <a:latin typeface="Aptos"/>
                          <a:ea typeface="Aptos"/>
                          <a:cs typeface="Aptos"/>
                        </a:rPr>
                        <a:t>Lecture 2 of 2</a:t>
                      </a:r>
                    </a:p>
                  </a:txBody>
                  <a:tcPr marL="133350" marR="133350" marT="133350" marB="133350" anchor="ctr">
                    <a:solidFill>
                      <a:srgbClr val="FFFFFF"/>
                    </a:solidFill>
                  </a:tcPr>
                </a:tc>
                <a:tc>
                  <a:txBody>
                    <a:bodyPr/>
                    <a:lstStyle/>
                    <a:p>
                      <a:pPr marL="285750" indent="-285750">
                        <a:buFont typeface="Arial" panose="020B0604020202020204" pitchFamily="34" charset="0"/>
                        <a:buChar char="•"/>
                      </a:pPr>
                      <a:r>
                        <a:rPr lang="en-US" sz="1800">
                          <a:solidFill>
                            <a:srgbClr val="233B50"/>
                          </a:solidFill>
                          <a:latin typeface="Aptos"/>
                          <a:ea typeface="Aptos"/>
                          <a:cs typeface="Aptos"/>
                        </a:rPr>
                        <a:t>5.3 Impairment and disposal of long-lived assets.</a:t>
                      </a:r>
                    </a:p>
                  </a:txBody>
                  <a:tcPr marL="133350" marR="133350" marT="133350" marB="133350" anchor="ctr">
                    <a:solidFill>
                      <a:srgbClr val="FFFFFF"/>
                    </a:solidFill>
                  </a:tcPr>
                </a:tc>
                <a:tc>
                  <a:txBody>
                    <a:bodyPr/>
                    <a:lstStyle/>
                    <a:p>
                      <a:pPr algn="ctr"/>
                      <a:r>
                        <a:rPr lang="en-US" sz="1800">
                          <a:solidFill>
                            <a:srgbClr val="233B50"/>
                          </a:solidFill>
                          <a:latin typeface="Aptos"/>
                          <a:ea typeface="Aptos"/>
                          <a:cs typeface="Aptos"/>
                        </a:rPr>
                        <a:t>5.3</a:t>
                      </a:r>
                    </a:p>
                  </a:txBody>
                  <a:tcPr marL="133350" marR="133350" marT="133350" marB="133350" anchor="ctr">
                    <a:solidFill>
                      <a:srgbClr val="FFFFFF"/>
                    </a:solidFill>
                  </a:tcPr>
                </a:tc>
                <a:extLst>
                  <a:ext uri="{0D108BD9-81ED-4DB2-BD59-A6C34878D82A}">
                    <a16:rowId xmlns:a16="http://schemas.microsoft.com/office/drawing/2014/main" val="10002"/>
                  </a:ext>
                </a:extLst>
              </a:tr>
            </a:tbl>
          </a:graphicData>
        </a:graphic>
      </p:graphicFrame>
      <p:sp>
        <p:nvSpPr>
          <p:cNvPr id="5" name="Rectangle 4">
            <a:extLst>
              <a:ext uri="{FF2B5EF4-FFF2-40B4-BE49-F238E27FC236}">
                <a16:creationId xmlns:a16="http://schemas.microsoft.com/office/drawing/2014/main" id="{00000002-0004-4000-8000-000000000000}"/>
              </a:ext>
            </a:extLst>
          </p:cNvPr>
          <p:cNvSpPr>
            <a:spLocks noGrp="1"/>
          </p:cNvSpPr>
          <p:nvPr/>
        </p:nvSpPr>
        <p:spPr>
          <a:xfrm>
            <a:off x="13811250" y="8077200"/>
            <a:ext cx="666750" cy="285750"/>
          </a:xfrm>
          <a:prstGeom prst="rect">
            <a:avLst/>
          </a:prstGeom>
          <a:noFill/>
          <a:ln w="0">
            <a:noFill/>
          </a:ln>
        </p:spPr>
        <p:txBody>
          <a:bodyPr wrap="square">
            <a:noAutofit/>
          </a:bodyPr>
          <a:lstStyle/>
          <a:p>
            <a:pPr>
              <a:defRPr sz="1350" b="0">
                <a:solidFill>
                  <a:srgbClr val="5C6F7F"/>
                </a:solidFill>
                <a:latin typeface="Aptos"/>
                <a:ea typeface="Aptos"/>
                <a:cs typeface="Aptos"/>
              </a:defRPr>
            </a:pPr>
            <a:r>
              <a:rPr lang="en-US" sz="1350" b="0">
                <a:solidFill>
                  <a:srgbClr val="5C6F7F"/>
                </a:solidFill>
                <a:latin typeface="Aptos"/>
                <a:ea typeface="Aptos"/>
                <a:cs typeface="Aptos"/>
              </a:rPr>
              <a:t>21</a:t>
            </a:r>
          </a:p>
        </p:txBody>
      </p:sp>
      <p:sp>
        <p:nvSpPr>
          <p:cNvPr id="7" name="Section exam weighting">
            <a:extLst>
              <a:ext uri="{FF2B5EF4-FFF2-40B4-BE49-F238E27FC236}">
                <a16:creationId xmlns:a16="http://schemas.microsoft.com/office/drawing/2014/main" id="{00000002-0002-4000-8000-000000000000}"/>
              </a:ext>
            </a:extLst>
          </p:cNvPr>
          <p:cNvSpPr>
            <a:spLocks noGrp="1"/>
          </p:cNvSpPr>
          <p:nvPr/>
        </p:nvSpPr>
        <p:spPr>
          <a:xfrm>
            <a:off x="762000" y="1657350"/>
            <a:ext cx="13811250" cy="276225"/>
          </a:xfrm>
          <a:prstGeom prst="rect">
            <a:avLst/>
          </a:prstGeom>
          <a:noFill/>
          <a:ln w="0">
            <a:noFill/>
          </a:ln>
        </p:spPr>
        <p:txBody>
          <a:bodyPr wrap="square" tIns="0" bIns="0">
            <a:noAutofit/>
          </a:bodyPr>
          <a:lstStyle/>
          <a:p>
            <a:pPr>
              <a:defRPr sz="2025" b="0">
                <a:solidFill>
                  <a:srgbClr val="007F83"/>
                </a:solidFill>
                <a:latin typeface="Aptos"/>
                <a:ea typeface="Aptos"/>
                <a:cs typeface="Aptos"/>
              </a:defRPr>
            </a:pPr>
            <a:r>
              <a:rPr lang="en-US" b="1">
                <a:solidFill>
                  <a:srgbClr val="007F83"/>
                </a:solidFill>
                <a:latin typeface="Aptos"/>
                <a:ea typeface="Aptos"/>
                <a:cs typeface="Aptos"/>
              </a:rPr>
              <a:t>Section exam weight: External Financial Reporting Decisions 15%</a:t>
            </a:r>
          </a:p>
        </p:txBody>
      </p:sp>
      <p:sp>
        <p:nvSpPr>
          <p:cNvPr id="9" name="Rectangle 8">
            <a:extLst>
              <a:ext uri="{FF2B5EF4-FFF2-40B4-BE49-F238E27FC236}">
                <a16:creationId xmlns:a16="http://schemas.microsoft.com/office/drawing/2014/main" id="{769240ED-E110-FFA2-96F6-9619968F0D03}"/>
              </a:ext>
            </a:extLst>
          </p:cNvPr>
          <p:cNvSpPr>
            <a:spLocks noGrp="1"/>
          </p:cNvSpPr>
          <p:nvPr/>
        </p:nvSpPr>
        <p:spPr>
          <a:xfrm>
            <a:off x="762000" y="8077200"/>
            <a:ext cx="11430000" cy="285750"/>
          </a:xfrm>
          <a:prstGeom prst="rect">
            <a:avLst/>
          </a:prstGeom>
          <a:noFill/>
          <a:ln w="0">
            <a:noFill/>
          </a:ln>
        </p:spPr>
        <p:txBody>
          <a:bodyPr wrap="square">
            <a:noAutofit/>
          </a:bodyPr>
          <a:lstStyle/>
          <a:p>
            <a:pPr>
              <a:defRPr sz="1350" b="0">
                <a:solidFill>
                  <a:srgbClr val="5C6F7F"/>
                </a:solidFill>
                <a:latin typeface="Aptos"/>
                <a:ea typeface="Aptos"/>
                <a:cs typeface="Aptos"/>
              </a:defRPr>
            </a:pPr>
            <a:r>
              <a:rPr sz="1350" b="0">
                <a:solidFill>
                  <a:srgbClr val="5C6F7F"/>
                </a:solidFill>
                <a:latin typeface="Aptos"/>
                <a:ea typeface="Aptos"/>
                <a:cs typeface="Aptos"/>
              </a:rPr>
              <a:t>CMA Part 1. Supplied course outline. Subunit references shown.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0000002-0001-4000-8000-000000000000}"/>
              </a:ext>
            </a:extLst>
          </p:cNvPr>
          <p:cNvSpPr>
            <a:spLocks noGrp="1"/>
          </p:cNvSpPr>
          <p:nvPr/>
        </p:nvSpPr>
        <p:spPr>
          <a:xfrm>
            <a:off x="762000" y="542925"/>
            <a:ext cx="13811250" cy="666750"/>
          </a:xfrm>
          <a:prstGeom prst="rect">
            <a:avLst/>
          </a:prstGeom>
          <a:noFill/>
          <a:ln w="0">
            <a:noFill/>
          </a:ln>
        </p:spPr>
        <p:txBody>
          <a:bodyPr wrap="square">
            <a:noAutofit/>
          </a:bodyPr>
          <a:lstStyle/>
          <a:p>
            <a:pPr>
              <a:defRPr sz="3675" b="1">
                <a:solidFill>
                  <a:srgbClr val="122C49"/>
                </a:solidFill>
                <a:latin typeface="Aptos"/>
                <a:ea typeface="Aptos"/>
                <a:cs typeface="Aptos"/>
              </a:defRPr>
            </a:pPr>
            <a:r>
              <a:rPr lang="en-US" sz="3675" b="1">
                <a:solidFill>
                  <a:srgbClr val="122C49"/>
                </a:solidFill>
                <a:latin typeface="Aptos"/>
                <a:ea typeface="Aptos"/>
                <a:cs typeface="Aptos"/>
              </a:rPr>
              <a:t>External Financial Reporting</a:t>
            </a:r>
          </a:p>
        </p:txBody>
      </p:sp>
      <p:sp>
        <p:nvSpPr>
          <p:cNvPr id="2" name="Rectangle 1">
            <a:extLst>
              <a:ext uri="{FF2B5EF4-FFF2-40B4-BE49-F238E27FC236}">
                <a16:creationId xmlns:a16="http://schemas.microsoft.com/office/drawing/2014/main" id="{00000002-0002-4000-8000-000000000000}"/>
              </a:ext>
            </a:extLst>
          </p:cNvPr>
          <p:cNvSpPr>
            <a:spLocks noGrp="1"/>
          </p:cNvSpPr>
          <p:nvPr/>
        </p:nvSpPr>
        <p:spPr>
          <a:xfrm>
            <a:off x="762000" y="1185862"/>
            <a:ext cx="13811250" cy="400050"/>
          </a:xfrm>
          <a:prstGeom prst="rect">
            <a:avLst/>
          </a:prstGeom>
          <a:noFill/>
          <a:ln w="0">
            <a:noFill/>
          </a:ln>
        </p:spPr>
        <p:txBody>
          <a:bodyPr wrap="square">
            <a:noAutofit/>
          </a:bodyPr>
          <a:lstStyle/>
          <a:p>
            <a:pPr>
              <a:defRPr sz="2025" b="0">
                <a:solidFill>
                  <a:srgbClr val="007F83"/>
                </a:solidFill>
                <a:latin typeface="Aptos"/>
                <a:ea typeface="Aptos"/>
                <a:cs typeface="Aptos"/>
              </a:defRPr>
            </a:pPr>
            <a:r>
              <a:rPr lang="en-US" sz="2400" b="0">
                <a:solidFill>
                  <a:srgbClr val="007F83"/>
                </a:solidFill>
                <a:latin typeface="Aptos"/>
                <a:ea typeface="Aptos"/>
                <a:cs typeface="Aptos"/>
              </a:rPr>
              <a:t>23 March 2027   /   Session 12</a:t>
            </a:r>
          </a:p>
        </p:txBody>
      </p:sp>
      <p:graphicFrame>
        <p:nvGraphicFramePr>
          <p:cNvPr id="3" name="Table 2"/>
          <p:cNvGraphicFramePr/>
          <p:nvPr>
            <p:extLst>
              <p:ext uri="{D42A27DB-BD31-4B8C-83A1-F6EECF244321}">
                <p14:modId xmlns:p14="http://schemas.microsoft.com/office/powerpoint/2010/main" val="1271260267"/>
              </p:ext>
            </p:extLst>
          </p:nvPr>
        </p:nvGraphicFramePr>
        <p:xfrm>
          <a:off x="762000" y="2028825"/>
          <a:ext cx="13811251" cy="2232660"/>
        </p:xfrm>
        <a:graphic>
          <a:graphicData uri="http://schemas.openxmlformats.org/drawingml/2006/table">
            <a:tbl>
              <a:tblPr/>
              <a:tblGrid>
                <a:gridCol w="1962652">
                  <a:extLst>
                    <a:ext uri="{9D8B030D-6E8A-4147-A177-3AD203B41FA5}">
                      <a16:colId xmlns:a16="http://schemas.microsoft.com/office/drawing/2014/main" val="20000"/>
                    </a:ext>
                  </a:extLst>
                </a:gridCol>
                <a:gridCol w="4984248">
                  <a:extLst>
                    <a:ext uri="{9D8B030D-6E8A-4147-A177-3AD203B41FA5}">
                      <a16:colId xmlns:a16="http://schemas.microsoft.com/office/drawing/2014/main" val="20001"/>
                    </a:ext>
                  </a:extLst>
                </a:gridCol>
                <a:gridCol w="5172911">
                  <a:extLst>
                    <a:ext uri="{9D8B030D-6E8A-4147-A177-3AD203B41FA5}">
                      <a16:colId xmlns:a16="http://schemas.microsoft.com/office/drawing/2014/main" val="20002"/>
                    </a:ext>
                  </a:extLst>
                </a:gridCol>
                <a:gridCol w="1691440">
                  <a:extLst>
                    <a:ext uri="{9D8B030D-6E8A-4147-A177-3AD203B41FA5}">
                      <a16:colId xmlns:a16="http://schemas.microsoft.com/office/drawing/2014/main" val="20003"/>
                    </a:ext>
                  </a:extLst>
                </a:gridCol>
              </a:tblGrid>
              <a:tr h="514350">
                <a:tc>
                  <a:txBody>
                    <a:bodyPr/>
                    <a:lstStyle/>
                    <a:p>
                      <a:pPr algn="ctr"/>
                      <a:r>
                        <a:rPr lang="en-US" sz="1800" b="1">
                          <a:solidFill>
                            <a:srgbClr val="FFFFFF"/>
                          </a:solidFill>
                          <a:latin typeface="Aptos"/>
                          <a:ea typeface="Aptos"/>
                          <a:cs typeface="Aptos"/>
                        </a:rPr>
                        <a:t>Session / date</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Study unit</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Coverage and practice</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Subunits</a:t>
                      </a:r>
                    </a:p>
                  </a:txBody>
                  <a:tcPr marL="133350" marR="133350" marT="133350" marB="133350" anchor="ctr">
                    <a:solidFill>
                      <a:srgbClr val="122C49"/>
                    </a:solidFill>
                  </a:tcPr>
                </a:tc>
                <a:extLst>
                  <a:ext uri="{0D108BD9-81ED-4DB2-BD59-A6C34878D82A}">
                    <a16:rowId xmlns:a16="http://schemas.microsoft.com/office/drawing/2014/main" val="10000"/>
                  </a:ext>
                </a:extLst>
              </a:tr>
              <a:tr h="1691640">
                <a:tc>
                  <a:txBody>
                    <a:bodyPr/>
                    <a:lstStyle/>
                    <a:p>
                      <a:r>
                        <a:rPr lang="nn-NO" sz="1800" b="1">
                          <a:solidFill>
                            <a:srgbClr val="007F83"/>
                          </a:solidFill>
                          <a:latin typeface="Aptos"/>
                          <a:ea typeface="Aptos"/>
                          <a:cs typeface="Aptos"/>
                        </a:rPr>
                        <a:t>12</a:t>
                      </a:r>
                    </a:p>
                    <a:p>
                      <a:r>
                        <a:rPr lang="nn-NO" sz="1800" b="1">
                          <a:solidFill>
                            <a:srgbClr val="007F83"/>
                          </a:solidFill>
                          <a:latin typeface="Aptos"/>
                          <a:ea typeface="Aptos"/>
                          <a:cs typeface="Aptos"/>
                        </a:rPr>
                        <a:t>Tue 23 Mar</a:t>
                      </a:r>
                    </a:p>
                    <a:p>
                      <a:r>
                        <a:rPr lang="nn-NO" sz="1800" b="1">
                          <a:solidFill>
                            <a:srgbClr val="007F83"/>
                          </a:solidFill>
                          <a:latin typeface="Aptos"/>
                          <a:ea typeface="Aptos"/>
                          <a:cs typeface="Aptos"/>
                        </a:rPr>
                        <a:t>2027</a:t>
                      </a:r>
                    </a:p>
                  </a:txBody>
                  <a:tcPr marL="133350" marR="133350" marT="133350" marB="133350" anchor="ctr">
                    <a:solidFill>
                      <a:srgbClr val="F3F7F9"/>
                    </a:solidFill>
                  </a:tcPr>
                </a:tc>
                <a:tc>
                  <a:txBody>
                    <a:bodyPr/>
                    <a:lstStyle/>
                    <a:p>
                      <a:r>
                        <a:rPr lang="en-US" sz="1800" b="1">
                          <a:solidFill>
                            <a:srgbClr val="122C49"/>
                          </a:solidFill>
                          <a:latin typeface="Aptos"/>
                          <a:ea typeface="Aptos"/>
                          <a:cs typeface="Aptos"/>
                        </a:rPr>
                        <a:t>Unit 6. Integrated Reporting</a:t>
                      </a:r>
                    </a:p>
                  </a:txBody>
                  <a:tcPr marL="133350" marR="133350" marT="133350" marB="133350" anchor="ctr">
                    <a:solidFill>
                      <a:srgbClr val="F3F7F9"/>
                    </a:solidFill>
                  </a:tcPr>
                </a:tc>
                <a:tc>
                  <a:txBody>
                    <a:bodyPr/>
                    <a:lstStyle/>
                    <a:p>
                      <a:pPr marL="285750" indent="-285750">
                        <a:buFont typeface="Arial" panose="020B0604020202020204" pitchFamily="34" charset="0"/>
                        <a:buChar char="•"/>
                      </a:pPr>
                      <a:r>
                        <a:rPr lang="en-US" sz="1800">
                          <a:solidFill>
                            <a:srgbClr val="233B50"/>
                          </a:solidFill>
                          <a:latin typeface="Aptos"/>
                          <a:ea typeface="Aptos"/>
                          <a:cs typeface="Aptos"/>
                        </a:rPr>
                        <a:t>6.1 Integrated reporting, integrated thinking and the report.</a:t>
                      </a:r>
                    </a:p>
                    <a:p>
                      <a:pPr marL="285750" indent="-285750">
                        <a:buFont typeface="Arial" panose="020B0604020202020204" pitchFamily="34" charset="0"/>
                        <a:buChar char="•"/>
                      </a:pPr>
                      <a:r>
                        <a:rPr lang="en-US" sz="1800">
                          <a:solidFill>
                            <a:srgbClr val="233B50"/>
                          </a:solidFill>
                          <a:latin typeface="Aptos"/>
                          <a:ea typeface="Aptos"/>
                          <a:cs typeface="Aptos"/>
                        </a:rPr>
                        <a:t>6.2 Fundamental concepts. </a:t>
                      </a:r>
                    </a:p>
                    <a:p>
                      <a:pPr marL="285750" indent="-285750">
                        <a:buFont typeface="Arial" panose="020B0604020202020204" pitchFamily="34" charset="0"/>
                        <a:buChar char="•"/>
                      </a:pPr>
                      <a:r>
                        <a:rPr lang="en-US" sz="1800">
                          <a:solidFill>
                            <a:srgbClr val="233B50"/>
                          </a:solidFill>
                          <a:latin typeface="Aptos"/>
                          <a:ea typeface="Aptos"/>
                          <a:cs typeface="Aptos"/>
                        </a:rPr>
                        <a:t>6.3 Guiding principles and content elements.</a:t>
                      </a:r>
                    </a:p>
                    <a:p>
                      <a:pPr marL="285750" indent="-285750">
                        <a:buFont typeface="Arial" panose="020B0604020202020204" pitchFamily="34" charset="0"/>
                        <a:buChar char="•"/>
                      </a:pPr>
                      <a:r>
                        <a:rPr lang="en-US" sz="1800">
                          <a:solidFill>
                            <a:srgbClr val="233B50"/>
                          </a:solidFill>
                          <a:latin typeface="Aptos"/>
                          <a:ea typeface="Aptos"/>
                          <a:cs typeface="Aptos"/>
                        </a:rPr>
                        <a:t>6.4 Adoption of integrated reporting.</a:t>
                      </a:r>
                    </a:p>
                  </a:txBody>
                  <a:tcPr marL="133350" marR="133350" marT="133350" marB="133350" anchor="ctr">
                    <a:solidFill>
                      <a:srgbClr val="F3F7F9"/>
                    </a:solidFill>
                  </a:tcPr>
                </a:tc>
                <a:tc>
                  <a:txBody>
                    <a:bodyPr/>
                    <a:lstStyle/>
                    <a:p>
                      <a:pPr algn="ctr"/>
                      <a:r>
                        <a:rPr lang="en-US" sz="1800">
                          <a:solidFill>
                            <a:srgbClr val="233B50"/>
                          </a:solidFill>
                          <a:latin typeface="Aptos"/>
                          <a:ea typeface="Aptos"/>
                          <a:cs typeface="Aptos"/>
                        </a:rPr>
                        <a:t>6.1–6.4</a:t>
                      </a:r>
                    </a:p>
                  </a:txBody>
                  <a:tcPr marL="133350" marR="133350" marT="133350" marB="133350" anchor="ctr">
                    <a:solidFill>
                      <a:srgbClr val="F3F7F9"/>
                    </a:solidFill>
                  </a:tcPr>
                </a:tc>
                <a:extLst>
                  <a:ext uri="{0D108BD9-81ED-4DB2-BD59-A6C34878D82A}">
                    <a16:rowId xmlns:a16="http://schemas.microsoft.com/office/drawing/2014/main" val="10001"/>
                  </a:ext>
                </a:extLst>
              </a:tr>
            </a:tbl>
          </a:graphicData>
        </a:graphic>
      </p:graphicFrame>
      <p:sp>
        <p:nvSpPr>
          <p:cNvPr id="5" name="Rectangle 4">
            <a:extLst>
              <a:ext uri="{FF2B5EF4-FFF2-40B4-BE49-F238E27FC236}">
                <a16:creationId xmlns:a16="http://schemas.microsoft.com/office/drawing/2014/main" id="{00000002-0004-4000-8000-000000000000}"/>
              </a:ext>
            </a:extLst>
          </p:cNvPr>
          <p:cNvSpPr>
            <a:spLocks noGrp="1"/>
          </p:cNvSpPr>
          <p:nvPr/>
        </p:nvSpPr>
        <p:spPr>
          <a:xfrm>
            <a:off x="13811250" y="8077200"/>
            <a:ext cx="666750" cy="285750"/>
          </a:xfrm>
          <a:prstGeom prst="rect">
            <a:avLst/>
          </a:prstGeom>
          <a:noFill/>
          <a:ln w="0">
            <a:noFill/>
          </a:ln>
        </p:spPr>
        <p:txBody>
          <a:bodyPr wrap="square">
            <a:noAutofit/>
          </a:bodyPr>
          <a:lstStyle/>
          <a:p>
            <a:pPr>
              <a:defRPr sz="1350" b="0">
                <a:solidFill>
                  <a:srgbClr val="5C6F7F"/>
                </a:solidFill>
                <a:latin typeface="Aptos"/>
                <a:ea typeface="Aptos"/>
                <a:cs typeface="Aptos"/>
              </a:defRPr>
            </a:pPr>
            <a:r>
              <a:rPr lang="en-US" sz="1350" b="0">
                <a:solidFill>
                  <a:srgbClr val="5C6F7F"/>
                </a:solidFill>
                <a:latin typeface="Aptos"/>
                <a:ea typeface="Aptos"/>
                <a:cs typeface="Aptos"/>
              </a:rPr>
              <a:t>22</a:t>
            </a:r>
          </a:p>
        </p:txBody>
      </p:sp>
      <p:sp>
        <p:nvSpPr>
          <p:cNvPr id="7" name="Section exam weighting">
            <a:extLst>
              <a:ext uri="{FF2B5EF4-FFF2-40B4-BE49-F238E27FC236}">
                <a16:creationId xmlns:a16="http://schemas.microsoft.com/office/drawing/2014/main" id="{00000002-0002-4000-8000-000000000000}"/>
              </a:ext>
            </a:extLst>
          </p:cNvPr>
          <p:cNvSpPr>
            <a:spLocks noGrp="1"/>
          </p:cNvSpPr>
          <p:nvPr/>
        </p:nvSpPr>
        <p:spPr>
          <a:xfrm>
            <a:off x="762000" y="1657350"/>
            <a:ext cx="13811250" cy="276225"/>
          </a:xfrm>
          <a:prstGeom prst="rect">
            <a:avLst/>
          </a:prstGeom>
          <a:noFill/>
          <a:ln w="0">
            <a:noFill/>
          </a:ln>
        </p:spPr>
        <p:txBody>
          <a:bodyPr wrap="square" tIns="0" bIns="0">
            <a:noAutofit/>
          </a:bodyPr>
          <a:lstStyle/>
          <a:p>
            <a:pPr>
              <a:defRPr sz="2025" b="0">
                <a:solidFill>
                  <a:srgbClr val="007F83"/>
                </a:solidFill>
                <a:latin typeface="Aptos"/>
                <a:ea typeface="Aptos"/>
                <a:cs typeface="Aptos"/>
              </a:defRPr>
            </a:pPr>
            <a:r>
              <a:rPr lang="en-US" b="1">
                <a:solidFill>
                  <a:srgbClr val="007F83"/>
                </a:solidFill>
                <a:latin typeface="Aptos"/>
                <a:ea typeface="Aptos"/>
                <a:cs typeface="Aptos"/>
              </a:rPr>
              <a:t>Section exam weight: External Financial Reporting Decisions 15%</a:t>
            </a:r>
          </a:p>
        </p:txBody>
      </p:sp>
      <p:sp>
        <p:nvSpPr>
          <p:cNvPr id="9" name="Rectangle 8">
            <a:extLst>
              <a:ext uri="{FF2B5EF4-FFF2-40B4-BE49-F238E27FC236}">
                <a16:creationId xmlns:a16="http://schemas.microsoft.com/office/drawing/2014/main" id="{769240ED-E110-FFA2-96F6-9619968F0D03}"/>
              </a:ext>
            </a:extLst>
          </p:cNvPr>
          <p:cNvSpPr>
            <a:spLocks noGrp="1"/>
          </p:cNvSpPr>
          <p:nvPr/>
        </p:nvSpPr>
        <p:spPr>
          <a:xfrm>
            <a:off x="762000" y="8077200"/>
            <a:ext cx="11430000" cy="285750"/>
          </a:xfrm>
          <a:prstGeom prst="rect">
            <a:avLst/>
          </a:prstGeom>
          <a:noFill/>
          <a:ln w="0">
            <a:noFill/>
          </a:ln>
        </p:spPr>
        <p:txBody>
          <a:bodyPr wrap="square">
            <a:noAutofit/>
          </a:bodyPr>
          <a:lstStyle/>
          <a:p>
            <a:pPr>
              <a:defRPr sz="1350" b="0">
                <a:solidFill>
                  <a:srgbClr val="5C6F7F"/>
                </a:solidFill>
                <a:latin typeface="Aptos"/>
                <a:ea typeface="Aptos"/>
                <a:cs typeface="Aptos"/>
              </a:defRPr>
            </a:pPr>
            <a:r>
              <a:rPr sz="1350" b="0">
                <a:solidFill>
                  <a:srgbClr val="5C6F7F"/>
                </a:solidFill>
                <a:latin typeface="Aptos"/>
                <a:ea typeface="Aptos"/>
                <a:cs typeface="Aptos"/>
              </a:rPr>
              <a:t>CMA Part 1. Supplied course outline. Subunit references shown.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0000002-0001-4000-8000-000000000000}"/>
              </a:ext>
            </a:extLst>
          </p:cNvPr>
          <p:cNvSpPr>
            <a:spLocks noGrp="1"/>
          </p:cNvSpPr>
          <p:nvPr/>
        </p:nvSpPr>
        <p:spPr>
          <a:xfrm>
            <a:off x="762000" y="542925"/>
            <a:ext cx="13811250" cy="666750"/>
          </a:xfrm>
          <a:prstGeom prst="rect">
            <a:avLst/>
          </a:prstGeom>
          <a:noFill/>
          <a:ln w="0">
            <a:noFill/>
          </a:ln>
        </p:spPr>
        <p:txBody>
          <a:bodyPr wrap="square">
            <a:noAutofit/>
          </a:bodyPr>
          <a:lstStyle/>
          <a:p>
            <a:pPr>
              <a:defRPr sz="3675" b="1">
                <a:solidFill>
                  <a:srgbClr val="122C49"/>
                </a:solidFill>
                <a:latin typeface="Aptos"/>
                <a:ea typeface="Aptos"/>
                <a:cs typeface="Aptos"/>
              </a:defRPr>
            </a:pPr>
            <a:r>
              <a:rPr lang="en-US" sz="3675" b="1">
                <a:solidFill>
                  <a:srgbClr val="122C49"/>
                </a:solidFill>
                <a:latin typeface="Aptos"/>
                <a:ea typeface="Aptos"/>
                <a:cs typeface="Aptos"/>
              </a:rPr>
              <a:t>External Financial Reporting Review</a:t>
            </a:r>
          </a:p>
        </p:txBody>
      </p:sp>
      <p:sp>
        <p:nvSpPr>
          <p:cNvPr id="2" name="Rectangle 1">
            <a:extLst>
              <a:ext uri="{FF2B5EF4-FFF2-40B4-BE49-F238E27FC236}">
                <a16:creationId xmlns:a16="http://schemas.microsoft.com/office/drawing/2014/main" id="{00000002-0002-4000-8000-000000000000}"/>
              </a:ext>
            </a:extLst>
          </p:cNvPr>
          <p:cNvSpPr>
            <a:spLocks noGrp="1"/>
          </p:cNvSpPr>
          <p:nvPr/>
        </p:nvSpPr>
        <p:spPr>
          <a:xfrm>
            <a:off x="762000" y="1185862"/>
            <a:ext cx="13811250" cy="400050"/>
          </a:xfrm>
          <a:prstGeom prst="rect">
            <a:avLst/>
          </a:prstGeom>
          <a:noFill/>
          <a:ln w="0">
            <a:noFill/>
          </a:ln>
        </p:spPr>
        <p:txBody>
          <a:bodyPr wrap="square">
            <a:noAutofit/>
          </a:bodyPr>
          <a:lstStyle/>
          <a:p>
            <a:pPr>
              <a:defRPr sz="2025" b="0">
                <a:solidFill>
                  <a:srgbClr val="007F83"/>
                </a:solidFill>
                <a:latin typeface="Aptos"/>
                <a:ea typeface="Aptos"/>
                <a:cs typeface="Aptos"/>
              </a:defRPr>
            </a:pPr>
            <a:r>
              <a:rPr lang="en-US" sz="2400" b="0">
                <a:solidFill>
                  <a:srgbClr val="007F83"/>
                </a:solidFill>
                <a:latin typeface="Aptos"/>
                <a:ea typeface="Aptos"/>
                <a:cs typeface="Aptos"/>
              </a:rPr>
              <a:t>26 March 2027   /   Session 13</a:t>
            </a:r>
          </a:p>
        </p:txBody>
      </p:sp>
      <p:graphicFrame>
        <p:nvGraphicFramePr>
          <p:cNvPr id="3" name="Table 2"/>
          <p:cNvGraphicFramePr/>
          <p:nvPr>
            <p:extLst>
              <p:ext uri="{D42A27DB-BD31-4B8C-83A1-F6EECF244321}">
                <p14:modId xmlns:p14="http://schemas.microsoft.com/office/powerpoint/2010/main" val="3331498410"/>
              </p:ext>
            </p:extLst>
          </p:nvPr>
        </p:nvGraphicFramePr>
        <p:xfrm>
          <a:off x="762000" y="2028825"/>
          <a:ext cx="13811251" cy="2232660"/>
        </p:xfrm>
        <a:graphic>
          <a:graphicData uri="http://schemas.openxmlformats.org/drawingml/2006/table">
            <a:tbl>
              <a:tblPr/>
              <a:tblGrid>
                <a:gridCol w="1962652">
                  <a:extLst>
                    <a:ext uri="{9D8B030D-6E8A-4147-A177-3AD203B41FA5}">
                      <a16:colId xmlns:a16="http://schemas.microsoft.com/office/drawing/2014/main" val="20000"/>
                    </a:ext>
                  </a:extLst>
                </a:gridCol>
                <a:gridCol w="4984248">
                  <a:extLst>
                    <a:ext uri="{9D8B030D-6E8A-4147-A177-3AD203B41FA5}">
                      <a16:colId xmlns:a16="http://schemas.microsoft.com/office/drawing/2014/main" val="20001"/>
                    </a:ext>
                  </a:extLst>
                </a:gridCol>
                <a:gridCol w="5172911">
                  <a:extLst>
                    <a:ext uri="{9D8B030D-6E8A-4147-A177-3AD203B41FA5}">
                      <a16:colId xmlns:a16="http://schemas.microsoft.com/office/drawing/2014/main" val="20002"/>
                    </a:ext>
                  </a:extLst>
                </a:gridCol>
                <a:gridCol w="1691440">
                  <a:extLst>
                    <a:ext uri="{9D8B030D-6E8A-4147-A177-3AD203B41FA5}">
                      <a16:colId xmlns:a16="http://schemas.microsoft.com/office/drawing/2014/main" val="20003"/>
                    </a:ext>
                  </a:extLst>
                </a:gridCol>
              </a:tblGrid>
              <a:tr h="514350">
                <a:tc>
                  <a:txBody>
                    <a:bodyPr/>
                    <a:lstStyle/>
                    <a:p>
                      <a:pPr algn="ctr"/>
                      <a:r>
                        <a:rPr lang="en-US" sz="1800" b="1">
                          <a:solidFill>
                            <a:srgbClr val="FFFFFF"/>
                          </a:solidFill>
                          <a:latin typeface="Aptos"/>
                          <a:ea typeface="Aptos"/>
                          <a:cs typeface="Aptos"/>
                        </a:rPr>
                        <a:t>Session / date</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Study unit</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Coverage and practice</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Subunits</a:t>
                      </a:r>
                    </a:p>
                  </a:txBody>
                  <a:tcPr marL="133350" marR="133350" marT="133350" marB="133350" anchor="ctr">
                    <a:solidFill>
                      <a:srgbClr val="122C49"/>
                    </a:solidFill>
                  </a:tcPr>
                </a:tc>
                <a:extLst>
                  <a:ext uri="{0D108BD9-81ED-4DB2-BD59-A6C34878D82A}">
                    <a16:rowId xmlns:a16="http://schemas.microsoft.com/office/drawing/2014/main" val="10000"/>
                  </a:ext>
                </a:extLst>
              </a:tr>
              <a:tr h="1691640">
                <a:tc>
                  <a:txBody>
                    <a:bodyPr/>
                    <a:lstStyle/>
                    <a:p>
                      <a:r>
                        <a:rPr lang="fr-FR" sz="1800" b="1">
                          <a:solidFill>
                            <a:srgbClr val="007F83"/>
                          </a:solidFill>
                          <a:latin typeface="Aptos"/>
                          <a:ea typeface="Aptos"/>
                          <a:cs typeface="Aptos"/>
                        </a:rPr>
                        <a:t>13</a:t>
                      </a:r>
                    </a:p>
                    <a:p>
                      <a:r>
                        <a:rPr lang="fr-FR" sz="1800" b="1">
                          <a:solidFill>
                            <a:srgbClr val="007F83"/>
                          </a:solidFill>
                          <a:latin typeface="Aptos"/>
                          <a:ea typeface="Aptos"/>
                          <a:cs typeface="Aptos"/>
                        </a:rPr>
                        <a:t>Fri 26 Mar</a:t>
                      </a:r>
                    </a:p>
                    <a:p>
                      <a:r>
                        <a:rPr lang="fr-FR" sz="1800" b="1">
                          <a:solidFill>
                            <a:srgbClr val="007F83"/>
                          </a:solidFill>
                          <a:latin typeface="Aptos"/>
                          <a:ea typeface="Aptos"/>
                          <a:cs typeface="Aptos"/>
                        </a:rPr>
                        <a:t>2027</a:t>
                      </a:r>
                    </a:p>
                  </a:txBody>
                  <a:tcPr marL="133350" marR="133350" marT="133350" marB="133350" anchor="ctr">
                    <a:solidFill>
                      <a:srgbClr val="F3F7F9"/>
                    </a:solidFill>
                  </a:tcPr>
                </a:tc>
                <a:tc>
                  <a:txBody>
                    <a:bodyPr/>
                    <a:lstStyle/>
                    <a:p>
                      <a:r>
                        <a:rPr lang="en-US" sz="1800" b="1">
                          <a:solidFill>
                            <a:srgbClr val="122C49"/>
                          </a:solidFill>
                          <a:latin typeface="Aptos"/>
                          <a:ea typeface="Aptos"/>
                          <a:cs typeface="Aptos"/>
                        </a:rPr>
                        <a:t>External Financial Reporting Review</a:t>
                      </a:r>
                    </a:p>
                  </a:txBody>
                  <a:tcPr marL="133350" marR="133350" marT="133350" marB="133350" anchor="ctr">
                    <a:solidFill>
                      <a:srgbClr val="F3F7F9"/>
                    </a:solidFill>
                  </a:tcPr>
                </a:tc>
                <a:tc>
                  <a:txBody>
                    <a:bodyPr/>
                    <a:lstStyle/>
                    <a:p>
                      <a:pPr marL="285750" indent="-285750">
                        <a:buFont typeface="Arial" panose="020B0604020202020204" pitchFamily="34" charset="0"/>
                        <a:buChar char="•"/>
                      </a:pPr>
                      <a:r>
                        <a:rPr lang="en-US" sz="1800">
                          <a:solidFill>
                            <a:srgbClr val="233B50"/>
                          </a:solidFill>
                          <a:latin typeface="Aptos"/>
                          <a:ea typeface="Aptos"/>
                          <a:cs typeface="Aptos"/>
                        </a:rPr>
                        <a:t>Review Units 1–6 in source order.</a:t>
                      </a:r>
                    </a:p>
                    <a:p>
                      <a:pPr marL="285750" indent="-285750">
                        <a:buFont typeface="Arial" panose="020B0604020202020204" pitchFamily="34" charset="0"/>
                        <a:buChar char="•"/>
                      </a:pPr>
                      <a:r>
                        <a:rPr lang="en-US" sz="1800">
                          <a:solidFill>
                            <a:srgbClr val="233B50"/>
                          </a:solidFill>
                          <a:latin typeface="Aptos"/>
                          <a:ea typeface="Aptos"/>
                          <a:cs typeface="Aptos"/>
                        </a:rPr>
                        <a:t>Complete mixed practice on statements, measurement and recognition.</a:t>
                      </a:r>
                    </a:p>
                    <a:p>
                      <a:pPr marL="285750" indent="-285750">
                        <a:buFont typeface="Arial" panose="020B0604020202020204" pitchFamily="34" charset="0"/>
                        <a:buChar char="•"/>
                      </a:pPr>
                      <a:r>
                        <a:rPr lang="en-US" sz="1800">
                          <a:solidFill>
                            <a:srgbClr val="233B50"/>
                          </a:solidFill>
                          <a:latin typeface="Aptos"/>
                          <a:ea typeface="Aptos"/>
                          <a:cs typeface="Aptos"/>
                        </a:rPr>
                        <a:t>Correct errors and revisit integrated reporting concepts.</a:t>
                      </a:r>
                    </a:p>
                  </a:txBody>
                  <a:tcPr marL="133350" marR="133350" marT="133350" marB="133350" anchor="ctr">
                    <a:solidFill>
                      <a:srgbClr val="F3F7F9"/>
                    </a:solidFill>
                  </a:tcPr>
                </a:tc>
                <a:tc>
                  <a:txBody>
                    <a:bodyPr/>
                    <a:lstStyle/>
                    <a:p>
                      <a:pPr algn="ctr"/>
                      <a:r>
                        <a:rPr lang="en-US" sz="1800">
                          <a:solidFill>
                            <a:srgbClr val="233B50"/>
                          </a:solidFill>
                          <a:latin typeface="Aptos"/>
                          <a:ea typeface="Aptos"/>
                          <a:cs typeface="Aptos"/>
                        </a:rPr>
                        <a:t>Units 1–6</a:t>
                      </a:r>
                    </a:p>
                  </a:txBody>
                  <a:tcPr marL="133350" marR="133350" marT="133350" marB="133350" anchor="ctr">
                    <a:solidFill>
                      <a:srgbClr val="F3F7F9"/>
                    </a:solidFill>
                  </a:tcPr>
                </a:tc>
                <a:extLst>
                  <a:ext uri="{0D108BD9-81ED-4DB2-BD59-A6C34878D82A}">
                    <a16:rowId xmlns:a16="http://schemas.microsoft.com/office/drawing/2014/main" val="10004"/>
                  </a:ext>
                </a:extLst>
              </a:tr>
            </a:tbl>
          </a:graphicData>
        </a:graphic>
      </p:graphicFrame>
      <p:sp>
        <p:nvSpPr>
          <p:cNvPr id="5" name="Rectangle 4">
            <a:extLst>
              <a:ext uri="{FF2B5EF4-FFF2-40B4-BE49-F238E27FC236}">
                <a16:creationId xmlns:a16="http://schemas.microsoft.com/office/drawing/2014/main" id="{00000002-0004-4000-8000-000000000000}"/>
              </a:ext>
            </a:extLst>
          </p:cNvPr>
          <p:cNvSpPr>
            <a:spLocks noGrp="1"/>
          </p:cNvSpPr>
          <p:nvPr/>
        </p:nvSpPr>
        <p:spPr>
          <a:xfrm>
            <a:off x="13811250" y="8077200"/>
            <a:ext cx="666750" cy="285750"/>
          </a:xfrm>
          <a:prstGeom prst="rect">
            <a:avLst/>
          </a:prstGeom>
          <a:noFill/>
          <a:ln w="0">
            <a:noFill/>
          </a:ln>
        </p:spPr>
        <p:txBody>
          <a:bodyPr wrap="square">
            <a:noAutofit/>
          </a:bodyPr>
          <a:lstStyle/>
          <a:p>
            <a:pPr>
              <a:defRPr sz="1350" b="0">
                <a:solidFill>
                  <a:srgbClr val="5C6F7F"/>
                </a:solidFill>
                <a:latin typeface="Aptos"/>
                <a:ea typeface="Aptos"/>
                <a:cs typeface="Aptos"/>
              </a:defRPr>
            </a:pPr>
            <a:r>
              <a:rPr lang="en-US" sz="1350" b="0">
                <a:solidFill>
                  <a:srgbClr val="5C6F7F"/>
                </a:solidFill>
                <a:latin typeface="Aptos"/>
                <a:ea typeface="Aptos"/>
                <a:cs typeface="Aptos"/>
              </a:rPr>
              <a:t>23</a:t>
            </a:r>
          </a:p>
        </p:txBody>
      </p:sp>
      <p:sp>
        <p:nvSpPr>
          <p:cNvPr id="7" name="Section exam weighting">
            <a:extLst>
              <a:ext uri="{FF2B5EF4-FFF2-40B4-BE49-F238E27FC236}">
                <a16:creationId xmlns:a16="http://schemas.microsoft.com/office/drawing/2014/main" id="{00000002-0002-4000-8000-000000000000}"/>
              </a:ext>
            </a:extLst>
          </p:cNvPr>
          <p:cNvSpPr>
            <a:spLocks noGrp="1"/>
          </p:cNvSpPr>
          <p:nvPr/>
        </p:nvSpPr>
        <p:spPr>
          <a:xfrm>
            <a:off x="762000" y="1657350"/>
            <a:ext cx="13811250" cy="276225"/>
          </a:xfrm>
          <a:prstGeom prst="rect">
            <a:avLst/>
          </a:prstGeom>
          <a:noFill/>
          <a:ln w="0">
            <a:noFill/>
          </a:ln>
        </p:spPr>
        <p:txBody>
          <a:bodyPr wrap="square" tIns="0" bIns="0">
            <a:noAutofit/>
          </a:bodyPr>
          <a:lstStyle/>
          <a:p>
            <a:pPr>
              <a:defRPr sz="2025" b="0">
                <a:solidFill>
                  <a:srgbClr val="007F83"/>
                </a:solidFill>
                <a:latin typeface="Aptos"/>
                <a:ea typeface="Aptos"/>
                <a:cs typeface="Aptos"/>
              </a:defRPr>
            </a:pPr>
            <a:r>
              <a:rPr lang="en-US" b="1">
                <a:solidFill>
                  <a:srgbClr val="007F83"/>
                </a:solidFill>
                <a:latin typeface="Aptos"/>
                <a:ea typeface="Aptos"/>
                <a:cs typeface="Aptos"/>
              </a:rPr>
              <a:t>Review of Units 1–6. No additional exam weighting.</a:t>
            </a:r>
          </a:p>
        </p:txBody>
      </p:sp>
      <p:sp>
        <p:nvSpPr>
          <p:cNvPr id="9" name="Rectangle 8">
            <a:extLst>
              <a:ext uri="{FF2B5EF4-FFF2-40B4-BE49-F238E27FC236}">
                <a16:creationId xmlns:a16="http://schemas.microsoft.com/office/drawing/2014/main" id="{BE725FD6-97E3-715A-F73C-03C97340D799}"/>
              </a:ext>
            </a:extLst>
          </p:cNvPr>
          <p:cNvSpPr>
            <a:spLocks noGrp="1"/>
          </p:cNvSpPr>
          <p:nvPr/>
        </p:nvSpPr>
        <p:spPr>
          <a:xfrm>
            <a:off x="762000" y="8077200"/>
            <a:ext cx="11430000" cy="285750"/>
          </a:xfrm>
          <a:prstGeom prst="rect">
            <a:avLst/>
          </a:prstGeom>
          <a:noFill/>
          <a:ln w="0">
            <a:noFill/>
          </a:ln>
        </p:spPr>
        <p:txBody>
          <a:bodyPr wrap="square">
            <a:noAutofit/>
          </a:bodyPr>
          <a:lstStyle/>
          <a:p>
            <a:pPr>
              <a:defRPr sz="1350" b="0">
                <a:solidFill>
                  <a:srgbClr val="5C6F7F"/>
                </a:solidFill>
                <a:latin typeface="Aptos"/>
                <a:ea typeface="Aptos"/>
                <a:cs typeface="Aptos"/>
              </a:defRPr>
            </a:pPr>
            <a:r>
              <a:rPr sz="1350" b="0">
                <a:solidFill>
                  <a:srgbClr val="5C6F7F"/>
                </a:solidFill>
                <a:latin typeface="Aptos"/>
                <a:ea typeface="Aptos"/>
                <a:cs typeface="Aptos"/>
              </a:rPr>
              <a:t>CMA Part 1. Supplied course outline. Subunit references shown.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0000002-0001-4000-8000-000000000000}"/>
              </a:ext>
            </a:extLst>
          </p:cNvPr>
          <p:cNvSpPr>
            <a:spLocks noGrp="1"/>
          </p:cNvSpPr>
          <p:nvPr/>
        </p:nvSpPr>
        <p:spPr>
          <a:xfrm>
            <a:off x="762000" y="542925"/>
            <a:ext cx="13811250" cy="666750"/>
          </a:xfrm>
          <a:prstGeom prst="rect">
            <a:avLst/>
          </a:prstGeom>
          <a:noFill/>
          <a:ln w="0">
            <a:noFill/>
          </a:ln>
        </p:spPr>
        <p:txBody>
          <a:bodyPr wrap="square">
            <a:noAutofit/>
          </a:bodyPr>
          <a:lstStyle/>
          <a:p>
            <a:pPr>
              <a:defRPr sz="3675" b="1">
                <a:solidFill>
                  <a:srgbClr val="122C49"/>
                </a:solidFill>
                <a:latin typeface="Aptos"/>
                <a:ea typeface="Aptos"/>
                <a:cs typeface="Aptos"/>
              </a:defRPr>
            </a:pPr>
            <a:r>
              <a:rPr lang="en-US" sz="3675" b="1">
                <a:solidFill>
                  <a:srgbClr val="122C49"/>
                </a:solidFill>
                <a:latin typeface="Aptos"/>
                <a:ea typeface="Aptos"/>
                <a:cs typeface="Aptos"/>
              </a:rPr>
              <a:t>Cost Management</a:t>
            </a:r>
          </a:p>
        </p:txBody>
      </p:sp>
      <p:sp>
        <p:nvSpPr>
          <p:cNvPr id="2" name="Rectangle 1">
            <a:extLst>
              <a:ext uri="{FF2B5EF4-FFF2-40B4-BE49-F238E27FC236}">
                <a16:creationId xmlns:a16="http://schemas.microsoft.com/office/drawing/2014/main" id="{00000002-0002-4000-8000-000000000000}"/>
              </a:ext>
            </a:extLst>
          </p:cNvPr>
          <p:cNvSpPr>
            <a:spLocks noGrp="1"/>
          </p:cNvSpPr>
          <p:nvPr/>
        </p:nvSpPr>
        <p:spPr>
          <a:xfrm>
            <a:off x="762000" y="1185862"/>
            <a:ext cx="13811250" cy="400050"/>
          </a:xfrm>
          <a:prstGeom prst="rect">
            <a:avLst/>
          </a:prstGeom>
          <a:noFill/>
          <a:ln w="0">
            <a:noFill/>
          </a:ln>
        </p:spPr>
        <p:txBody>
          <a:bodyPr wrap="square">
            <a:noAutofit/>
          </a:bodyPr>
          <a:lstStyle/>
          <a:p>
            <a:pPr>
              <a:defRPr sz="2025" b="0">
                <a:solidFill>
                  <a:srgbClr val="007F83"/>
                </a:solidFill>
                <a:latin typeface="Aptos"/>
                <a:ea typeface="Aptos"/>
                <a:cs typeface="Aptos"/>
              </a:defRPr>
            </a:pPr>
            <a:r>
              <a:rPr lang="en-US" sz="2400" b="0">
                <a:solidFill>
                  <a:srgbClr val="007F83"/>
                </a:solidFill>
                <a:latin typeface="Aptos"/>
                <a:ea typeface="Aptos"/>
                <a:cs typeface="Aptos"/>
              </a:rPr>
              <a:t>30 Mar – 02 Apr 2027   /   Sessions 14–15</a:t>
            </a:r>
          </a:p>
        </p:txBody>
      </p:sp>
      <p:graphicFrame>
        <p:nvGraphicFramePr>
          <p:cNvPr id="3" name="Table 2"/>
          <p:cNvGraphicFramePr/>
          <p:nvPr>
            <p:extLst>
              <p:ext uri="{D42A27DB-BD31-4B8C-83A1-F6EECF244321}">
                <p14:modId xmlns:p14="http://schemas.microsoft.com/office/powerpoint/2010/main" val="2274890785"/>
              </p:ext>
            </p:extLst>
          </p:nvPr>
        </p:nvGraphicFramePr>
        <p:xfrm>
          <a:off x="762000" y="2028825"/>
          <a:ext cx="13811251" cy="3924300"/>
        </p:xfrm>
        <a:graphic>
          <a:graphicData uri="http://schemas.openxmlformats.org/drawingml/2006/table">
            <a:tbl>
              <a:tblPr/>
              <a:tblGrid>
                <a:gridCol w="1962652">
                  <a:extLst>
                    <a:ext uri="{9D8B030D-6E8A-4147-A177-3AD203B41FA5}">
                      <a16:colId xmlns:a16="http://schemas.microsoft.com/office/drawing/2014/main" val="20000"/>
                    </a:ext>
                  </a:extLst>
                </a:gridCol>
                <a:gridCol w="4984248">
                  <a:extLst>
                    <a:ext uri="{9D8B030D-6E8A-4147-A177-3AD203B41FA5}">
                      <a16:colId xmlns:a16="http://schemas.microsoft.com/office/drawing/2014/main" val="20001"/>
                    </a:ext>
                  </a:extLst>
                </a:gridCol>
                <a:gridCol w="5172911">
                  <a:extLst>
                    <a:ext uri="{9D8B030D-6E8A-4147-A177-3AD203B41FA5}">
                      <a16:colId xmlns:a16="http://schemas.microsoft.com/office/drawing/2014/main" val="20002"/>
                    </a:ext>
                  </a:extLst>
                </a:gridCol>
                <a:gridCol w="1691440">
                  <a:extLst>
                    <a:ext uri="{9D8B030D-6E8A-4147-A177-3AD203B41FA5}">
                      <a16:colId xmlns:a16="http://schemas.microsoft.com/office/drawing/2014/main" val="20003"/>
                    </a:ext>
                  </a:extLst>
                </a:gridCol>
              </a:tblGrid>
              <a:tr h="514350">
                <a:tc>
                  <a:txBody>
                    <a:bodyPr/>
                    <a:lstStyle/>
                    <a:p>
                      <a:pPr algn="ctr"/>
                      <a:r>
                        <a:rPr lang="en-US" sz="1800" b="1">
                          <a:solidFill>
                            <a:srgbClr val="FFFFFF"/>
                          </a:solidFill>
                          <a:latin typeface="Aptos"/>
                          <a:ea typeface="Aptos"/>
                          <a:cs typeface="Aptos"/>
                        </a:rPr>
                        <a:t>Session / date</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Study unit</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Coverage and practice</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Subunits</a:t>
                      </a:r>
                    </a:p>
                  </a:txBody>
                  <a:tcPr marL="133350" marR="133350" marT="133350" marB="133350" anchor="ctr">
                    <a:solidFill>
                      <a:srgbClr val="122C49"/>
                    </a:solidFill>
                  </a:tcPr>
                </a:tc>
                <a:extLst>
                  <a:ext uri="{0D108BD9-81ED-4DB2-BD59-A6C34878D82A}">
                    <a16:rowId xmlns:a16="http://schemas.microsoft.com/office/drawing/2014/main" val="10000"/>
                  </a:ext>
                </a:extLst>
              </a:tr>
              <a:tr h="1691640">
                <a:tc>
                  <a:txBody>
                    <a:bodyPr/>
                    <a:lstStyle/>
                    <a:p>
                      <a:r>
                        <a:rPr lang="nn-NO" sz="1800" b="1">
                          <a:solidFill>
                            <a:srgbClr val="007F83"/>
                          </a:solidFill>
                          <a:latin typeface="Aptos"/>
                          <a:ea typeface="Aptos"/>
                          <a:cs typeface="Aptos"/>
                        </a:rPr>
                        <a:t>14</a:t>
                      </a:r>
                    </a:p>
                    <a:p>
                      <a:r>
                        <a:rPr lang="nn-NO" sz="1800" b="1">
                          <a:solidFill>
                            <a:srgbClr val="007F83"/>
                          </a:solidFill>
                          <a:latin typeface="Aptos"/>
                          <a:ea typeface="Aptos"/>
                          <a:cs typeface="Aptos"/>
                        </a:rPr>
                        <a:t>Tue 30 Mar</a:t>
                      </a:r>
                    </a:p>
                    <a:p>
                      <a:r>
                        <a:rPr lang="nn-NO" sz="1800" b="1">
                          <a:solidFill>
                            <a:srgbClr val="007F83"/>
                          </a:solidFill>
                          <a:latin typeface="Aptos"/>
                          <a:ea typeface="Aptos"/>
                          <a:cs typeface="Aptos"/>
                        </a:rPr>
                        <a:t>2027</a:t>
                      </a:r>
                    </a:p>
                  </a:txBody>
                  <a:tcPr marL="133350" marR="133350" marT="133350" marB="133350" anchor="ctr">
                    <a:solidFill>
                      <a:srgbClr val="F3F7F9"/>
                    </a:solidFill>
                  </a:tcPr>
                </a:tc>
                <a:tc>
                  <a:txBody>
                    <a:bodyPr/>
                    <a:lstStyle/>
                    <a:p>
                      <a:r>
                        <a:rPr lang="en-US" sz="1800" b="1">
                          <a:solidFill>
                            <a:srgbClr val="122C49"/>
                          </a:solidFill>
                          <a:latin typeface="Aptos"/>
                          <a:ea typeface="Aptos"/>
                          <a:cs typeface="Aptos"/>
                        </a:rPr>
                        <a:t>Unit 7. Cost Management</a:t>
                      </a:r>
                    </a:p>
                    <a:p>
                      <a:r>
                        <a:rPr lang="en-US" sz="1800" b="1">
                          <a:solidFill>
                            <a:srgbClr val="122C49"/>
                          </a:solidFill>
                          <a:latin typeface="Aptos"/>
                          <a:ea typeface="Aptos"/>
                          <a:cs typeface="Aptos"/>
                        </a:rPr>
                        <a:t>Lecture 1 of 2</a:t>
                      </a:r>
                    </a:p>
                  </a:txBody>
                  <a:tcPr marL="133350" marR="133350" marT="133350" marB="133350" anchor="ctr">
                    <a:solidFill>
                      <a:srgbClr val="F3F7F9"/>
                    </a:solidFill>
                  </a:tcPr>
                </a:tc>
                <a:tc>
                  <a:txBody>
                    <a:bodyPr/>
                    <a:lstStyle/>
                    <a:p>
                      <a:pPr marL="285750" indent="-285750">
                        <a:buFont typeface="Arial" panose="020B0604020202020204" pitchFamily="34" charset="0"/>
                        <a:buChar char="•"/>
                      </a:pPr>
                      <a:r>
                        <a:rPr lang="en-US" sz="1800">
                          <a:solidFill>
                            <a:srgbClr val="233B50"/>
                          </a:solidFill>
                          <a:latin typeface="Aptos"/>
                          <a:ea typeface="Aptos"/>
                          <a:cs typeface="Aptos"/>
                        </a:rPr>
                        <a:t>7.1 Cost management terminology.</a:t>
                      </a:r>
                    </a:p>
                    <a:p>
                      <a:pPr marL="285750" indent="-285750">
                        <a:buFont typeface="Arial" panose="020B0604020202020204" pitchFamily="34" charset="0"/>
                        <a:buChar char="•"/>
                      </a:pPr>
                      <a:r>
                        <a:rPr lang="en-US" sz="1800">
                          <a:solidFill>
                            <a:srgbClr val="233B50"/>
                          </a:solidFill>
                          <a:latin typeface="Aptos"/>
                          <a:ea typeface="Aptos"/>
                          <a:cs typeface="Aptos"/>
                        </a:rPr>
                        <a:t>7.2 Cost behavior and relevant range.</a:t>
                      </a:r>
                    </a:p>
                  </a:txBody>
                  <a:tcPr marL="133350" marR="133350" marT="133350" marB="133350" anchor="ctr">
                    <a:solidFill>
                      <a:srgbClr val="F3F7F9"/>
                    </a:solidFill>
                  </a:tcPr>
                </a:tc>
                <a:tc>
                  <a:txBody>
                    <a:bodyPr/>
                    <a:lstStyle/>
                    <a:p>
                      <a:pPr algn="ctr"/>
                      <a:r>
                        <a:rPr lang="en-US" sz="1800">
                          <a:solidFill>
                            <a:srgbClr val="233B50"/>
                          </a:solidFill>
                          <a:latin typeface="Aptos"/>
                          <a:ea typeface="Aptos"/>
                          <a:cs typeface="Aptos"/>
                        </a:rPr>
                        <a:t>7.1–7.2</a:t>
                      </a:r>
                    </a:p>
                  </a:txBody>
                  <a:tcPr marL="133350" marR="133350" marT="133350" marB="133350" anchor="ctr">
                    <a:solidFill>
                      <a:srgbClr val="F3F7F9"/>
                    </a:solidFill>
                  </a:tcPr>
                </a:tc>
                <a:extLst>
                  <a:ext uri="{0D108BD9-81ED-4DB2-BD59-A6C34878D82A}">
                    <a16:rowId xmlns:a16="http://schemas.microsoft.com/office/drawing/2014/main" val="10001"/>
                  </a:ext>
                </a:extLst>
              </a:tr>
              <a:tr h="1691640">
                <a:tc>
                  <a:txBody>
                    <a:bodyPr/>
                    <a:lstStyle/>
                    <a:p>
                      <a:r>
                        <a:rPr lang="fr-FR" sz="1800" b="1">
                          <a:solidFill>
                            <a:srgbClr val="007F83"/>
                          </a:solidFill>
                          <a:latin typeface="Aptos"/>
                          <a:ea typeface="Aptos"/>
                          <a:cs typeface="Aptos"/>
                        </a:rPr>
                        <a:t>15</a:t>
                      </a:r>
                    </a:p>
                    <a:p>
                      <a:r>
                        <a:rPr lang="fr-FR" sz="1800" b="1">
                          <a:solidFill>
                            <a:srgbClr val="007F83"/>
                          </a:solidFill>
                          <a:latin typeface="Aptos"/>
                          <a:ea typeface="Aptos"/>
                          <a:cs typeface="Aptos"/>
                        </a:rPr>
                        <a:t>Fri 02 Apr</a:t>
                      </a:r>
                    </a:p>
                    <a:p>
                      <a:r>
                        <a:rPr lang="fr-FR" sz="1800" b="1">
                          <a:solidFill>
                            <a:srgbClr val="007F83"/>
                          </a:solidFill>
                          <a:latin typeface="Aptos"/>
                          <a:ea typeface="Aptos"/>
                          <a:cs typeface="Aptos"/>
                        </a:rPr>
                        <a:t>2027</a:t>
                      </a:r>
                    </a:p>
                  </a:txBody>
                  <a:tcPr marL="133350" marR="133350" marT="133350" marB="133350" anchor="ctr">
                    <a:solidFill>
                      <a:srgbClr val="FFFFFF"/>
                    </a:solidFill>
                  </a:tcPr>
                </a:tc>
                <a:tc>
                  <a:txBody>
                    <a:bodyPr/>
                    <a:lstStyle/>
                    <a:p>
                      <a:r>
                        <a:rPr lang="en-US" sz="1800" b="1">
                          <a:solidFill>
                            <a:srgbClr val="122C49"/>
                          </a:solidFill>
                          <a:latin typeface="Aptos"/>
                          <a:ea typeface="Aptos"/>
                          <a:cs typeface="Aptos"/>
                        </a:rPr>
                        <a:t>Unit 7. Cost Management</a:t>
                      </a:r>
                    </a:p>
                    <a:p>
                      <a:r>
                        <a:rPr lang="en-US" sz="1800" b="1">
                          <a:solidFill>
                            <a:srgbClr val="122C49"/>
                          </a:solidFill>
                          <a:latin typeface="Aptos"/>
                          <a:ea typeface="Aptos"/>
                          <a:cs typeface="Aptos"/>
                        </a:rPr>
                        <a:t>Lecture 2 of 2</a:t>
                      </a:r>
                    </a:p>
                  </a:txBody>
                  <a:tcPr marL="133350" marR="133350" marT="133350" marB="133350" anchor="ctr">
                    <a:solidFill>
                      <a:srgbClr val="FFFFFF"/>
                    </a:solidFill>
                  </a:tcPr>
                </a:tc>
                <a:tc>
                  <a:txBody>
                    <a:bodyPr/>
                    <a:lstStyle/>
                    <a:p>
                      <a:pPr marL="285750" indent="-285750">
                        <a:buFont typeface="Arial" panose="020B0604020202020204" pitchFamily="34" charset="0"/>
                        <a:buChar char="•"/>
                      </a:pPr>
                      <a:r>
                        <a:rPr lang="en-US" sz="1800">
                          <a:solidFill>
                            <a:srgbClr val="233B50"/>
                          </a:solidFill>
                          <a:latin typeface="Aptos"/>
                          <a:ea typeface="Aptos"/>
                          <a:cs typeface="Aptos"/>
                        </a:rPr>
                        <a:t>7.3 Costing techniques.</a:t>
                      </a:r>
                    </a:p>
                    <a:p>
                      <a:pPr marL="285750" indent="-285750">
                        <a:buFont typeface="Arial" panose="020B0604020202020204" pitchFamily="34" charset="0"/>
                        <a:buChar char="•"/>
                      </a:pPr>
                      <a:r>
                        <a:rPr lang="en-US" sz="1800">
                          <a:solidFill>
                            <a:srgbClr val="233B50"/>
                          </a:solidFill>
                          <a:latin typeface="Aptos"/>
                          <a:ea typeface="Aptos"/>
                          <a:cs typeface="Aptos"/>
                        </a:rPr>
                        <a:t>7.4 Absorption and variable costing.</a:t>
                      </a:r>
                    </a:p>
                  </a:txBody>
                  <a:tcPr marL="133350" marR="133350" marT="133350" marB="133350" anchor="ctr">
                    <a:solidFill>
                      <a:srgbClr val="FFFFFF"/>
                    </a:solidFill>
                  </a:tcPr>
                </a:tc>
                <a:tc>
                  <a:txBody>
                    <a:bodyPr/>
                    <a:lstStyle/>
                    <a:p>
                      <a:pPr algn="ctr"/>
                      <a:r>
                        <a:rPr lang="en-US" sz="1800">
                          <a:solidFill>
                            <a:srgbClr val="233B50"/>
                          </a:solidFill>
                          <a:latin typeface="Aptos"/>
                          <a:ea typeface="Aptos"/>
                          <a:cs typeface="Aptos"/>
                        </a:rPr>
                        <a:t>7.3–7.4</a:t>
                      </a:r>
                    </a:p>
                  </a:txBody>
                  <a:tcPr marL="133350" marR="133350" marT="133350" marB="133350" anchor="ctr">
                    <a:solidFill>
                      <a:srgbClr val="FFFFFF"/>
                    </a:solidFill>
                  </a:tcPr>
                </a:tc>
                <a:extLst>
                  <a:ext uri="{0D108BD9-81ED-4DB2-BD59-A6C34878D82A}">
                    <a16:rowId xmlns:a16="http://schemas.microsoft.com/office/drawing/2014/main" val="10002"/>
                  </a:ext>
                </a:extLst>
              </a:tr>
            </a:tbl>
          </a:graphicData>
        </a:graphic>
      </p:graphicFrame>
      <p:sp>
        <p:nvSpPr>
          <p:cNvPr id="5" name="Rectangle 4">
            <a:extLst>
              <a:ext uri="{FF2B5EF4-FFF2-40B4-BE49-F238E27FC236}">
                <a16:creationId xmlns:a16="http://schemas.microsoft.com/office/drawing/2014/main" id="{00000002-0004-4000-8000-000000000000}"/>
              </a:ext>
            </a:extLst>
          </p:cNvPr>
          <p:cNvSpPr>
            <a:spLocks noGrp="1"/>
          </p:cNvSpPr>
          <p:nvPr/>
        </p:nvSpPr>
        <p:spPr>
          <a:xfrm>
            <a:off x="13811250" y="8077200"/>
            <a:ext cx="666750" cy="285750"/>
          </a:xfrm>
          <a:prstGeom prst="rect">
            <a:avLst/>
          </a:prstGeom>
          <a:noFill/>
          <a:ln w="0">
            <a:noFill/>
          </a:ln>
        </p:spPr>
        <p:txBody>
          <a:bodyPr wrap="square">
            <a:noAutofit/>
          </a:bodyPr>
          <a:lstStyle/>
          <a:p>
            <a:pPr>
              <a:defRPr sz="1350" b="0">
                <a:solidFill>
                  <a:srgbClr val="5C6F7F"/>
                </a:solidFill>
                <a:latin typeface="Aptos"/>
                <a:ea typeface="Aptos"/>
                <a:cs typeface="Aptos"/>
              </a:defRPr>
            </a:pPr>
            <a:r>
              <a:rPr lang="en-US" sz="1350" b="0">
                <a:solidFill>
                  <a:srgbClr val="5C6F7F"/>
                </a:solidFill>
                <a:latin typeface="Aptos"/>
                <a:ea typeface="Aptos"/>
                <a:cs typeface="Aptos"/>
              </a:rPr>
              <a:t>24</a:t>
            </a:r>
          </a:p>
        </p:txBody>
      </p:sp>
      <p:sp>
        <p:nvSpPr>
          <p:cNvPr id="7" name="Section exam weighting">
            <a:extLst>
              <a:ext uri="{FF2B5EF4-FFF2-40B4-BE49-F238E27FC236}">
                <a16:creationId xmlns:a16="http://schemas.microsoft.com/office/drawing/2014/main" id="{00000002-0002-4000-8000-000000000000}"/>
              </a:ext>
            </a:extLst>
          </p:cNvPr>
          <p:cNvSpPr>
            <a:spLocks noGrp="1"/>
          </p:cNvSpPr>
          <p:nvPr/>
        </p:nvSpPr>
        <p:spPr>
          <a:xfrm>
            <a:off x="762000" y="1657350"/>
            <a:ext cx="13811250" cy="276225"/>
          </a:xfrm>
          <a:prstGeom prst="rect">
            <a:avLst/>
          </a:prstGeom>
          <a:noFill/>
          <a:ln w="0">
            <a:noFill/>
          </a:ln>
        </p:spPr>
        <p:txBody>
          <a:bodyPr wrap="square" tIns="0" bIns="0">
            <a:noAutofit/>
          </a:bodyPr>
          <a:lstStyle/>
          <a:p>
            <a:pPr>
              <a:defRPr sz="2025" b="0">
                <a:solidFill>
                  <a:srgbClr val="007F83"/>
                </a:solidFill>
                <a:latin typeface="Aptos"/>
                <a:ea typeface="Aptos"/>
                <a:cs typeface="Aptos"/>
              </a:defRPr>
            </a:pPr>
            <a:r>
              <a:rPr lang="en-US" b="1">
                <a:solidFill>
                  <a:srgbClr val="007F83"/>
                </a:solidFill>
                <a:latin typeface="Aptos"/>
                <a:ea typeface="Aptos"/>
                <a:cs typeface="Aptos"/>
              </a:rPr>
              <a:t>Section exam weight: Cost Management 15%</a:t>
            </a:r>
          </a:p>
        </p:txBody>
      </p:sp>
      <p:sp>
        <p:nvSpPr>
          <p:cNvPr id="9" name="Rectangle 8">
            <a:extLst>
              <a:ext uri="{FF2B5EF4-FFF2-40B4-BE49-F238E27FC236}">
                <a16:creationId xmlns:a16="http://schemas.microsoft.com/office/drawing/2014/main" id="{769240ED-E110-FFA2-96F6-9619968F0D03}"/>
              </a:ext>
            </a:extLst>
          </p:cNvPr>
          <p:cNvSpPr>
            <a:spLocks noGrp="1"/>
          </p:cNvSpPr>
          <p:nvPr/>
        </p:nvSpPr>
        <p:spPr>
          <a:xfrm>
            <a:off x="762000" y="8077200"/>
            <a:ext cx="11430000" cy="285750"/>
          </a:xfrm>
          <a:prstGeom prst="rect">
            <a:avLst/>
          </a:prstGeom>
          <a:noFill/>
          <a:ln w="0">
            <a:noFill/>
          </a:ln>
        </p:spPr>
        <p:txBody>
          <a:bodyPr wrap="square">
            <a:noAutofit/>
          </a:bodyPr>
          <a:lstStyle/>
          <a:p>
            <a:pPr>
              <a:defRPr sz="1350" b="0">
                <a:solidFill>
                  <a:srgbClr val="5C6F7F"/>
                </a:solidFill>
                <a:latin typeface="Aptos"/>
                <a:ea typeface="Aptos"/>
                <a:cs typeface="Aptos"/>
              </a:defRPr>
            </a:pPr>
            <a:r>
              <a:rPr sz="1350" b="0">
                <a:solidFill>
                  <a:srgbClr val="5C6F7F"/>
                </a:solidFill>
                <a:latin typeface="Aptos"/>
                <a:ea typeface="Aptos"/>
                <a:cs typeface="Aptos"/>
              </a:rPr>
              <a:t>CMA Part 1. Supplied course outline. Subunit references shown.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0000002-0001-4000-8000-000000000000}"/>
              </a:ext>
            </a:extLst>
          </p:cNvPr>
          <p:cNvSpPr>
            <a:spLocks noGrp="1"/>
          </p:cNvSpPr>
          <p:nvPr/>
        </p:nvSpPr>
        <p:spPr>
          <a:xfrm>
            <a:off x="762000" y="542925"/>
            <a:ext cx="13811250" cy="666750"/>
          </a:xfrm>
          <a:prstGeom prst="rect">
            <a:avLst/>
          </a:prstGeom>
          <a:noFill/>
          <a:ln w="0">
            <a:noFill/>
          </a:ln>
        </p:spPr>
        <p:txBody>
          <a:bodyPr wrap="square">
            <a:noAutofit/>
          </a:bodyPr>
          <a:lstStyle/>
          <a:p>
            <a:pPr>
              <a:defRPr sz="3675" b="1">
                <a:solidFill>
                  <a:srgbClr val="122C49"/>
                </a:solidFill>
                <a:latin typeface="Aptos"/>
                <a:ea typeface="Aptos"/>
                <a:cs typeface="Aptos"/>
              </a:defRPr>
            </a:pPr>
            <a:r>
              <a:rPr lang="en-US" sz="3675" b="1">
                <a:solidFill>
                  <a:srgbClr val="122C49"/>
                </a:solidFill>
                <a:latin typeface="Aptos"/>
                <a:ea typeface="Aptos"/>
                <a:cs typeface="Aptos"/>
              </a:rPr>
              <a:t>Cost Management</a:t>
            </a:r>
          </a:p>
        </p:txBody>
      </p:sp>
      <p:sp>
        <p:nvSpPr>
          <p:cNvPr id="2" name="Rectangle 1">
            <a:extLst>
              <a:ext uri="{FF2B5EF4-FFF2-40B4-BE49-F238E27FC236}">
                <a16:creationId xmlns:a16="http://schemas.microsoft.com/office/drawing/2014/main" id="{00000002-0002-4000-8000-000000000000}"/>
              </a:ext>
            </a:extLst>
          </p:cNvPr>
          <p:cNvSpPr>
            <a:spLocks noGrp="1"/>
          </p:cNvSpPr>
          <p:nvPr/>
        </p:nvSpPr>
        <p:spPr>
          <a:xfrm>
            <a:off x="762000" y="1185862"/>
            <a:ext cx="13811250" cy="400050"/>
          </a:xfrm>
          <a:prstGeom prst="rect">
            <a:avLst/>
          </a:prstGeom>
          <a:noFill/>
          <a:ln w="0">
            <a:noFill/>
          </a:ln>
        </p:spPr>
        <p:txBody>
          <a:bodyPr wrap="square">
            <a:noAutofit/>
          </a:bodyPr>
          <a:lstStyle/>
          <a:p>
            <a:pPr>
              <a:defRPr sz="2025" b="0">
                <a:solidFill>
                  <a:srgbClr val="007F83"/>
                </a:solidFill>
                <a:latin typeface="Aptos"/>
                <a:ea typeface="Aptos"/>
                <a:cs typeface="Aptos"/>
              </a:defRPr>
            </a:pPr>
            <a:r>
              <a:rPr lang="en-US" sz="2400" b="0">
                <a:solidFill>
                  <a:srgbClr val="007F83"/>
                </a:solidFill>
                <a:latin typeface="Aptos"/>
                <a:ea typeface="Aptos"/>
                <a:cs typeface="Aptos"/>
              </a:rPr>
              <a:t>6–9 April 2027   /   Sessions 16–17</a:t>
            </a:r>
          </a:p>
        </p:txBody>
      </p:sp>
      <p:graphicFrame>
        <p:nvGraphicFramePr>
          <p:cNvPr id="3" name="Table 2"/>
          <p:cNvGraphicFramePr/>
          <p:nvPr>
            <p:extLst>
              <p:ext uri="{D42A27DB-BD31-4B8C-83A1-F6EECF244321}">
                <p14:modId xmlns:p14="http://schemas.microsoft.com/office/powerpoint/2010/main" val="1356992201"/>
              </p:ext>
            </p:extLst>
          </p:nvPr>
        </p:nvGraphicFramePr>
        <p:xfrm>
          <a:off x="762000" y="2028825"/>
          <a:ext cx="13811251" cy="3924300"/>
        </p:xfrm>
        <a:graphic>
          <a:graphicData uri="http://schemas.openxmlformats.org/drawingml/2006/table">
            <a:tbl>
              <a:tblPr/>
              <a:tblGrid>
                <a:gridCol w="1962652">
                  <a:extLst>
                    <a:ext uri="{9D8B030D-6E8A-4147-A177-3AD203B41FA5}">
                      <a16:colId xmlns:a16="http://schemas.microsoft.com/office/drawing/2014/main" val="20000"/>
                    </a:ext>
                  </a:extLst>
                </a:gridCol>
                <a:gridCol w="4984248">
                  <a:extLst>
                    <a:ext uri="{9D8B030D-6E8A-4147-A177-3AD203B41FA5}">
                      <a16:colId xmlns:a16="http://schemas.microsoft.com/office/drawing/2014/main" val="20001"/>
                    </a:ext>
                  </a:extLst>
                </a:gridCol>
                <a:gridCol w="5172911">
                  <a:extLst>
                    <a:ext uri="{9D8B030D-6E8A-4147-A177-3AD203B41FA5}">
                      <a16:colId xmlns:a16="http://schemas.microsoft.com/office/drawing/2014/main" val="20002"/>
                    </a:ext>
                  </a:extLst>
                </a:gridCol>
                <a:gridCol w="1691440">
                  <a:extLst>
                    <a:ext uri="{9D8B030D-6E8A-4147-A177-3AD203B41FA5}">
                      <a16:colId xmlns:a16="http://schemas.microsoft.com/office/drawing/2014/main" val="20003"/>
                    </a:ext>
                  </a:extLst>
                </a:gridCol>
              </a:tblGrid>
              <a:tr h="514350">
                <a:tc>
                  <a:txBody>
                    <a:bodyPr/>
                    <a:lstStyle/>
                    <a:p>
                      <a:pPr algn="ctr"/>
                      <a:r>
                        <a:rPr lang="en-US" sz="1800" b="1">
                          <a:solidFill>
                            <a:srgbClr val="FFFFFF"/>
                          </a:solidFill>
                          <a:latin typeface="Aptos"/>
                          <a:ea typeface="Aptos"/>
                          <a:cs typeface="Aptos"/>
                        </a:rPr>
                        <a:t>Session / date</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Study unit</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Coverage and practice</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Subunits</a:t>
                      </a:r>
                    </a:p>
                  </a:txBody>
                  <a:tcPr marL="133350" marR="133350" marT="133350" marB="133350" anchor="ctr">
                    <a:solidFill>
                      <a:srgbClr val="122C49"/>
                    </a:solidFill>
                  </a:tcPr>
                </a:tc>
                <a:extLst>
                  <a:ext uri="{0D108BD9-81ED-4DB2-BD59-A6C34878D82A}">
                    <a16:rowId xmlns:a16="http://schemas.microsoft.com/office/drawing/2014/main" val="10000"/>
                  </a:ext>
                </a:extLst>
              </a:tr>
              <a:tr h="1691640">
                <a:tc>
                  <a:txBody>
                    <a:bodyPr/>
                    <a:lstStyle/>
                    <a:p>
                      <a:r>
                        <a:rPr lang="nn-NO" sz="1800" b="1">
                          <a:solidFill>
                            <a:srgbClr val="007F83"/>
                          </a:solidFill>
                          <a:latin typeface="Aptos"/>
                          <a:ea typeface="Aptos"/>
                          <a:cs typeface="Aptos"/>
                        </a:rPr>
                        <a:t>16</a:t>
                      </a:r>
                    </a:p>
                    <a:p>
                      <a:r>
                        <a:rPr lang="nn-NO" sz="1800" b="1">
                          <a:solidFill>
                            <a:srgbClr val="007F83"/>
                          </a:solidFill>
                          <a:latin typeface="Aptos"/>
                          <a:ea typeface="Aptos"/>
                          <a:cs typeface="Aptos"/>
                        </a:rPr>
                        <a:t>Tue 06 Apr</a:t>
                      </a:r>
                    </a:p>
                    <a:p>
                      <a:r>
                        <a:rPr lang="nn-NO" sz="1800" b="1">
                          <a:solidFill>
                            <a:srgbClr val="007F83"/>
                          </a:solidFill>
                          <a:latin typeface="Aptos"/>
                          <a:ea typeface="Aptos"/>
                          <a:cs typeface="Aptos"/>
                        </a:rPr>
                        <a:t>2027</a:t>
                      </a:r>
                    </a:p>
                  </a:txBody>
                  <a:tcPr marL="133350" marR="133350" marT="133350" marB="133350" anchor="ctr">
                    <a:solidFill>
                      <a:srgbClr val="F3F7F9"/>
                    </a:solidFill>
                  </a:tcPr>
                </a:tc>
                <a:tc>
                  <a:txBody>
                    <a:bodyPr/>
                    <a:lstStyle/>
                    <a:p>
                      <a:r>
                        <a:rPr lang="en-US" sz="1800" b="1">
                          <a:solidFill>
                            <a:srgbClr val="122C49"/>
                          </a:solidFill>
                          <a:latin typeface="Aptos"/>
                          <a:ea typeface="Aptos"/>
                          <a:cs typeface="Aptos"/>
                        </a:rPr>
                        <a:t>Unit 8. Cost Accumulation Systems</a:t>
                      </a:r>
                    </a:p>
                    <a:p>
                      <a:r>
                        <a:rPr lang="en-US" sz="1800" b="1">
                          <a:solidFill>
                            <a:srgbClr val="122C49"/>
                          </a:solidFill>
                          <a:latin typeface="Aptos"/>
                          <a:ea typeface="Aptos"/>
                          <a:cs typeface="Aptos"/>
                        </a:rPr>
                        <a:t>Lecture 1 of 2</a:t>
                      </a:r>
                    </a:p>
                  </a:txBody>
                  <a:tcPr marL="133350" marR="133350" marT="133350" marB="133350" anchor="ctr">
                    <a:solidFill>
                      <a:srgbClr val="F3F7F9"/>
                    </a:solidFill>
                  </a:tcPr>
                </a:tc>
                <a:tc>
                  <a:txBody>
                    <a:bodyPr/>
                    <a:lstStyle/>
                    <a:p>
                      <a:pPr marL="285750" indent="-285750">
                        <a:buFont typeface="Arial" panose="020B0604020202020204" pitchFamily="34" charset="0"/>
                        <a:buChar char="•"/>
                      </a:pPr>
                      <a:r>
                        <a:rPr lang="en-US" sz="1800">
                          <a:solidFill>
                            <a:srgbClr val="233B50"/>
                          </a:solidFill>
                          <a:latin typeface="Aptos"/>
                          <a:ea typeface="Aptos"/>
                          <a:cs typeface="Aptos"/>
                        </a:rPr>
                        <a:t>8.1 Job-order costing.</a:t>
                      </a:r>
                    </a:p>
                    <a:p>
                      <a:pPr marL="285750" indent="-285750">
                        <a:buFont typeface="Arial" panose="020B0604020202020204" pitchFamily="34" charset="0"/>
                        <a:buChar char="•"/>
                      </a:pPr>
                      <a:r>
                        <a:rPr lang="en-US" sz="1800">
                          <a:solidFill>
                            <a:srgbClr val="233B50"/>
                          </a:solidFill>
                          <a:latin typeface="Aptos"/>
                          <a:ea typeface="Aptos"/>
                          <a:cs typeface="Aptos"/>
                        </a:rPr>
                        <a:t>8.2 Process costing.</a:t>
                      </a:r>
                    </a:p>
                  </a:txBody>
                  <a:tcPr marL="133350" marR="133350" marT="133350" marB="133350" anchor="ctr">
                    <a:solidFill>
                      <a:srgbClr val="F3F7F9"/>
                    </a:solidFill>
                  </a:tcPr>
                </a:tc>
                <a:tc>
                  <a:txBody>
                    <a:bodyPr/>
                    <a:lstStyle/>
                    <a:p>
                      <a:pPr algn="ctr"/>
                      <a:r>
                        <a:rPr lang="en-US" sz="1800">
                          <a:solidFill>
                            <a:srgbClr val="233B50"/>
                          </a:solidFill>
                          <a:latin typeface="Aptos"/>
                          <a:ea typeface="Aptos"/>
                          <a:cs typeface="Aptos"/>
                        </a:rPr>
                        <a:t>8.1–8.2</a:t>
                      </a:r>
                    </a:p>
                  </a:txBody>
                  <a:tcPr marL="133350" marR="133350" marT="133350" marB="133350" anchor="ctr">
                    <a:solidFill>
                      <a:srgbClr val="F3F7F9"/>
                    </a:solidFill>
                  </a:tcPr>
                </a:tc>
                <a:extLst>
                  <a:ext uri="{0D108BD9-81ED-4DB2-BD59-A6C34878D82A}">
                    <a16:rowId xmlns:a16="http://schemas.microsoft.com/office/drawing/2014/main" val="10001"/>
                  </a:ext>
                </a:extLst>
              </a:tr>
              <a:tr h="1691640">
                <a:tc>
                  <a:txBody>
                    <a:bodyPr/>
                    <a:lstStyle/>
                    <a:p>
                      <a:r>
                        <a:rPr lang="fr-FR" sz="1800" b="1">
                          <a:solidFill>
                            <a:srgbClr val="007F83"/>
                          </a:solidFill>
                          <a:latin typeface="Aptos"/>
                          <a:ea typeface="Aptos"/>
                          <a:cs typeface="Aptos"/>
                        </a:rPr>
                        <a:t>17</a:t>
                      </a:r>
                    </a:p>
                    <a:p>
                      <a:r>
                        <a:rPr lang="fr-FR" sz="1800" b="1">
                          <a:solidFill>
                            <a:srgbClr val="007F83"/>
                          </a:solidFill>
                          <a:latin typeface="Aptos"/>
                          <a:ea typeface="Aptos"/>
                          <a:cs typeface="Aptos"/>
                        </a:rPr>
                        <a:t>Fri 09 Apr</a:t>
                      </a:r>
                    </a:p>
                    <a:p>
                      <a:r>
                        <a:rPr lang="fr-FR" sz="1800" b="1">
                          <a:solidFill>
                            <a:srgbClr val="007F83"/>
                          </a:solidFill>
                          <a:latin typeface="Aptos"/>
                          <a:ea typeface="Aptos"/>
                          <a:cs typeface="Aptos"/>
                        </a:rPr>
                        <a:t>2027</a:t>
                      </a:r>
                    </a:p>
                  </a:txBody>
                  <a:tcPr marL="133350" marR="133350" marT="133350" marB="133350" anchor="ctr">
                    <a:solidFill>
                      <a:srgbClr val="FFFFFF"/>
                    </a:solidFill>
                  </a:tcPr>
                </a:tc>
                <a:tc>
                  <a:txBody>
                    <a:bodyPr/>
                    <a:lstStyle/>
                    <a:p>
                      <a:r>
                        <a:rPr lang="en-US" sz="1800" b="1">
                          <a:solidFill>
                            <a:srgbClr val="122C49"/>
                          </a:solidFill>
                          <a:latin typeface="Aptos"/>
                          <a:ea typeface="Aptos"/>
                          <a:cs typeface="Aptos"/>
                        </a:rPr>
                        <a:t>Unit 8. Cost Accumulation Systems</a:t>
                      </a:r>
                    </a:p>
                    <a:p>
                      <a:r>
                        <a:rPr lang="en-US" sz="1800" b="1">
                          <a:solidFill>
                            <a:srgbClr val="122C49"/>
                          </a:solidFill>
                          <a:latin typeface="Aptos"/>
                          <a:ea typeface="Aptos"/>
                          <a:cs typeface="Aptos"/>
                        </a:rPr>
                        <a:t>Lecture 2 of 2</a:t>
                      </a:r>
                    </a:p>
                  </a:txBody>
                  <a:tcPr marL="133350" marR="133350" marT="133350" marB="133350" anchor="ctr">
                    <a:solidFill>
                      <a:srgbClr val="FFFFFF"/>
                    </a:solidFill>
                  </a:tcPr>
                </a:tc>
                <a:tc>
                  <a:txBody>
                    <a:bodyPr/>
                    <a:lstStyle/>
                    <a:p>
                      <a:pPr marL="285750" indent="-285750">
                        <a:buFont typeface="Arial" panose="020B0604020202020204" pitchFamily="34" charset="0"/>
                        <a:buChar char="•"/>
                      </a:pPr>
                      <a:r>
                        <a:rPr lang="en-US" sz="1800">
                          <a:solidFill>
                            <a:srgbClr val="233B50"/>
                          </a:solidFill>
                          <a:latin typeface="Aptos"/>
                          <a:ea typeface="Aptos"/>
                          <a:cs typeface="Aptos"/>
                        </a:rPr>
                        <a:t>8.3 Activity-based costing.</a:t>
                      </a:r>
                    </a:p>
                    <a:p>
                      <a:pPr marL="285750" indent="-285750">
                        <a:buFont typeface="Arial" panose="020B0604020202020204" pitchFamily="34" charset="0"/>
                        <a:buChar char="•"/>
                      </a:pPr>
                      <a:r>
                        <a:rPr lang="en-US" sz="1800">
                          <a:solidFill>
                            <a:srgbClr val="233B50"/>
                          </a:solidFill>
                          <a:latin typeface="Aptos"/>
                          <a:ea typeface="Aptos"/>
                          <a:cs typeface="Aptos"/>
                        </a:rPr>
                        <a:t>8.4 Life-cycle costing.</a:t>
                      </a:r>
                    </a:p>
                  </a:txBody>
                  <a:tcPr marL="133350" marR="133350" marT="133350" marB="133350" anchor="ctr">
                    <a:solidFill>
                      <a:srgbClr val="FFFFFF"/>
                    </a:solidFill>
                  </a:tcPr>
                </a:tc>
                <a:tc>
                  <a:txBody>
                    <a:bodyPr/>
                    <a:lstStyle/>
                    <a:p>
                      <a:pPr algn="ctr"/>
                      <a:r>
                        <a:rPr lang="en-US" sz="1800">
                          <a:solidFill>
                            <a:srgbClr val="233B50"/>
                          </a:solidFill>
                          <a:latin typeface="Aptos"/>
                          <a:ea typeface="Aptos"/>
                          <a:cs typeface="Aptos"/>
                        </a:rPr>
                        <a:t>8.3–8.4</a:t>
                      </a:r>
                    </a:p>
                  </a:txBody>
                  <a:tcPr marL="133350" marR="133350" marT="133350" marB="133350" anchor="ctr">
                    <a:solidFill>
                      <a:srgbClr val="FFFFFF"/>
                    </a:solidFill>
                  </a:tcPr>
                </a:tc>
                <a:extLst>
                  <a:ext uri="{0D108BD9-81ED-4DB2-BD59-A6C34878D82A}">
                    <a16:rowId xmlns:a16="http://schemas.microsoft.com/office/drawing/2014/main" val="10002"/>
                  </a:ext>
                </a:extLst>
              </a:tr>
            </a:tbl>
          </a:graphicData>
        </a:graphic>
      </p:graphicFrame>
      <p:sp>
        <p:nvSpPr>
          <p:cNvPr id="5" name="Rectangle 4">
            <a:extLst>
              <a:ext uri="{FF2B5EF4-FFF2-40B4-BE49-F238E27FC236}">
                <a16:creationId xmlns:a16="http://schemas.microsoft.com/office/drawing/2014/main" id="{00000002-0004-4000-8000-000000000000}"/>
              </a:ext>
            </a:extLst>
          </p:cNvPr>
          <p:cNvSpPr>
            <a:spLocks noGrp="1"/>
          </p:cNvSpPr>
          <p:nvPr/>
        </p:nvSpPr>
        <p:spPr>
          <a:xfrm>
            <a:off x="13811250" y="8077200"/>
            <a:ext cx="666750" cy="285750"/>
          </a:xfrm>
          <a:prstGeom prst="rect">
            <a:avLst/>
          </a:prstGeom>
          <a:noFill/>
          <a:ln w="0">
            <a:noFill/>
          </a:ln>
        </p:spPr>
        <p:txBody>
          <a:bodyPr wrap="square">
            <a:noAutofit/>
          </a:bodyPr>
          <a:lstStyle/>
          <a:p>
            <a:pPr>
              <a:defRPr sz="1350" b="0">
                <a:solidFill>
                  <a:srgbClr val="5C6F7F"/>
                </a:solidFill>
                <a:latin typeface="Aptos"/>
                <a:ea typeface="Aptos"/>
                <a:cs typeface="Aptos"/>
              </a:defRPr>
            </a:pPr>
            <a:r>
              <a:rPr lang="en-US" sz="1350" b="0">
                <a:solidFill>
                  <a:srgbClr val="5C6F7F"/>
                </a:solidFill>
                <a:latin typeface="Aptos"/>
                <a:ea typeface="Aptos"/>
                <a:cs typeface="Aptos"/>
              </a:rPr>
              <a:t>25</a:t>
            </a:r>
          </a:p>
        </p:txBody>
      </p:sp>
      <p:sp>
        <p:nvSpPr>
          <p:cNvPr id="7" name="Section exam weighting">
            <a:extLst>
              <a:ext uri="{FF2B5EF4-FFF2-40B4-BE49-F238E27FC236}">
                <a16:creationId xmlns:a16="http://schemas.microsoft.com/office/drawing/2014/main" id="{00000002-0002-4000-8000-000000000000}"/>
              </a:ext>
            </a:extLst>
          </p:cNvPr>
          <p:cNvSpPr>
            <a:spLocks noGrp="1"/>
          </p:cNvSpPr>
          <p:nvPr/>
        </p:nvSpPr>
        <p:spPr>
          <a:xfrm>
            <a:off x="762000" y="1657350"/>
            <a:ext cx="13811250" cy="276225"/>
          </a:xfrm>
          <a:prstGeom prst="rect">
            <a:avLst/>
          </a:prstGeom>
          <a:noFill/>
          <a:ln w="0">
            <a:noFill/>
          </a:ln>
        </p:spPr>
        <p:txBody>
          <a:bodyPr wrap="square" tIns="0" bIns="0">
            <a:noAutofit/>
          </a:bodyPr>
          <a:lstStyle/>
          <a:p>
            <a:pPr>
              <a:defRPr sz="2025" b="0">
                <a:solidFill>
                  <a:srgbClr val="007F83"/>
                </a:solidFill>
                <a:latin typeface="Aptos"/>
                <a:ea typeface="Aptos"/>
                <a:cs typeface="Aptos"/>
              </a:defRPr>
            </a:pPr>
            <a:r>
              <a:rPr lang="en-US" b="1">
                <a:solidFill>
                  <a:srgbClr val="007F83"/>
                </a:solidFill>
                <a:latin typeface="Aptos"/>
                <a:ea typeface="Aptos"/>
                <a:cs typeface="Aptos"/>
              </a:rPr>
              <a:t>Section exam weight: Cost Management 15%</a:t>
            </a:r>
          </a:p>
        </p:txBody>
      </p:sp>
      <p:sp>
        <p:nvSpPr>
          <p:cNvPr id="9" name="Rectangle 8">
            <a:extLst>
              <a:ext uri="{FF2B5EF4-FFF2-40B4-BE49-F238E27FC236}">
                <a16:creationId xmlns:a16="http://schemas.microsoft.com/office/drawing/2014/main" id="{769240ED-E110-FFA2-96F6-9619968F0D03}"/>
              </a:ext>
            </a:extLst>
          </p:cNvPr>
          <p:cNvSpPr>
            <a:spLocks noGrp="1"/>
          </p:cNvSpPr>
          <p:nvPr/>
        </p:nvSpPr>
        <p:spPr>
          <a:xfrm>
            <a:off x="762000" y="8077200"/>
            <a:ext cx="11430000" cy="285750"/>
          </a:xfrm>
          <a:prstGeom prst="rect">
            <a:avLst/>
          </a:prstGeom>
          <a:noFill/>
          <a:ln w="0">
            <a:noFill/>
          </a:ln>
        </p:spPr>
        <p:txBody>
          <a:bodyPr wrap="square">
            <a:noAutofit/>
          </a:bodyPr>
          <a:lstStyle/>
          <a:p>
            <a:pPr>
              <a:defRPr sz="1350" b="0">
                <a:solidFill>
                  <a:srgbClr val="5C6F7F"/>
                </a:solidFill>
                <a:latin typeface="Aptos"/>
                <a:ea typeface="Aptos"/>
                <a:cs typeface="Aptos"/>
              </a:defRPr>
            </a:pPr>
            <a:r>
              <a:rPr sz="1350" b="0">
                <a:solidFill>
                  <a:srgbClr val="5C6F7F"/>
                </a:solidFill>
                <a:latin typeface="Aptos"/>
                <a:ea typeface="Aptos"/>
                <a:cs typeface="Aptos"/>
              </a:rPr>
              <a:t>CMA Part 1. Supplied course outline. Subunit references shown.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0000002-0001-4000-8000-000000000000}"/>
              </a:ext>
            </a:extLst>
          </p:cNvPr>
          <p:cNvSpPr>
            <a:spLocks noGrp="1"/>
          </p:cNvSpPr>
          <p:nvPr/>
        </p:nvSpPr>
        <p:spPr>
          <a:xfrm>
            <a:off x="762000" y="542925"/>
            <a:ext cx="13811250" cy="666750"/>
          </a:xfrm>
          <a:prstGeom prst="rect">
            <a:avLst/>
          </a:prstGeom>
          <a:noFill/>
          <a:ln w="0">
            <a:noFill/>
          </a:ln>
        </p:spPr>
        <p:txBody>
          <a:bodyPr wrap="square">
            <a:noAutofit/>
          </a:bodyPr>
          <a:lstStyle/>
          <a:p>
            <a:pPr>
              <a:defRPr sz="3675" b="1">
                <a:solidFill>
                  <a:srgbClr val="122C49"/>
                </a:solidFill>
                <a:latin typeface="Aptos"/>
                <a:ea typeface="Aptos"/>
                <a:cs typeface="Aptos"/>
              </a:defRPr>
            </a:pPr>
            <a:r>
              <a:rPr lang="en-US" sz="3675" b="1">
                <a:solidFill>
                  <a:srgbClr val="122C49"/>
                </a:solidFill>
                <a:latin typeface="Aptos"/>
                <a:ea typeface="Aptos"/>
                <a:cs typeface="Aptos"/>
              </a:rPr>
              <a:t>Cost Management</a:t>
            </a:r>
          </a:p>
        </p:txBody>
      </p:sp>
      <p:sp>
        <p:nvSpPr>
          <p:cNvPr id="2" name="Rectangle 1">
            <a:extLst>
              <a:ext uri="{FF2B5EF4-FFF2-40B4-BE49-F238E27FC236}">
                <a16:creationId xmlns:a16="http://schemas.microsoft.com/office/drawing/2014/main" id="{00000002-0002-4000-8000-000000000000}"/>
              </a:ext>
            </a:extLst>
          </p:cNvPr>
          <p:cNvSpPr>
            <a:spLocks noGrp="1"/>
          </p:cNvSpPr>
          <p:nvPr/>
        </p:nvSpPr>
        <p:spPr>
          <a:xfrm>
            <a:off x="762000" y="1185862"/>
            <a:ext cx="13811250" cy="400050"/>
          </a:xfrm>
          <a:prstGeom prst="rect">
            <a:avLst/>
          </a:prstGeom>
          <a:noFill/>
          <a:ln w="0">
            <a:noFill/>
          </a:ln>
        </p:spPr>
        <p:txBody>
          <a:bodyPr wrap="square">
            <a:noAutofit/>
          </a:bodyPr>
          <a:lstStyle/>
          <a:p>
            <a:pPr>
              <a:defRPr sz="2025" b="0">
                <a:solidFill>
                  <a:srgbClr val="007F83"/>
                </a:solidFill>
                <a:latin typeface="Aptos"/>
                <a:ea typeface="Aptos"/>
                <a:cs typeface="Aptos"/>
              </a:defRPr>
            </a:pPr>
            <a:r>
              <a:rPr lang="en-US" sz="2400" b="0">
                <a:solidFill>
                  <a:srgbClr val="007F83"/>
                </a:solidFill>
                <a:latin typeface="Aptos"/>
                <a:ea typeface="Aptos"/>
                <a:cs typeface="Aptos"/>
              </a:rPr>
              <a:t>13–16 April 2027   /   Sessions 18–19</a:t>
            </a:r>
          </a:p>
        </p:txBody>
      </p:sp>
      <p:graphicFrame>
        <p:nvGraphicFramePr>
          <p:cNvPr id="3" name="Table 2"/>
          <p:cNvGraphicFramePr/>
          <p:nvPr>
            <p:extLst>
              <p:ext uri="{D42A27DB-BD31-4B8C-83A1-F6EECF244321}">
                <p14:modId xmlns:p14="http://schemas.microsoft.com/office/powerpoint/2010/main" val="1356992201"/>
              </p:ext>
            </p:extLst>
          </p:nvPr>
        </p:nvGraphicFramePr>
        <p:xfrm>
          <a:off x="762000" y="2028825"/>
          <a:ext cx="13811251" cy="3924300"/>
        </p:xfrm>
        <a:graphic>
          <a:graphicData uri="http://schemas.openxmlformats.org/drawingml/2006/table">
            <a:tbl>
              <a:tblPr/>
              <a:tblGrid>
                <a:gridCol w="1962652">
                  <a:extLst>
                    <a:ext uri="{9D8B030D-6E8A-4147-A177-3AD203B41FA5}">
                      <a16:colId xmlns:a16="http://schemas.microsoft.com/office/drawing/2014/main" val="20000"/>
                    </a:ext>
                  </a:extLst>
                </a:gridCol>
                <a:gridCol w="4984248">
                  <a:extLst>
                    <a:ext uri="{9D8B030D-6E8A-4147-A177-3AD203B41FA5}">
                      <a16:colId xmlns:a16="http://schemas.microsoft.com/office/drawing/2014/main" val="20001"/>
                    </a:ext>
                  </a:extLst>
                </a:gridCol>
                <a:gridCol w="5172911">
                  <a:extLst>
                    <a:ext uri="{9D8B030D-6E8A-4147-A177-3AD203B41FA5}">
                      <a16:colId xmlns:a16="http://schemas.microsoft.com/office/drawing/2014/main" val="20002"/>
                    </a:ext>
                  </a:extLst>
                </a:gridCol>
                <a:gridCol w="1691440">
                  <a:extLst>
                    <a:ext uri="{9D8B030D-6E8A-4147-A177-3AD203B41FA5}">
                      <a16:colId xmlns:a16="http://schemas.microsoft.com/office/drawing/2014/main" val="20003"/>
                    </a:ext>
                  </a:extLst>
                </a:gridCol>
              </a:tblGrid>
              <a:tr h="514350">
                <a:tc>
                  <a:txBody>
                    <a:bodyPr/>
                    <a:lstStyle/>
                    <a:p>
                      <a:pPr algn="ctr"/>
                      <a:r>
                        <a:rPr lang="en-US" sz="1800" b="1">
                          <a:solidFill>
                            <a:srgbClr val="FFFFFF"/>
                          </a:solidFill>
                          <a:latin typeface="Aptos"/>
                          <a:ea typeface="Aptos"/>
                          <a:cs typeface="Aptos"/>
                        </a:rPr>
                        <a:t>Session / date</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Study unit</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Coverage and practice</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Subunits</a:t>
                      </a:r>
                    </a:p>
                  </a:txBody>
                  <a:tcPr marL="133350" marR="133350" marT="133350" marB="133350" anchor="ctr">
                    <a:solidFill>
                      <a:srgbClr val="122C49"/>
                    </a:solidFill>
                  </a:tcPr>
                </a:tc>
                <a:extLst>
                  <a:ext uri="{0D108BD9-81ED-4DB2-BD59-A6C34878D82A}">
                    <a16:rowId xmlns:a16="http://schemas.microsoft.com/office/drawing/2014/main" val="10000"/>
                  </a:ext>
                </a:extLst>
              </a:tr>
              <a:tr h="1691640">
                <a:tc>
                  <a:txBody>
                    <a:bodyPr/>
                    <a:lstStyle/>
                    <a:p>
                      <a:r>
                        <a:rPr lang="nn-NO" sz="1800" b="1">
                          <a:solidFill>
                            <a:srgbClr val="007F83"/>
                          </a:solidFill>
                          <a:latin typeface="Aptos"/>
                          <a:ea typeface="Aptos"/>
                          <a:cs typeface="Aptos"/>
                        </a:rPr>
                        <a:t>18</a:t>
                      </a:r>
                    </a:p>
                    <a:p>
                      <a:r>
                        <a:rPr lang="nn-NO" sz="1800" b="1">
                          <a:solidFill>
                            <a:srgbClr val="007F83"/>
                          </a:solidFill>
                          <a:latin typeface="Aptos"/>
                          <a:ea typeface="Aptos"/>
                          <a:cs typeface="Aptos"/>
                        </a:rPr>
                        <a:t>Tue 13 Apr</a:t>
                      </a:r>
                    </a:p>
                    <a:p>
                      <a:r>
                        <a:rPr lang="nn-NO" sz="1800" b="1">
                          <a:solidFill>
                            <a:srgbClr val="007F83"/>
                          </a:solidFill>
                          <a:latin typeface="Aptos"/>
                          <a:ea typeface="Aptos"/>
                          <a:cs typeface="Aptos"/>
                        </a:rPr>
                        <a:t>2027</a:t>
                      </a:r>
                    </a:p>
                  </a:txBody>
                  <a:tcPr marL="133350" marR="133350" marT="133350" marB="133350" anchor="ctr">
                    <a:solidFill>
                      <a:srgbClr val="F3F7F9"/>
                    </a:solidFill>
                  </a:tcPr>
                </a:tc>
                <a:tc>
                  <a:txBody>
                    <a:bodyPr/>
                    <a:lstStyle/>
                    <a:p>
                      <a:r>
                        <a:rPr lang="en-US" sz="1800" b="1">
                          <a:solidFill>
                            <a:srgbClr val="122C49"/>
                          </a:solidFill>
                          <a:latin typeface="Aptos"/>
                          <a:ea typeface="Aptos"/>
                          <a:cs typeface="Aptos"/>
                        </a:rPr>
                        <a:t>Unit 9. Cost Allocation Techniques</a:t>
                      </a:r>
                    </a:p>
                    <a:p>
                      <a:r>
                        <a:rPr lang="en-US" sz="1800" b="1">
                          <a:solidFill>
                            <a:srgbClr val="122C49"/>
                          </a:solidFill>
                          <a:latin typeface="Aptos"/>
                          <a:ea typeface="Aptos"/>
                          <a:cs typeface="Aptos"/>
                        </a:rPr>
                        <a:t>Lecture 1 of 2</a:t>
                      </a:r>
                    </a:p>
                  </a:txBody>
                  <a:tcPr marL="133350" marR="133350" marT="133350" marB="133350" anchor="ctr">
                    <a:solidFill>
                      <a:srgbClr val="F3F7F9"/>
                    </a:solidFill>
                  </a:tcPr>
                </a:tc>
                <a:tc>
                  <a:txBody>
                    <a:bodyPr/>
                    <a:lstStyle/>
                    <a:p>
                      <a:pPr marL="285750" indent="-285750">
                        <a:buFont typeface="Arial" panose="020B0604020202020204" pitchFamily="34" charset="0"/>
                        <a:buChar char="•"/>
                      </a:pPr>
                      <a:r>
                        <a:rPr lang="en-US" sz="1800">
                          <a:solidFill>
                            <a:srgbClr val="233B50"/>
                          </a:solidFill>
                          <a:latin typeface="Aptos"/>
                          <a:ea typeface="Aptos"/>
                          <a:cs typeface="Aptos"/>
                        </a:rPr>
                        <a:t>9.1 Joint product and by-product costing.</a:t>
                      </a:r>
                    </a:p>
                    <a:p>
                      <a:pPr marL="285750" indent="-285750">
                        <a:buFont typeface="Arial" panose="020B0604020202020204" pitchFamily="34" charset="0"/>
                        <a:buChar char="•"/>
                      </a:pPr>
                      <a:r>
                        <a:rPr lang="en-US" sz="1800">
                          <a:solidFill>
                            <a:srgbClr val="233B50"/>
                          </a:solidFill>
                          <a:latin typeface="Aptos"/>
                          <a:ea typeface="Aptos"/>
                          <a:cs typeface="Aptos"/>
                        </a:rPr>
                        <a:t>9.2 Overhead allocation and normal costing.</a:t>
                      </a:r>
                    </a:p>
                  </a:txBody>
                  <a:tcPr marL="133350" marR="133350" marT="133350" marB="133350" anchor="ctr">
                    <a:solidFill>
                      <a:srgbClr val="F3F7F9"/>
                    </a:solidFill>
                  </a:tcPr>
                </a:tc>
                <a:tc>
                  <a:txBody>
                    <a:bodyPr/>
                    <a:lstStyle/>
                    <a:p>
                      <a:pPr algn="ctr"/>
                      <a:r>
                        <a:rPr lang="en-US" sz="1800">
                          <a:solidFill>
                            <a:srgbClr val="233B50"/>
                          </a:solidFill>
                          <a:latin typeface="Aptos"/>
                          <a:ea typeface="Aptos"/>
                          <a:cs typeface="Aptos"/>
                        </a:rPr>
                        <a:t>9.1–9.2</a:t>
                      </a:r>
                    </a:p>
                  </a:txBody>
                  <a:tcPr marL="133350" marR="133350" marT="133350" marB="133350" anchor="ctr">
                    <a:solidFill>
                      <a:srgbClr val="F3F7F9"/>
                    </a:solidFill>
                  </a:tcPr>
                </a:tc>
                <a:extLst>
                  <a:ext uri="{0D108BD9-81ED-4DB2-BD59-A6C34878D82A}">
                    <a16:rowId xmlns:a16="http://schemas.microsoft.com/office/drawing/2014/main" val="10001"/>
                  </a:ext>
                </a:extLst>
              </a:tr>
              <a:tr h="1691640">
                <a:tc>
                  <a:txBody>
                    <a:bodyPr/>
                    <a:lstStyle/>
                    <a:p>
                      <a:r>
                        <a:rPr lang="fr-FR" sz="1800" b="1">
                          <a:solidFill>
                            <a:srgbClr val="007F83"/>
                          </a:solidFill>
                          <a:latin typeface="Aptos"/>
                          <a:ea typeface="Aptos"/>
                          <a:cs typeface="Aptos"/>
                        </a:rPr>
                        <a:t>19</a:t>
                      </a:r>
                    </a:p>
                    <a:p>
                      <a:r>
                        <a:rPr lang="fr-FR" sz="1800" b="1">
                          <a:solidFill>
                            <a:srgbClr val="007F83"/>
                          </a:solidFill>
                          <a:latin typeface="Aptos"/>
                          <a:ea typeface="Aptos"/>
                          <a:cs typeface="Aptos"/>
                        </a:rPr>
                        <a:t>Fri 16 Apr</a:t>
                      </a:r>
                    </a:p>
                    <a:p>
                      <a:r>
                        <a:rPr lang="fr-FR" sz="1800" b="1">
                          <a:solidFill>
                            <a:srgbClr val="007F83"/>
                          </a:solidFill>
                          <a:latin typeface="Aptos"/>
                          <a:ea typeface="Aptos"/>
                          <a:cs typeface="Aptos"/>
                        </a:rPr>
                        <a:t>2027</a:t>
                      </a:r>
                    </a:p>
                  </a:txBody>
                  <a:tcPr marL="133350" marR="133350" marT="133350" marB="133350" anchor="ctr">
                    <a:solidFill>
                      <a:srgbClr val="FFFFFF"/>
                    </a:solidFill>
                  </a:tcPr>
                </a:tc>
                <a:tc>
                  <a:txBody>
                    <a:bodyPr/>
                    <a:lstStyle/>
                    <a:p>
                      <a:r>
                        <a:rPr lang="en-US" sz="1800" b="1">
                          <a:solidFill>
                            <a:srgbClr val="122C49"/>
                          </a:solidFill>
                          <a:latin typeface="Aptos"/>
                          <a:ea typeface="Aptos"/>
                          <a:cs typeface="Aptos"/>
                        </a:rPr>
                        <a:t>Unit 9. Cost Allocation Techniques</a:t>
                      </a:r>
                    </a:p>
                    <a:p>
                      <a:r>
                        <a:rPr lang="en-US" sz="1800" b="1">
                          <a:solidFill>
                            <a:srgbClr val="122C49"/>
                          </a:solidFill>
                          <a:latin typeface="Aptos"/>
                          <a:ea typeface="Aptos"/>
                          <a:cs typeface="Aptos"/>
                        </a:rPr>
                        <a:t>Lecture 2 of 2</a:t>
                      </a:r>
                    </a:p>
                  </a:txBody>
                  <a:tcPr marL="133350" marR="133350" marT="133350" marB="133350" anchor="ctr">
                    <a:solidFill>
                      <a:srgbClr val="FFFFFF"/>
                    </a:solidFill>
                  </a:tcPr>
                </a:tc>
                <a:tc>
                  <a:txBody>
                    <a:bodyPr/>
                    <a:lstStyle/>
                    <a:p>
                      <a:pPr marL="285750" indent="-285750">
                        <a:buFont typeface="Arial" panose="020B0604020202020204" pitchFamily="34" charset="0"/>
                        <a:buChar char="•"/>
                      </a:pPr>
                      <a:r>
                        <a:rPr lang="en-US" sz="1800">
                          <a:solidFill>
                            <a:srgbClr val="233B50"/>
                          </a:solidFill>
                          <a:latin typeface="Aptos"/>
                          <a:ea typeface="Aptos"/>
                          <a:cs typeface="Aptos"/>
                        </a:rPr>
                        <a:t>9.3 Allocating service department costs.</a:t>
                      </a:r>
                    </a:p>
                  </a:txBody>
                  <a:tcPr marL="133350" marR="133350" marT="133350" marB="133350" anchor="ctr">
                    <a:solidFill>
                      <a:srgbClr val="FFFFFF"/>
                    </a:solidFill>
                  </a:tcPr>
                </a:tc>
                <a:tc>
                  <a:txBody>
                    <a:bodyPr/>
                    <a:lstStyle/>
                    <a:p>
                      <a:pPr algn="ctr"/>
                      <a:r>
                        <a:rPr lang="en-US" sz="1800">
                          <a:solidFill>
                            <a:srgbClr val="233B50"/>
                          </a:solidFill>
                          <a:latin typeface="Aptos"/>
                          <a:ea typeface="Aptos"/>
                          <a:cs typeface="Aptos"/>
                        </a:rPr>
                        <a:t>9.3</a:t>
                      </a:r>
                    </a:p>
                  </a:txBody>
                  <a:tcPr marL="133350" marR="133350" marT="133350" marB="133350" anchor="ctr">
                    <a:solidFill>
                      <a:srgbClr val="FFFFFF"/>
                    </a:solidFill>
                  </a:tcPr>
                </a:tc>
                <a:extLst>
                  <a:ext uri="{0D108BD9-81ED-4DB2-BD59-A6C34878D82A}">
                    <a16:rowId xmlns:a16="http://schemas.microsoft.com/office/drawing/2014/main" val="10002"/>
                  </a:ext>
                </a:extLst>
              </a:tr>
            </a:tbl>
          </a:graphicData>
        </a:graphic>
      </p:graphicFrame>
      <p:sp>
        <p:nvSpPr>
          <p:cNvPr id="5" name="Rectangle 4">
            <a:extLst>
              <a:ext uri="{FF2B5EF4-FFF2-40B4-BE49-F238E27FC236}">
                <a16:creationId xmlns:a16="http://schemas.microsoft.com/office/drawing/2014/main" id="{00000002-0004-4000-8000-000000000000}"/>
              </a:ext>
            </a:extLst>
          </p:cNvPr>
          <p:cNvSpPr>
            <a:spLocks noGrp="1"/>
          </p:cNvSpPr>
          <p:nvPr/>
        </p:nvSpPr>
        <p:spPr>
          <a:xfrm>
            <a:off x="13811250" y="8077200"/>
            <a:ext cx="666750" cy="285750"/>
          </a:xfrm>
          <a:prstGeom prst="rect">
            <a:avLst/>
          </a:prstGeom>
          <a:noFill/>
          <a:ln w="0">
            <a:noFill/>
          </a:ln>
        </p:spPr>
        <p:txBody>
          <a:bodyPr wrap="square">
            <a:noAutofit/>
          </a:bodyPr>
          <a:lstStyle/>
          <a:p>
            <a:pPr>
              <a:defRPr sz="1350" b="0">
                <a:solidFill>
                  <a:srgbClr val="5C6F7F"/>
                </a:solidFill>
                <a:latin typeface="Aptos"/>
                <a:ea typeface="Aptos"/>
                <a:cs typeface="Aptos"/>
              </a:defRPr>
            </a:pPr>
            <a:r>
              <a:rPr lang="en-US" sz="1350" b="0">
                <a:solidFill>
                  <a:srgbClr val="5C6F7F"/>
                </a:solidFill>
                <a:latin typeface="Aptos"/>
                <a:ea typeface="Aptos"/>
                <a:cs typeface="Aptos"/>
              </a:rPr>
              <a:t>26</a:t>
            </a:r>
          </a:p>
        </p:txBody>
      </p:sp>
      <p:sp>
        <p:nvSpPr>
          <p:cNvPr id="7" name="Section exam weighting">
            <a:extLst>
              <a:ext uri="{FF2B5EF4-FFF2-40B4-BE49-F238E27FC236}">
                <a16:creationId xmlns:a16="http://schemas.microsoft.com/office/drawing/2014/main" id="{00000002-0002-4000-8000-000000000000}"/>
              </a:ext>
            </a:extLst>
          </p:cNvPr>
          <p:cNvSpPr>
            <a:spLocks noGrp="1"/>
          </p:cNvSpPr>
          <p:nvPr/>
        </p:nvSpPr>
        <p:spPr>
          <a:xfrm>
            <a:off x="762000" y="1657350"/>
            <a:ext cx="13811250" cy="276225"/>
          </a:xfrm>
          <a:prstGeom prst="rect">
            <a:avLst/>
          </a:prstGeom>
          <a:noFill/>
          <a:ln w="0">
            <a:noFill/>
          </a:ln>
        </p:spPr>
        <p:txBody>
          <a:bodyPr wrap="square" tIns="0" bIns="0">
            <a:noAutofit/>
          </a:bodyPr>
          <a:lstStyle/>
          <a:p>
            <a:pPr>
              <a:defRPr sz="2025" b="0">
                <a:solidFill>
                  <a:srgbClr val="007F83"/>
                </a:solidFill>
                <a:latin typeface="Aptos"/>
                <a:ea typeface="Aptos"/>
                <a:cs typeface="Aptos"/>
              </a:defRPr>
            </a:pPr>
            <a:r>
              <a:rPr lang="en-US" b="1">
                <a:solidFill>
                  <a:srgbClr val="007F83"/>
                </a:solidFill>
                <a:latin typeface="Aptos"/>
                <a:ea typeface="Aptos"/>
                <a:cs typeface="Aptos"/>
              </a:rPr>
              <a:t>Section exam weight: Cost Management 15%</a:t>
            </a:r>
          </a:p>
        </p:txBody>
      </p:sp>
      <p:sp>
        <p:nvSpPr>
          <p:cNvPr id="9" name="Rectangle 8">
            <a:extLst>
              <a:ext uri="{FF2B5EF4-FFF2-40B4-BE49-F238E27FC236}">
                <a16:creationId xmlns:a16="http://schemas.microsoft.com/office/drawing/2014/main" id="{769240ED-E110-FFA2-96F6-9619968F0D03}"/>
              </a:ext>
            </a:extLst>
          </p:cNvPr>
          <p:cNvSpPr>
            <a:spLocks noGrp="1"/>
          </p:cNvSpPr>
          <p:nvPr/>
        </p:nvSpPr>
        <p:spPr>
          <a:xfrm>
            <a:off x="762000" y="8077200"/>
            <a:ext cx="11430000" cy="285750"/>
          </a:xfrm>
          <a:prstGeom prst="rect">
            <a:avLst/>
          </a:prstGeom>
          <a:noFill/>
          <a:ln w="0">
            <a:noFill/>
          </a:ln>
        </p:spPr>
        <p:txBody>
          <a:bodyPr wrap="square">
            <a:noAutofit/>
          </a:bodyPr>
          <a:lstStyle/>
          <a:p>
            <a:pPr>
              <a:defRPr sz="1350" b="0">
                <a:solidFill>
                  <a:srgbClr val="5C6F7F"/>
                </a:solidFill>
                <a:latin typeface="Aptos"/>
                <a:ea typeface="Aptos"/>
                <a:cs typeface="Aptos"/>
              </a:defRPr>
            </a:pPr>
            <a:r>
              <a:rPr sz="1350" b="0">
                <a:solidFill>
                  <a:srgbClr val="5C6F7F"/>
                </a:solidFill>
                <a:latin typeface="Aptos"/>
                <a:ea typeface="Aptos"/>
                <a:cs typeface="Aptos"/>
              </a:rPr>
              <a:t>CMA Part 1. Supplied course outline. Subunit references shown.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0000002-0001-4000-8000-000000000000}"/>
              </a:ext>
            </a:extLst>
          </p:cNvPr>
          <p:cNvSpPr>
            <a:spLocks noGrp="1"/>
          </p:cNvSpPr>
          <p:nvPr/>
        </p:nvSpPr>
        <p:spPr>
          <a:xfrm>
            <a:off x="762000" y="542925"/>
            <a:ext cx="13811250" cy="666750"/>
          </a:xfrm>
          <a:prstGeom prst="rect">
            <a:avLst/>
          </a:prstGeom>
          <a:noFill/>
          <a:ln w="0">
            <a:noFill/>
          </a:ln>
        </p:spPr>
        <p:txBody>
          <a:bodyPr wrap="square">
            <a:noAutofit/>
          </a:bodyPr>
          <a:lstStyle/>
          <a:p>
            <a:pPr>
              <a:defRPr sz="3675" b="1">
                <a:solidFill>
                  <a:srgbClr val="122C49"/>
                </a:solidFill>
                <a:latin typeface="Aptos"/>
                <a:ea typeface="Aptos"/>
                <a:cs typeface="Aptos"/>
              </a:defRPr>
            </a:pPr>
            <a:r>
              <a:rPr lang="en-US" sz="3675" b="1">
                <a:solidFill>
                  <a:srgbClr val="122C49"/>
                </a:solidFill>
                <a:latin typeface="Aptos"/>
                <a:ea typeface="Aptos"/>
                <a:cs typeface="Aptos"/>
              </a:rPr>
              <a:t>Supply Chain and Process Improvement</a:t>
            </a:r>
          </a:p>
        </p:txBody>
      </p:sp>
      <p:sp>
        <p:nvSpPr>
          <p:cNvPr id="2" name="Rectangle 1">
            <a:extLst>
              <a:ext uri="{FF2B5EF4-FFF2-40B4-BE49-F238E27FC236}">
                <a16:creationId xmlns:a16="http://schemas.microsoft.com/office/drawing/2014/main" id="{00000002-0002-4000-8000-000000000000}"/>
              </a:ext>
            </a:extLst>
          </p:cNvPr>
          <p:cNvSpPr>
            <a:spLocks noGrp="1"/>
          </p:cNvSpPr>
          <p:nvPr/>
        </p:nvSpPr>
        <p:spPr>
          <a:xfrm>
            <a:off x="762000" y="1185862"/>
            <a:ext cx="13811250" cy="400050"/>
          </a:xfrm>
          <a:prstGeom prst="rect">
            <a:avLst/>
          </a:prstGeom>
          <a:noFill/>
          <a:ln w="0">
            <a:noFill/>
          </a:ln>
        </p:spPr>
        <p:txBody>
          <a:bodyPr wrap="square">
            <a:noAutofit/>
          </a:bodyPr>
          <a:lstStyle/>
          <a:p>
            <a:pPr>
              <a:defRPr sz="2025" b="0">
                <a:solidFill>
                  <a:srgbClr val="007F83"/>
                </a:solidFill>
                <a:latin typeface="Aptos"/>
                <a:ea typeface="Aptos"/>
                <a:cs typeface="Aptos"/>
              </a:defRPr>
            </a:pPr>
            <a:r>
              <a:rPr lang="en-US" sz="2400" b="0">
                <a:solidFill>
                  <a:srgbClr val="007F83"/>
                </a:solidFill>
                <a:latin typeface="Aptos"/>
                <a:ea typeface="Aptos"/>
                <a:cs typeface="Aptos"/>
              </a:rPr>
              <a:t>20–27 April 2027   /   Sessions 20–22</a:t>
            </a:r>
          </a:p>
        </p:txBody>
      </p:sp>
      <p:graphicFrame>
        <p:nvGraphicFramePr>
          <p:cNvPr id="3" name="Table 2"/>
          <p:cNvGraphicFramePr/>
          <p:nvPr>
            <p:extLst>
              <p:ext uri="{D42A27DB-BD31-4B8C-83A1-F6EECF244321}">
                <p14:modId xmlns:p14="http://schemas.microsoft.com/office/powerpoint/2010/main" val="2765236094"/>
              </p:ext>
            </p:extLst>
          </p:nvPr>
        </p:nvGraphicFramePr>
        <p:xfrm>
          <a:off x="762000" y="2028825"/>
          <a:ext cx="13811251" cy="5204460"/>
        </p:xfrm>
        <a:graphic>
          <a:graphicData uri="http://schemas.openxmlformats.org/drawingml/2006/table">
            <a:tbl>
              <a:tblPr/>
              <a:tblGrid>
                <a:gridCol w="1962652">
                  <a:extLst>
                    <a:ext uri="{9D8B030D-6E8A-4147-A177-3AD203B41FA5}">
                      <a16:colId xmlns:a16="http://schemas.microsoft.com/office/drawing/2014/main" val="20000"/>
                    </a:ext>
                  </a:extLst>
                </a:gridCol>
                <a:gridCol w="4984248">
                  <a:extLst>
                    <a:ext uri="{9D8B030D-6E8A-4147-A177-3AD203B41FA5}">
                      <a16:colId xmlns:a16="http://schemas.microsoft.com/office/drawing/2014/main" val="20001"/>
                    </a:ext>
                  </a:extLst>
                </a:gridCol>
                <a:gridCol w="5172911">
                  <a:extLst>
                    <a:ext uri="{9D8B030D-6E8A-4147-A177-3AD203B41FA5}">
                      <a16:colId xmlns:a16="http://schemas.microsoft.com/office/drawing/2014/main" val="20002"/>
                    </a:ext>
                  </a:extLst>
                </a:gridCol>
                <a:gridCol w="1691440">
                  <a:extLst>
                    <a:ext uri="{9D8B030D-6E8A-4147-A177-3AD203B41FA5}">
                      <a16:colId xmlns:a16="http://schemas.microsoft.com/office/drawing/2014/main" val="20003"/>
                    </a:ext>
                  </a:extLst>
                </a:gridCol>
              </a:tblGrid>
              <a:tr h="514350">
                <a:tc>
                  <a:txBody>
                    <a:bodyPr/>
                    <a:lstStyle/>
                    <a:p>
                      <a:pPr algn="ctr"/>
                      <a:r>
                        <a:rPr lang="en-US" sz="1800" b="1">
                          <a:solidFill>
                            <a:srgbClr val="FFFFFF"/>
                          </a:solidFill>
                          <a:latin typeface="Aptos"/>
                          <a:ea typeface="Aptos"/>
                          <a:cs typeface="Aptos"/>
                        </a:rPr>
                        <a:t>Session / date</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Study unit</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Coverage and practice</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Subunits</a:t>
                      </a:r>
                    </a:p>
                  </a:txBody>
                  <a:tcPr marL="133350" marR="133350" marT="133350" marB="133350" anchor="ctr">
                    <a:solidFill>
                      <a:srgbClr val="122C49"/>
                    </a:solidFill>
                  </a:tcPr>
                </a:tc>
                <a:extLst>
                  <a:ext uri="{0D108BD9-81ED-4DB2-BD59-A6C34878D82A}">
                    <a16:rowId xmlns:a16="http://schemas.microsoft.com/office/drawing/2014/main" val="10000"/>
                  </a:ext>
                </a:extLst>
              </a:tr>
              <a:tr h="1554480">
                <a:tc>
                  <a:txBody>
                    <a:bodyPr/>
                    <a:lstStyle/>
                    <a:p>
                      <a:r>
                        <a:rPr lang="fr-FR" sz="1800" b="1">
                          <a:solidFill>
                            <a:srgbClr val="007F83"/>
                          </a:solidFill>
                          <a:latin typeface="Aptos"/>
                          <a:ea typeface="Aptos"/>
                          <a:cs typeface="Aptos"/>
                        </a:rPr>
                        <a:t>20</a:t>
                      </a:r>
                    </a:p>
                    <a:p>
                      <a:r>
                        <a:rPr lang="fr-FR" sz="1800" b="1">
                          <a:solidFill>
                            <a:srgbClr val="007F83"/>
                          </a:solidFill>
                          <a:latin typeface="Aptos"/>
                          <a:ea typeface="Aptos"/>
                          <a:cs typeface="Aptos"/>
                        </a:rPr>
                        <a:t>Tue 20 Apr</a:t>
                      </a:r>
                    </a:p>
                    <a:p>
                      <a:r>
                        <a:rPr lang="fr-FR" sz="1800" b="1">
                          <a:solidFill>
                            <a:srgbClr val="007F83"/>
                          </a:solidFill>
                          <a:latin typeface="Aptos"/>
                          <a:ea typeface="Aptos"/>
                          <a:cs typeface="Aptos"/>
                        </a:rPr>
                        <a:t>2027</a:t>
                      </a:r>
                    </a:p>
                  </a:txBody>
                  <a:tcPr marL="133350" marR="133350" marT="133350" marB="133350" anchor="ctr">
                    <a:solidFill>
                      <a:srgbClr val="F3F7F9"/>
                    </a:solidFill>
                  </a:tcPr>
                </a:tc>
                <a:tc>
                  <a:txBody>
                    <a:bodyPr/>
                    <a:lstStyle/>
                    <a:p>
                      <a:r>
                        <a:rPr lang="en-US" sz="1800" b="1">
                          <a:solidFill>
                            <a:srgbClr val="122C49"/>
                          </a:solidFill>
                          <a:latin typeface="Aptos"/>
                          <a:ea typeface="Aptos"/>
                          <a:cs typeface="Aptos"/>
                        </a:rPr>
                        <a:t>Unit 10. Supply Chain Management</a:t>
                      </a:r>
                    </a:p>
                    <a:p>
                      <a:r>
                        <a:rPr lang="en-US" sz="1800" b="1">
                          <a:solidFill>
                            <a:srgbClr val="122C49"/>
                          </a:solidFill>
                          <a:latin typeface="Aptos"/>
                          <a:ea typeface="Aptos"/>
                          <a:cs typeface="Aptos"/>
                        </a:rPr>
                        <a:t>Lecture 1 of 2</a:t>
                      </a:r>
                    </a:p>
                  </a:txBody>
                  <a:tcPr marL="133350" marR="133350" marT="133350" marB="133350" anchor="ctr">
                    <a:solidFill>
                      <a:srgbClr val="F3F7F9"/>
                    </a:solidFill>
                  </a:tcPr>
                </a:tc>
                <a:tc>
                  <a:txBody>
                    <a:bodyPr/>
                    <a:lstStyle/>
                    <a:p>
                      <a:pPr marL="285750" indent="-285750">
                        <a:buFont typeface="Arial" panose="020B0604020202020204" pitchFamily="34" charset="0"/>
                        <a:buChar char="•"/>
                      </a:pPr>
                      <a:r>
                        <a:rPr lang="en-US" sz="1800">
                          <a:solidFill>
                            <a:srgbClr val="233B50"/>
                          </a:solidFill>
                          <a:latin typeface="Aptos"/>
                          <a:ea typeface="Aptos"/>
                          <a:cs typeface="Aptos"/>
                        </a:rPr>
                        <a:t>10.1 Just-in-time inventory and lean resource management.</a:t>
                      </a:r>
                    </a:p>
                  </a:txBody>
                  <a:tcPr marL="133350" marR="133350" marT="133350" marB="133350" anchor="ctr">
                    <a:solidFill>
                      <a:srgbClr val="F3F7F9"/>
                    </a:solidFill>
                  </a:tcPr>
                </a:tc>
                <a:tc>
                  <a:txBody>
                    <a:bodyPr/>
                    <a:lstStyle/>
                    <a:p>
                      <a:pPr algn="ctr"/>
                      <a:r>
                        <a:rPr lang="en-US" sz="1800">
                          <a:solidFill>
                            <a:srgbClr val="233B50"/>
                          </a:solidFill>
                          <a:latin typeface="Aptos"/>
                          <a:ea typeface="Aptos"/>
                          <a:cs typeface="Aptos"/>
                        </a:rPr>
                        <a:t>10.1</a:t>
                      </a:r>
                    </a:p>
                  </a:txBody>
                  <a:tcPr marL="133350" marR="133350" marT="133350" marB="133350" anchor="ctr">
                    <a:solidFill>
                      <a:srgbClr val="F3F7F9"/>
                    </a:solidFill>
                  </a:tcPr>
                </a:tc>
                <a:extLst>
                  <a:ext uri="{0D108BD9-81ED-4DB2-BD59-A6C34878D82A}">
                    <a16:rowId xmlns:a16="http://schemas.microsoft.com/office/drawing/2014/main" val="10002"/>
                  </a:ext>
                </a:extLst>
              </a:tr>
              <a:tr h="1554480">
                <a:tc>
                  <a:txBody>
                    <a:bodyPr/>
                    <a:lstStyle/>
                    <a:p>
                      <a:r>
                        <a:rPr lang="sv-SE" sz="1800" b="1">
                          <a:solidFill>
                            <a:srgbClr val="007F83"/>
                          </a:solidFill>
                          <a:latin typeface="Aptos"/>
                          <a:ea typeface="Aptos"/>
                          <a:cs typeface="Aptos"/>
                        </a:rPr>
                        <a:t>21</a:t>
                      </a:r>
                    </a:p>
                    <a:p>
                      <a:r>
                        <a:rPr lang="sv-SE" sz="1800" b="1">
                          <a:solidFill>
                            <a:srgbClr val="007F83"/>
                          </a:solidFill>
                          <a:latin typeface="Aptos"/>
                          <a:ea typeface="Aptos"/>
                          <a:cs typeface="Aptos"/>
                        </a:rPr>
                        <a:t>Fri 23 Apr</a:t>
                      </a:r>
                    </a:p>
                    <a:p>
                      <a:r>
                        <a:rPr lang="sv-SE" sz="1800" b="1">
                          <a:solidFill>
                            <a:srgbClr val="007F83"/>
                          </a:solidFill>
                          <a:latin typeface="Aptos"/>
                          <a:ea typeface="Aptos"/>
                          <a:cs typeface="Aptos"/>
                        </a:rPr>
                        <a:t>2027</a:t>
                      </a:r>
                    </a:p>
                  </a:txBody>
                  <a:tcPr marL="133350" marR="133350" marT="133350" marB="133350" anchor="ctr">
                    <a:solidFill>
                      <a:srgbClr val="FFFFFF"/>
                    </a:solidFill>
                  </a:tcPr>
                </a:tc>
                <a:tc>
                  <a:txBody>
                    <a:bodyPr/>
                    <a:lstStyle/>
                    <a:p>
                      <a:r>
                        <a:rPr lang="en-US" sz="1800" b="1">
                          <a:solidFill>
                            <a:srgbClr val="122C49"/>
                          </a:solidFill>
                          <a:latin typeface="Aptos"/>
                          <a:ea typeface="Aptos"/>
                          <a:cs typeface="Aptos"/>
                        </a:rPr>
                        <a:t>Unit 10. Supply Chain Management</a:t>
                      </a:r>
                    </a:p>
                    <a:p>
                      <a:r>
                        <a:rPr lang="en-US" sz="1800" b="1">
                          <a:solidFill>
                            <a:srgbClr val="122C49"/>
                          </a:solidFill>
                          <a:latin typeface="Aptos"/>
                          <a:ea typeface="Aptos"/>
                          <a:cs typeface="Aptos"/>
                        </a:rPr>
                        <a:t>Lecture 2 of 2</a:t>
                      </a:r>
                    </a:p>
                  </a:txBody>
                  <a:tcPr marL="133350" marR="133350" marT="133350" marB="133350" anchor="ctr">
                    <a:solidFill>
                      <a:srgbClr val="FFFFFF"/>
                    </a:solidFill>
                  </a:tcPr>
                </a:tc>
                <a:tc>
                  <a:txBody>
                    <a:bodyPr/>
                    <a:lstStyle/>
                    <a:p>
                      <a:pPr marL="285750" indent="-285750">
                        <a:buFont typeface="Arial" panose="020B0604020202020204" pitchFamily="34" charset="0"/>
                        <a:buChar char="•"/>
                      </a:pPr>
                      <a:r>
                        <a:rPr lang="en-US" sz="1800">
                          <a:solidFill>
                            <a:srgbClr val="233B50"/>
                          </a:solidFill>
                          <a:latin typeface="Aptos"/>
                          <a:ea typeface="Aptos"/>
                          <a:cs typeface="Aptos"/>
                        </a:rPr>
                        <a:t>10.2 Enterprise resource planning and outsourcing.</a:t>
                      </a:r>
                    </a:p>
                    <a:p>
                      <a:pPr marL="285750" indent="-285750">
                        <a:buFont typeface="Arial" panose="020B0604020202020204" pitchFamily="34" charset="0"/>
                        <a:buChar char="•"/>
                      </a:pPr>
                      <a:r>
                        <a:rPr lang="en-US" sz="1800">
                          <a:solidFill>
                            <a:srgbClr val="233B50"/>
                          </a:solidFill>
                          <a:latin typeface="Aptos"/>
                          <a:ea typeface="Aptos"/>
                          <a:cs typeface="Aptos"/>
                        </a:rPr>
                        <a:t>10.3 Capacity management.</a:t>
                      </a:r>
                    </a:p>
                  </a:txBody>
                  <a:tcPr marL="133350" marR="133350" marT="133350" marB="133350" anchor="ctr">
                    <a:solidFill>
                      <a:srgbClr val="FFFFFF"/>
                    </a:solidFill>
                  </a:tcPr>
                </a:tc>
                <a:tc>
                  <a:txBody>
                    <a:bodyPr/>
                    <a:lstStyle/>
                    <a:p>
                      <a:pPr algn="ctr"/>
                      <a:r>
                        <a:rPr lang="en-US" sz="1800">
                          <a:solidFill>
                            <a:srgbClr val="233B50"/>
                          </a:solidFill>
                          <a:latin typeface="Aptos"/>
                          <a:ea typeface="Aptos"/>
                          <a:cs typeface="Aptos"/>
                        </a:rPr>
                        <a:t>10.2–10.3</a:t>
                      </a:r>
                    </a:p>
                  </a:txBody>
                  <a:tcPr marL="133350" marR="133350" marT="133350" marB="133350" anchor="ctr">
                    <a:solidFill>
                      <a:srgbClr val="FFFFFF"/>
                    </a:solidFill>
                  </a:tcPr>
                </a:tc>
                <a:extLst>
                  <a:ext uri="{0D108BD9-81ED-4DB2-BD59-A6C34878D82A}">
                    <a16:rowId xmlns:a16="http://schemas.microsoft.com/office/drawing/2014/main" val="10003"/>
                  </a:ext>
                </a:extLst>
              </a:tr>
              <a:tr h="1554480">
                <a:tc>
                  <a:txBody>
                    <a:bodyPr/>
                    <a:lstStyle/>
                    <a:p>
                      <a:r>
                        <a:rPr lang="sv-SE" sz="1800" b="1">
                          <a:solidFill>
                            <a:srgbClr val="007F83"/>
                          </a:solidFill>
                          <a:latin typeface="Aptos"/>
                          <a:ea typeface="Aptos"/>
                          <a:cs typeface="Aptos"/>
                        </a:rPr>
                        <a:t>22</a:t>
                      </a:r>
                    </a:p>
                    <a:p>
                      <a:r>
                        <a:rPr lang="sv-SE" sz="1800" b="1">
                          <a:solidFill>
                            <a:srgbClr val="007F83"/>
                          </a:solidFill>
                          <a:latin typeface="Aptos"/>
                          <a:ea typeface="Aptos"/>
                          <a:cs typeface="Aptos"/>
                        </a:rPr>
                        <a:t>Tue 27 Apr</a:t>
                      </a:r>
                    </a:p>
                    <a:p>
                      <a:r>
                        <a:rPr lang="sv-SE" sz="1800" b="1">
                          <a:solidFill>
                            <a:srgbClr val="007F83"/>
                          </a:solidFill>
                          <a:latin typeface="Aptos"/>
                          <a:ea typeface="Aptos"/>
                          <a:cs typeface="Aptos"/>
                        </a:rPr>
                        <a:t>2027</a:t>
                      </a:r>
                    </a:p>
                  </a:txBody>
                  <a:tcPr marL="133350" marR="133350" marT="133350" marB="133350" anchor="ctr">
                    <a:solidFill>
                      <a:srgbClr val="FFFFFF"/>
                    </a:solidFill>
                  </a:tcPr>
                </a:tc>
                <a:tc>
                  <a:txBody>
                    <a:bodyPr/>
                    <a:lstStyle/>
                    <a:p>
                      <a:r>
                        <a:rPr lang="en-US" sz="1800" b="1">
                          <a:solidFill>
                            <a:srgbClr val="122C49"/>
                          </a:solidFill>
                          <a:latin typeface="Aptos"/>
                          <a:ea typeface="Aptos"/>
                          <a:cs typeface="Aptos"/>
                        </a:rPr>
                        <a:t>Unit 11. Business Process Improvement</a:t>
                      </a:r>
                    </a:p>
                  </a:txBody>
                  <a:tcPr marL="133350" marR="133350" marT="133350" marB="133350" anchor="ctr">
                    <a:solidFill>
                      <a:srgbClr val="FFFFFF"/>
                    </a:solidFill>
                  </a:tcPr>
                </a:tc>
                <a:tc>
                  <a:txBody>
                    <a:bodyPr/>
                    <a:lstStyle/>
                    <a:p>
                      <a:pPr marL="285750" indent="-285750">
                        <a:buFont typeface="Arial" panose="020B0604020202020204" pitchFamily="34" charset="0"/>
                        <a:buChar char="•"/>
                      </a:pPr>
                      <a:r>
                        <a:rPr lang="en-US" sz="1800">
                          <a:solidFill>
                            <a:srgbClr val="233B50"/>
                          </a:solidFill>
                          <a:latin typeface="Aptos"/>
                          <a:ea typeface="Aptos"/>
                          <a:cs typeface="Aptos"/>
                        </a:rPr>
                        <a:t>11.1 Value-chain analysis.</a:t>
                      </a:r>
                    </a:p>
                    <a:p>
                      <a:pPr marL="285750" indent="-285750">
                        <a:buFont typeface="Arial" panose="020B0604020202020204" pitchFamily="34" charset="0"/>
                        <a:buChar char="•"/>
                      </a:pPr>
                      <a:r>
                        <a:rPr lang="en-US" sz="1800">
                          <a:solidFill>
                            <a:srgbClr val="233B50"/>
                          </a:solidFill>
                          <a:latin typeface="Aptos"/>
                          <a:ea typeface="Aptos"/>
                          <a:cs typeface="Aptos"/>
                        </a:rPr>
                        <a:t>11.2 Other process improvement tools.</a:t>
                      </a:r>
                    </a:p>
                    <a:p>
                      <a:pPr marL="285750" indent="-285750">
                        <a:buFont typeface="Arial" panose="020B0604020202020204" pitchFamily="34" charset="0"/>
                        <a:buChar char="•"/>
                      </a:pPr>
                      <a:r>
                        <a:rPr lang="en-US" sz="1800">
                          <a:solidFill>
                            <a:srgbClr val="233B50"/>
                          </a:solidFill>
                          <a:latin typeface="Aptos"/>
                          <a:ea typeface="Aptos"/>
                          <a:cs typeface="Aptos"/>
                        </a:rPr>
                        <a:t>Revisit examples from Units 7–10 in practice.</a:t>
                      </a:r>
                    </a:p>
                  </a:txBody>
                  <a:tcPr marL="133350" marR="133350" marT="133350" marB="133350" anchor="ctr">
                    <a:solidFill>
                      <a:srgbClr val="FFFFFF"/>
                    </a:solidFill>
                  </a:tcPr>
                </a:tc>
                <a:tc>
                  <a:txBody>
                    <a:bodyPr/>
                    <a:lstStyle/>
                    <a:p>
                      <a:pPr algn="ctr"/>
                      <a:r>
                        <a:rPr lang="en-US" sz="1800">
                          <a:solidFill>
                            <a:srgbClr val="233B50"/>
                          </a:solidFill>
                          <a:latin typeface="Aptos"/>
                          <a:ea typeface="Aptos"/>
                          <a:cs typeface="Aptos"/>
                        </a:rPr>
                        <a:t>11.1–11.2</a:t>
                      </a:r>
                    </a:p>
                  </a:txBody>
                  <a:tcPr marL="133350" marR="133350" marT="133350" marB="133350" anchor="ctr">
                    <a:solidFill>
                      <a:srgbClr val="FFFFFF"/>
                    </a:solidFill>
                  </a:tcPr>
                </a:tc>
                <a:extLst>
                  <a:ext uri="{0D108BD9-81ED-4DB2-BD59-A6C34878D82A}">
                    <a16:rowId xmlns:a16="http://schemas.microsoft.com/office/drawing/2014/main" val="1007253239"/>
                  </a:ext>
                </a:extLst>
              </a:tr>
            </a:tbl>
          </a:graphicData>
        </a:graphic>
      </p:graphicFrame>
      <p:sp>
        <p:nvSpPr>
          <p:cNvPr id="5" name="Rectangle 4">
            <a:extLst>
              <a:ext uri="{FF2B5EF4-FFF2-40B4-BE49-F238E27FC236}">
                <a16:creationId xmlns:a16="http://schemas.microsoft.com/office/drawing/2014/main" id="{00000002-0004-4000-8000-000000000000}"/>
              </a:ext>
            </a:extLst>
          </p:cNvPr>
          <p:cNvSpPr>
            <a:spLocks noGrp="1"/>
          </p:cNvSpPr>
          <p:nvPr/>
        </p:nvSpPr>
        <p:spPr>
          <a:xfrm>
            <a:off x="13811250" y="8077200"/>
            <a:ext cx="666750" cy="285750"/>
          </a:xfrm>
          <a:prstGeom prst="rect">
            <a:avLst/>
          </a:prstGeom>
          <a:noFill/>
          <a:ln w="0">
            <a:noFill/>
          </a:ln>
        </p:spPr>
        <p:txBody>
          <a:bodyPr wrap="square">
            <a:noAutofit/>
          </a:bodyPr>
          <a:lstStyle/>
          <a:p>
            <a:pPr>
              <a:defRPr sz="1350" b="0">
                <a:solidFill>
                  <a:srgbClr val="5C6F7F"/>
                </a:solidFill>
                <a:latin typeface="Aptos"/>
                <a:ea typeface="Aptos"/>
                <a:cs typeface="Aptos"/>
              </a:defRPr>
            </a:pPr>
            <a:r>
              <a:rPr lang="en-US" sz="1350" b="0">
                <a:solidFill>
                  <a:srgbClr val="5C6F7F"/>
                </a:solidFill>
                <a:latin typeface="Aptos"/>
                <a:ea typeface="Aptos"/>
                <a:cs typeface="Aptos"/>
              </a:rPr>
              <a:t>27</a:t>
            </a:r>
          </a:p>
        </p:txBody>
      </p:sp>
      <p:sp>
        <p:nvSpPr>
          <p:cNvPr id="7" name="Section exam weighting">
            <a:extLst>
              <a:ext uri="{FF2B5EF4-FFF2-40B4-BE49-F238E27FC236}">
                <a16:creationId xmlns:a16="http://schemas.microsoft.com/office/drawing/2014/main" id="{00000002-0002-4000-8000-000000000000}"/>
              </a:ext>
            </a:extLst>
          </p:cNvPr>
          <p:cNvSpPr>
            <a:spLocks noGrp="1"/>
          </p:cNvSpPr>
          <p:nvPr/>
        </p:nvSpPr>
        <p:spPr>
          <a:xfrm>
            <a:off x="762000" y="1657350"/>
            <a:ext cx="13811250" cy="276225"/>
          </a:xfrm>
          <a:prstGeom prst="rect">
            <a:avLst/>
          </a:prstGeom>
          <a:noFill/>
          <a:ln w="0">
            <a:noFill/>
          </a:ln>
        </p:spPr>
        <p:txBody>
          <a:bodyPr wrap="square" tIns="0" bIns="0">
            <a:noAutofit/>
          </a:bodyPr>
          <a:lstStyle/>
          <a:p>
            <a:pPr>
              <a:defRPr sz="2025" b="0">
                <a:solidFill>
                  <a:srgbClr val="007F83"/>
                </a:solidFill>
                <a:latin typeface="Aptos"/>
                <a:ea typeface="Aptos"/>
                <a:cs typeface="Aptos"/>
              </a:defRPr>
            </a:pPr>
            <a:r>
              <a:rPr lang="en-US" b="1">
                <a:solidFill>
                  <a:srgbClr val="007F83"/>
                </a:solidFill>
                <a:latin typeface="Aptos"/>
                <a:ea typeface="Aptos"/>
                <a:cs typeface="Aptos"/>
              </a:rPr>
              <a:t>Section exam weight: Cost Management 15% (Units 7–11 combined)</a:t>
            </a:r>
          </a:p>
        </p:txBody>
      </p:sp>
      <p:sp>
        <p:nvSpPr>
          <p:cNvPr id="9" name="Rectangle 8">
            <a:extLst>
              <a:ext uri="{FF2B5EF4-FFF2-40B4-BE49-F238E27FC236}">
                <a16:creationId xmlns:a16="http://schemas.microsoft.com/office/drawing/2014/main" id="{D3A78D56-E053-6C16-E8E4-FC020C038BC4}"/>
              </a:ext>
            </a:extLst>
          </p:cNvPr>
          <p:cNvSpPr>
            <a:spLocks noGrp="1"/>
          </p:cNvSpPr>
          <p:nvPr/>
        </p:nvSpPr>
        <p:spPr>
          <a:xfrm>
            <a:off x="762000" y="8077200"/>
            <a:ext cx="11430000" cy="285750"/>
          </a:xfrm>
          <a:prstGeom prst="rect">
            <a:avLst/>
          </a:prstGeom>
          <a:noFill/>
          <a:ln w="0">
            <a:noFill/>
          </a:ln>
        </p:spPr>
        <p:txBody>
          <a:bodyPr wrap="square">
            <a:noAutofit/>
          </a:bodyPr>
          <a:lstStyle/>
          <a:p>
            <a:pPr>
              <a:defRPr sz="1350" b="0">
                <a:solidFill>
                  <a:srgbClr val="5C6F7F"/>
                </a:solidFill>
                <a:latin typeface="Aptos"/>
                <a:ea typeface="Aptos"/>
                <a:cs typeface="Aptos"/>
              </a:defRPr>
            </a:pPr>
            <a:r>
              <a:rPr sz="1350" b="0">
                <a:solidFill>
                  <a:srgbClr val="5C6F7F"/>
                </a:solidFill>
                <a:latin typeface="Aptos"/>
                <a:ea typeface="Aptos"/>
                <a:cs typeface="Aptos"/>
              </a:rPr>
              <a:t>CMA Part 1. Supplied course outline. Subunit references shown.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0000002-0001-4000-8000-000000000000}"/>
              </a:ext>
            </a:extLst>
          </p:cNvPr>
          <p:cNvSpPr>
            <a:spLocks noGrp="1"/>
          </p:cNvSpPr>
          <p:nvPr/>
        </p:nvSpPr>
        <p:spPr>
          <a:xfrm>
            <a:off x="762000" y="542925"/>
            <a:ext cx="13811250" cy="666750"/>
          </a:xfrm>
          <a:prstGeom prst="rect">
            <a:avLst/>
          </a:prstGeom>
          <a:noFill/>
          <a:ln w="0">
            <a:noFill/>
          </a:ln>
        </p:spPr>
        <p:txBody>
          <a:bodyPr wrap="square">
            <a:noAutofit/>
          </a:bodyPr>
          <a:lstStyle/>
          <a:p>
            <a:pPr>
              <a:defRPr sz="3675" b="1">
                <a:solidFill>
                  <a:srgbClr val="122C49"/>
                </a:solidFill>
                <a:latin typeface="Aptos"/>
                <a:ea typeface="Aptos"/>
                <a:cs typeface="Aptos"/>
              </a:defRPr>
            </a:pPr>
            <a:r>
              <a:rPr lang="en-US" sz="3675" b="1">
                <a:solidFill>
                  <a:srgbClr val="122C49"/>
                </a:solidFill>
                <a:latin typeface="Aptos"/>
                <a:ea typeface="Aptos"/>
                <a:cs typeface="Aptos"/>
              </a:rPr>
              <a:t>Planning, Budgeting and Forecasting</a:t>
            </a:r>
          </a:p>
        </p:txBody>
      </p:sp>
      <p:sp>
        <p:nvSpPr>
          <p:cNvPr id="2" name="Rectangle 1">
            <a:extLst>
              <a:ext uri="{FF2B5EF4-FFF2-40B4-BE49-F238E27FC236}">
                <a16:creationId xmlns:a16="http://schemas.microsoft.com/office/drawing/2014/main" id="{00000002-0002-4000-8000-000000000000}"/>
              </a:ext>
            </a:extLst>
          </p:cNvPr>
          <p:cNvSpPr>
            <a:spLocks noGrp="1"/>
          </p:cNvSpPr>
          <p:nvPr/>
        </p:nvSpPr>
        <p:spPr>
          <a:xfrm>
            <a:off x="762000" y="1185862"/>
            <a:ext cx="13811250" cy="400050"/>
          </a:xfrm>
          <a:prstGeom prst="rect">
            <a:avLst/>
          </a:prstGeom>
          <a:noFill/>
          <a:ln w="0">
            <a:noFill/>
          </a:ln>
        </p:spPr>
        <p:txBody>
          <a:bodyPr wrap="square">
            <a:noAutofit/>
          </a:bodyPr>
          <a:lstStyle/>
          <a:p>
            <a:pPr>
              <a:defRPr sz="2025" b="0">
                <a:solidFill>
                  <a:srgbClr val="007F83"/>
                </a:solidFill>
                <a:latin typeface="Aptos"/>
                <a:ea typeface="Aptos"/>
                <a:cs typeface="Aptos"/>
              </a:defRPr>
            </a:pPr>
            <a:r>
              <a:rPr lang="en-US" sz="2400" b="0">
                <a:solidFill>
                  <a:srgbClr val="007F83"/>
                </a:solidFill>
                <a:latin typeface="Aptos"/>
                <a:ea typeface="Aptos"/>
                <a:cs typeface="Aptos"/>
              </a:rPr>
              <a:t>30 Apr – 04 May 2027   /   Sessions 23–24</a:t>
            </a:r>
          </a:p>
        </p:txBody>
      </p:sp>
      <p:graphicFrame>
        <p:nvGraphicFramePr>
          <p:cNvPr id="3" name="Table 2"/>
          <p:cNvGraphicFramePr/>
          <p:nvPr>
            <p:extLst>
              <p:ext uri="{D42A27DB-BD31-4B8C-83A1-F6EECF244321}">
                <p14:modId xmlns:p14="http://schemas.microsoft.com/office/powerpoint/2010/main" val="375059484"/>
              </p:ext>
            </p:extLst>
          </p:nvPr>
        </p:nvGraphicFramePr>
        <p:xfrm>
          <a:off x="762000" y="2028825"/>
          <a:ext cx="13811251" cy="3924300"/>
        </p:xfrm>
        <a:graphic>
          <a:graphicData uri="http://schemas.openxmlformats.org/drawingml/2006/table">
            <a:tbl>
              <a:tblPr/>
              <a:tblGrid>
                <a:gridCol w="1962652">
                  <a:extLst>
                    <a:ext uri="{9D8B030D-6E8A-4147-A177-3AD203B41FA5}">
                      <a16:colId xmlns:a16="http://schemas.microsoft.com/office/drawing/2014/main" val="20000"/>
                    </a:ext>
                  </a:extLst>
                </a:gridCol>
                <a:gridCol w="4984248">
                  <a:extLst>
                    <a:ext uri="{9D8B030D-6E8A-4147-A177-3AD203B41FA5}">
                      <a16:colId xmlns:a16="http://schemas.microsoft.com/office/drawing/2014/main" val="20001"/>
                    </a:ext>
                  </a:extLst>
                </a:gridCol>
                <a:gridCol w="5172911">
                  <a:extLst>
                    <a:ext uri="{9D8B030D-6E8A-4147-A177-3AD203B41FA5}">
                      <a16:colId xmlns:a16="http://schemas.microsoft.com/office/drawing/2014/main" val="20002"/>
                    </a:ext>
                  </a:extLst>
                </a:gridCol>
                <a:gridCol w="1691440">
                  <a:extLst>
                    <a:ext uri="{9D8B030D-6E8A-4147-A177-3AD203B41FA5}">
                      <a16:colId xmlns:a16="http://schemas.microsoft.com/office/drawing/2014/main" val="20003"/>
                    </a:ext>
                  </a:extLst>
                </a:gridCol>
              </a:tblGrid>
              <a:tr h="514350">
                <a:tc>
                  <a:txBody>
                    <a:bodyPr/>
                    <a:lstStyle/>
                    <a:p>
                      <a:pPr algn="ctr"/>
                      <a:r>
                        <a:rPr lang="en-US" sz="1800" b="1">
                          <a:solidFill>
                            <a:srgbClr val="FFFFFF"/>
                          </a:solidFill>
                          <a:latin typeface="Aptos"/>
                          <a:ea typeface="Aptos"/>
                          <a:cs typeface="Aptos"/>
                        </a:rPr>
                        <a:t>Session / date</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Study unit</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Coverage and practice</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Subunits</a:t>
                      </a:r>
                    </a:p>
                  </a:txBody>
                  <a:tcPr marL="133350" marR="133350" marT="133350" marB="133350" anchor="ctr">
                    <a:solidFill>
                      <a:srgbClr val="122C49"/>
                    </a:solidFill>
                  </a:tcPr>
                </a:tc>
                <a:extLst>
                  <a:ext uri="{0D108BD9-81ED-4DB2-BD59-A6C34878D82A}">
                    <a16:rowId xmlns:a16="http://schemas.microsoft.com/office/drawing/2014/main" val="10000"/>
                  </a:ext>
                </a:extLst>
              </a:tr>
              <a:tr h="1691640">
                <a:tc>
                  <a:txBody>
                    <a:bodyPr/>
                    <a:lstStyle/>
                    <a:p>
                      <a:r>
                        <a:rPr lang="fr-FR" sz="1800" b="1">
                          <a:solidFill>
                            <a:srgbClr val="007F83"/>
                          </a:solidFill>
                          <a:latin typeface="Aptos"/>
                          <a:ea typeface="Aptos"/>
                          <a:cs typeface="Aptos"/>
                        </a:rPr>
                        <a:t>23</a:t>
                      </a:r>
                    </a:p>
                    <a:p>
                      <a:r>
                        <a:rPr lang="fr-FR" sz="1800" b="1">
                          <a:solidFill>
                            <a:srgbClr val="007F83"/>
                          </a:solidFill>
                          <a:latin typeface="Aptos"/>
                          <a:ea typeface="Aptos"/>
                          <a:cs typeface="Aptos"/>
                        </a:rPr>
                        <a:t>Fri 30 Apr</a:t>
                      </a:r>
                    </a:p>
                    <a:p>
                      <a:r>
                        <a:rPr lang="fr-FR" sz="1800" b="1">
                          <a:solidFill>
                            <a:srgbClr val="007F83"/>
                          </a:solidFill>
                          <a:latin typeface="Aptos"/>
                          <a:ea typeface="Aptos"/>
                          <a:cs typeface="Aptos"/>
                        </a:rPr>
                        <a:t>2027</a:t>
                      </a:r>
                    </a:p>
                  </a:txBody>
                  <a:tcPr marL="133350" marR="133350" marT="133350" marB="133350" anchor="ctr">
                    <a:solidFill>
                      <a:srgbClr val="F3F7F9"/>
                    </a:solidFill>
                  </a:tcPr>
                </a:tc>
                <a:tc>
                  <a:txBody>
                    <a:bodyPr/>
                    <a:lstStyle/>
                    <a:p>
                      <a:r>
                        <a:rPr lang="en-US" sz="1800" b="1">
                          <a:solidFill>
                            <a:srgbClr val="122C49"/>
                          </a:solidFill>
                          <a:latin typeface="Aptos"/>
                          <a:ea typeface="Aptos"/>
                          <a:cs typeface="Aptos"/>
                        </a:rPr>
                        <a:t>Unit 12. Analysis, Forecasting and Strategy</a:t>
                      </a:r>
                    </a:p>
                    <a:p>
                      <a:r>
                        <a:rPr lang="en-US" sz="1800" b="1">
                          <a:solidFill>
                            <a:srgbClr val="122C49"/>
                          </a:solidFill>
                          <a:latin typeface="Aptos"/>
                          <a:ea typeface="Aptos"/>
                          <a:cs typeface="Aptos"/>
                        </a:rPr>
                        <a:t>Lecture 1 of 2</a:t>
                      </a:r>
                    </a:p>
                  </a:txBody>
                  <a:tcPr marL="133350" marR="133350" marT="133350" marB="133350" anchor="ctr">
                    <a:solidFill>
                      <a:srgbClr val="F3F7F9"/>
                    </a:solidFill>
                  </a:tcPr>
                </a:tc>
                <a:tc>
                  <a:txBody>
                    <a:bodyPr/>
                    <a:lstStyle/>
                    <a:p>
                      <a:pPr marL="285750" indent="-285750">
                        <a:buFont typeface="Arial" panose="020B0604020202020204" pitchFamily="34" charset="0"/>
                        <a:buChar char="•"/>
                      </a:pPr>
                      <a:r>
                        <a:rPr lang="en-US" sz="1800">
                          <a:solidFill>
                            <a:srgbClr val="233B50"/>
                          </a:solidFill>
                          <a:latin typeface="Aptos"/>
                          <a:ea typeface="Aptos"/>
                          <a:cs typeface="Aptos"/>
                        </a:rPr>
                        <a:t>12.1 Correlation and regression.</a:t>
                      </a:r>
                    </a:p>
                    <a:p>
                      <a:pPr marL="285750" indent="-285750">
                        <a:buFont typeface="Arial" panose="020B0604020202020204" pitchFamily="34" charset="0"/>
                        <a:buChar char="•"/>
                      </a:pPr>
                      <a:r>
                        <a:rPr lang="en-US" sz="1800">
                          <a:solidFill>
                            <a:srgbClr val="233B50"/>
                          </a:solidFill>
                          <a:latin typeface="Aptos"/>
                          <a:ea typeface="Aptos"/>
                          <a:cs typeface="Aptos"/>
                        </a:rPr>
                        <a:t>12.2 Learning curves.</a:t>
                      </a:r>
                    </a:p>
                    <a:p>
                      <a:pPr marL="285750" indent="-285750">
                        <a:buFont typeface="Arial" panose="020B0604020202020204" pitchFamily="34" charset="0"/>
                        <a:buChar char="•"/>
                      </a:pPr>
                      <a:r>
                        <a:rPr lang="en-US" sz="1800">
                          <a:solidFill>
                            <a:srgbClr val="233B50"/>
                          </a:solidFill>
                          <a:latin typeface="Aptos"/>
                          <a:ea typeface="Aptos"/>
                          <a:cs typeface="Aptos"/>
                        </a:rPr>
                        <a:t>12.3 Expected value and sensitivity analysis.</a:t>
                      </a:r>
                    </a:p>
                  </a:txBody>
                  <a:tcPr marL="133350" marR="133350" marT="133350" marB="133350" anchor="ctr">
                    <a:solidFill>
                      <a:srgbClr val="F3F7F9"/>
                    </a:solidFill>
                  </a:tcPr>
                </a:tc>
                <a:tc>
                  <a:txBody>
                    <a:bodyPr/>
                    <a:lstStyle/>
                    <a:p>
                      <a:pPr algn="ctr"/>
                      <a:r>
                        <a:rPr lang="en-US" sz="1800">
                          <a:solidFill>
                            <a:srgbClr val="233B50"/>
                          </a:solidFill>
                          <a:latin typeface="Aptos"/>
                          <a:ea typeface="Aptos"/>
                          <a:cs typeface="Aptos"/>
                        </a:rPr>
                        <a:t>12.1–12.3</a:t>
                      </a:r>
                    </a:p>
                  </a:txBody>
                  <a:tcPr marL="133350" marR="133350" marT="133350" marB="133350" anchor="ctr">
                    <a:solidFill>
                      <a:srgbClr val="F3F7F9"/>
                    </a:solidFill>
                  </a:tcPr>
                </a:tc>
                <a:extLst>
                  <a:ext uri="{0D108BD9-81ED-4DB2-BD59-A6C34878D82A}">
                    <a16:rowId xmlns:a16="http://schemas.microsoft.com/office/drawing/2014/main" val="10002"/>
                  </a:ext>
                </a:extLst>
              </a:tr>
              <a:tr h="1691640">
                <a:tc>
                  <a:txBody>
                    <a:bodyPr/>
                    <a:lstStyle/>
                    <a:p>
                      <a:r>
                        <a:rPr lang="sv-SE" sz="1800" b="1">
                          <a:solidFill>
                            <a:srgbClr val="007F83"/>
                          </a:solidFill>
                          <a:latin typeface="Aptos"/>
                          <a:ea typeface="Aptos"/>
                          <a:cs typeface="Aptos"/>
                        </a:rPr>
                        <a:t>24</a:t>
                      </a:r>
                    </a:p>
                    <a:p>
                      <a:r>
                        <a:rPr lang="sv-SE" sz="1800" b="1">
                          <a:solidFill>
                            <a:srgbClr val="007F83"/>
                          </a:solidFill>
                          <a:latin typeface="Aptos"/>
                          <a:ea typeface="Aptos"/>
                          <a:cs typeface="Aptos"/>
                        </a:rPr>
                        <a:t>Tue 04 May</a:t>
                      </a:r>
                    </a:p>
                    <a:p>
                      <a:r>
                        <a:rPr lang="sv-SE" sz="1800" b="1">
                          <a:solidFill>
                            <a:srgbClr val="007F83"/>
                          </a:solidFill>
                          <a:latin typeface="Aptos"/>
                          <a:ea typeface="Aptos"/>
                          <a:cs typeface="Aptos"/>
                        </a:rPr>
                        <a:t>2027</a:t>
                      </a:r>
                    </a:p>
                  </a:txBody>
                  <a:tcPr marL="133350" marR="133350" marT="133350" marB="133350" anchor="ctr">
                    <a:solidFill>
                      <a:srgbClr val="FFFFFF"/>
                    </a:solidFill>
                  </a:tcPr>
                </a:tc>
                <a:tc>
                  <a:txBody>
                    <a:bodyPr/>
                    <a:lstStyle/>
                    <a:p>
                      <a:r>
                        <a:rPr lang="en-US" sz="1800" b="1">
                          <a:solidFill>
                            <a:srgbClr val="122C49"/>
                          </a:solidFill>
                          <a:latin typeface="Aptos"/>
                          <a:ea typeface="Aptos"/>
                          <a:cs typeface="Aptos"/>
                        </a:rPr>
                        <a:t>Unit 12. Analysis, Forecasting and Strategy</a:t>
                      </a:r>
                    </a:p>
                    <a:p>
                      <a:r>
                        <a:rPr lang="en-US" sz="1800" b="1">
                          <a:solidFill>
                            <a:srgbClr val="122C49"/>
                          </a:solidFill>
                          <a:latin typeface="Aptos"/>
                          <a:ea typeface="Aptos"/>
                          <a:cs typeface="Aptos"/>
                        </a:rPr>
                        <a:t>Lecture 2 of 2</a:t>
                      </a:r>
                    </a:p>
                  </a:txBody>
                  <a:tcPr marL="133350" marR="133350" marT="133350" marB="133350" anchor="ctr">
                    <a:solidFill>
                      <a:srgbClr val="FFFFFF"/>
                    </a:solidFill>
                  </a:tcPr>
                </a:tc>
                <a:tc>
                  <a:txBody>
                    <a:bodyPr/>
                    <a:lstStyle/>
                    <a:p>
                      <a:pPr marL="285750" indent="-285750">
                        <a:buFont typeface="Arial" panose="020B0604020202020204" pitchFamily="34" charset="0"/>
                        <a:buChar char="•"/>
                      </a:pPr>
                      <a:r>
                        <a:rPr lang="en-US" sz="1800">
                          <a:solidFill>
                            <a:srgbClr val="233B50"/>
                          </a:solidFill>
                          <a:latin typeface="Aptos"/>
                          <a:ea typeface="Aptos"/>
                          <a:cs typeface="Aptos"/>
                        </a:rPr>
                        <a:t>12.4 Strategic management.</a:t>
                      </a:r>
                    </a:p>
                    <a:p>
                      <a:pPr marL="285750" indent="-285750">
                        <a:buFont typeface="Arial" panose="020B0604020202020204" pitchFamily="34" charset="0"/>
                        <a:buChar char="•"/>
                      </a:pPr>
                      <a:r>
                        <a:rPr lang="en-US" sz="1800">
                          <a:solidFill>
                            <a:srgbClr val="233B50"/>
                          </a:solidFill>
                          <a:latin typeface="Aptos"/>
                          <a:ea typeface="Aptos"/>
                          <a:cs typeface="Aptos"/>
                        </a:rPr>
                        <a:t>12.5 Strategic planning.</a:t>
                      </a:r>
                    </a:p>
                  </a:txBody>
                  <a:tcPr marL="133350" marR="133350" marT="133350" marB="133350" anchor="ctr">
                    <a:solidFill>
                      <a:srgbClr val="FFFFFF"/>
                    </a:solidFill>
                  </a:tcPr>
                </a:tc>
                <a:tc>
                  <a:txBody>
                    <a:bodyPr/>
                    <a:lstStyle/>
                    <a:p>
                      <a:pPr algn="ctr"/>
                      <a:r>
                        <a:rPr lang="en-US" sz="1800">
                          <a:solidFill>
                            <a:srgbClr val="233B50"/>
                          </a:solidFill>
                          <a:latin typeface="Aptos"/>
                          <a:ea typeface="Aptos"/>
                          <a:cs typeface="Aptos"/>
                        </a:rPr>
                        <a:t>12.4–12.5</a:t>
                      </a:r>
                    </a:p>
                  </a:txBody>
                  <a:tcPr marL="133350" marR="133350" marT="133350" marB="133350" anchor="ctr">
                    <a:solidFill>
                      <a:srgbClr val="FFFFFF"/>
                    </a:solidFill>
                  </a:tcPr>
                </a:tc>
                <a:extLst>
                  <a:ext uri="{0D108BD9-81ED-4DB2-BD59-A6C34878D82A}">
                    <a16:rowId xmlns:a16="http://schemas.microsoft.com/office/drawing/2014/main" val="10003"/>
                  </a:ext>
                </a:extLst>
              </a:tr>
            </a:tbl>
          </a:graphicData>
        </a:graphic>
      </p:graphicFrame>
      <p:sp>
        <p:nvSpPr>
          <p:cNvPr id="5" name="Rectangle 4">
            <a:extLst>
              <a:ext uri="{FF2B5EF4-FFF2-40B4-BE49-F238E27FC236}">
                <a16:creationId xmlns:a16="http://schemas.microsoft.com/office/drawing/2014/main" id="{00000002-0004-4000-8000-000000000000}"/>
              </a:ext>
            </a:extLst>
          </p:cNvPr>
          <p:cNvSpPr>
            <a:spLocks noGrp="1"/>
          </p:cNvSpPr>
          <p:nvPr/>
        </p:nvSpPr>
        <p:spPr>
          <a:xfrm>
            <a:off x="13811250" y="8077200"/>
            <a:ext cx="666750" cy="285750"/>
          </a:xfrm>
          <a:prstGeom prst="rect">
            <a:avLst/>
          </a:prstGeom>
          <a:noFill/>
          <a:ln w="0">
            <a:noFill/>
          </a:ln>
        </p:spPr>
        <p:txBody>
          <a:bodyPr wrap="square">
            <a:noAutofit/>
          </a:bodyPr>
          <a:lstStyle/>
          <a:p>
            <a:pPr>
              <a:defRPr sz="1350" b="0">
                <a:solidFill>
                  <a:srgbClr val="5C6F7F"/>
                </a:solidFill>
                <a:latin typeface="Aptos"/>
                <a:ea typeface="Aptos"/>
                <a:cs typeface="Aptos"/>
              </a:defRPr>
            </a:pPr>
            <a:r>
              <a:rPr lang="en-US" sz="1350" b="0">
                <a:solidFill>
                  <a:srgbClr val="5C6F7F"/>
                </a:solidFill>
                <a:latin typeface="Aptos"/>
                <a:ea typeface="Aptos"/>
                <a:cs typeface="Aptos"/>
              </a:rPr>
              <a:t>28</a:t>
            </a:r>
          </a:p>
        </p:txBody>
      </p:sp>
      <p:sp>
        <p:nvSpPr>
          <p:cNvPr id="7" name="Section exam weighting">
            <a:extLst>
              <a:ext uri="{FF2B5EF4-FFF2-40B4-BE49-F238E27FC236}">
                <a16:creationId xmlns:a16="http://schemas.microsoft.com/office/drawing/2014/main" id="{00000002-0002-4000-8000-000000000000}"/>
              </a:ext>
            </a:extLst>
          </p:cNvPr>
          <p:cNvSpPr>
            <a:spLocks noGrp="1"/>
          </p:cNvSpPr>
          <p:nvPr/>
        </p:nvSpPr>
        <p:spPr>
          <a:xfrm>
            <a:off x="762000" y="1657350"/>
            <a:ext cx="13811250" cy="276225"/>
          </a:xfrm>
          <a:prstGeom prst="rect">
            <a:avLst/>
          </a:prstGeom>
          <a:noFill/>
          <a:ln w="0">
            <a:noFill/>
          </a:ln>
        </p:spPr>
        <p:txBody>
          <a:bodyPr wrap="square" tIns="0" bIns="0">
            <a:noAutofit/>
          </a:bodyPr>
          <a:lstStyle/>
          <a:p>
            <a:pPr>
              <a:defRPr sz="2025" b="0">
                <a:solidFill>
                  <a:srgbClr val="007F83"/>
                </a:solidFill>
                <a:latin typeface="Aptos"/>
                <a:ea typeface="Aptos"/>
                <a:cs typeface="Aptos"/>
              </a:defRPr>
            </a:pPr>
            <a:r>
              <a:rPr lang="en-US" b="1">
                <a:solidFill>
                  <a:srgbClr val="007F83"/>
                </a:solidFill>
                <a:latin typeface="Aptos"/>
                <a:ea typeface="Aptos"/>
                <a:cs typeface="Aptos"/>
              </a:rPr>
              <a:t>Section exam weight: Planning, Budgeting and Forecasting 20%</a:t>
            </a:r>
          </a:p>
        </p:txBody>
      </p:sp>
      <p:sp>
        <p:nvSpPr>
          <p:cNvPr id="9" name="Rectangle 8">
            <a:extLst>
              <a:ext uri="{FF2B5EF4-FFF2-40B4-BE49-F238E27FC236}">
                <a16:creationId xmlns:a16="http://schemas.microsoft.com/office/drawing/2014/main" id="{D3A78D56-E053-6C16-E8E4-FC020C038BC4}"/>
              </a:ext>
            </a:extLst>
          </p:cNvPr>
          <p:cNvSpPr>
            <a:spLocks noGrp="1"/>
          </p:cNvSpPr>
          <p:nvPr/>
        </p:nvSpPr>
        <p:spPr>
          <a:xfrm>
            <a:off x="762000" y="8077200"/>
            <a:ext cx="11430000" cy="285750"/>
          </a:xfrm>
          <a:prstGeom prst="rect">
            <a:avLst/>
          </a:prstGeom>
          <a:noFill/>
          <a:ln w="0">
            <a:noFill/>
          </a:ln>
        </p:spPr>
        <p:txBody>
          <a:bodyPr wrap="square">
            <a:noAutofit/>
          </a:bodyPr>
          <a:lstStyle/>
          <a:p>
            <a:pPr>
              <a:defRPr sz="1350" b="0">
                <a:solidFill>
                  <a:srgbClr val="5C6F7F"/>
                </a:solidFill>
                <a:latin typeface="Aptos"/>
                <a:ea typeface="Aptos"/>
                <a:cs typeface="Aptos"/>
              </a:defRPr>
            </a:pPr>
            <a:r>
              <a:rPr sz="1350" b="0">
                <a:solidFill>
                  <a:srgbClr val="5C6F7F"/>
                </a:solidFill>
                <a:latin typeface="Aptos"/>
                <a:ea typeface="Aptos"/>
                <a:cs typeface="Aptos"/>
              </a:rPr>
              <a:t>CMA Part 1. Supplied course outline. Subunit references shown.</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0000002-0001-4000-8000-000000000000}"/>
              </a:ext>
            </a:extLst>
          </p:cNvPr>
          <p:cNvSpPr>
            <a:spLocks noGrp="1"/>
          </p:cNvSpPr>
          <p:nvPr/>
        </p:nvSpPr>
        <p:spPr>
          <a:xfrm>
            <a:off x="762000" y="542925"/>
            <a:ext cx="13811250" cy="666750"/>
          </a:xfrm>
          <a:prstGeom prst="rect">
            <a:avLst/>
          </a:prstGeom>
          <a:noFill/>
          <a:ln w="0">
            <a:noFill/>
          </a:ln>
        </p:spPr>
        <p:txBody>
          <a:bodyPr wrap="square">
            <a:noAutofit/>
          </a:bodyPr>
          <a:lstStyle/>
          <a:p>
            <a:pPr>
              <a:defRPr sz="3675" b="1">
                <a:solidFill>
                  <a:srgbClr val="122C49"/>
                </a:solidFill>
                <a:latin typeface="Aptos"/>
                <a:ea typeface="Aptos"/>
                <a:cs typeface="Aptos"/>
              </a:defRPr>
            </a:pPr>
            <a:r>
              <a:rPr lang="en-US" sz="3675" b="1">
                <a:solidFill>
                  <a:srgbClr val="122C49"/>
                </a:solidFill>
                <a:latin typeface="Aptos"/>
                <a:ea typeface="Aptos"/>
                <a:cs typeface="Aptos"/>
              </a:rPr>
              <a:t>Planning, Budgeting and Forecasting</a:t>
            </a:r>
          </a:p>
        </p:txBody>
      </p:sp>
      <p:sp>
        <p:nvSpPr>
          <p:cNvPr id="2" name="Rectangle 1">
            <a:extLst>
              <a:ext uri="{FF2B5EF4-FFF2-40B4-BE49-F238E27FC236}">
                <a16:creationId xmlns:a16="http://schemas.microsoft.com/office/drawing/2014/main" id="{00000002-0002-4000-8000-000000000000}"/>
              </a:ext>
            </a:extLst>
          </p:cNvPr>
          <p:cNvSpPr>
            <a:spLocks noGrp="1"/>
          </p:cNvSpPr>
          <p:nvPr/>
        </p:nvSpPr>
        <p:spPr>
          <a:xfrm>
            <a:off x="762000" y="1185862"/>
            <a:ext cx="13811250" cy="400050"/>
          </a:xfrm>
          <a:prstGeom prst="rect">
            <a:avLst/>
          </a:prstGeom>
          <a:noFill/>
          <a:ln w="0">
            <a:noFill/>
          </a:ln>
        </p:spPr>
        <p:txBody>
          <a:bodyPr wrap="square">
            <a:noAutofit/>
          </a:bodyPr>
          <a:lstStyle/>
          <a:p>
            <a:pPr>
              <a:defRPr sz="2025" b="0">
                <a:solidFill>
                  <a:srgbClr val="007F83"/>
                </a:solidFill>
                <a:latin typeface="Aptos"/>
                <a:ea typeface="Aptos"/>
                <a:cs typeface="Aptos"/>
              </a:defRPr>
            </a:pPr>
            <a:r>
              <a:rPr lang="en-US" sz="2400" b="0">
                <a:solidFill>
                  <a:srgbClr val="007F83"/>
                </a:solidFill>
                <a:latin typeface="Aptos"/>
                <a:ea typeface="Aptos"/>
                <a:cs typeface="Aptos"/>
              </a:rPr>
              <a:t>7–11 May 2027   /   Sessions 25–26</a:t>
            </a:r>
          </a:p>
        </p:txBody>
      </p:sp>
      <p:graphicFrame>
        <p:nvGraphicFramePr>
          <p:cNvPr id="3" name="Table 2"/>
          <p:cNvGraphicFramePr/>
          <p:nvPr>
            <p:extLst>
              <p:ext uri="{D42A27DB-BD31-4B8C-83A1-F6EECF244321}">
                <p14:modId xmlns:p14="http://schemas.microsoft.com/office/powerpoint/2010/main" val="816670448"/>
              </p:ext>
            </p:extLst>
          </p:nvPr>
        </p:nvGraphicFramePr>
        <p:xfrm>
          <a:off x="762000" y="2028825"/>
          <a:ext cx="13811251" cy="3924300"/>
        </p:xfrm>
        <a:graphic>
          <a:graphicData uri="http://schemas.openxmlformats.org/drawingml/2006/table">
            <a:tbl>
              <a:tblPr/>
              <a:tblGrid>
                <a:gridCol w="1962652">
                  <a:extLst>
                    <a:ext uri="{9D8B030D-6E8A-4147-A177-3AD203B41FA5}">
                      <a16:colId xmlns:a16="http://schemas.microsoft.com/office/drawing/2014/main" val="20000"/>
                    </a:ext>
                  </a:extLst>
                </a:gridCol>
                <a:gridCol w="4984248">
                  <a:extLst>
                    <a:ext uri="{9D8B030D-6E8A-4147-A177-3AD203B41FA5}">
                      <a16:colId xmlns:a16="http://schemas.microsoft.com/office/drawing/2014/main" val="20001"/>
                    </a:ext>
                  </a:extLst>
                </a:gridCol>
                <a:gridCol w="5172911">
                  <a:extLst>
                    <a:ext uri="{9D8B030D-6E8A-4147-A177-3AD203B41FA5}">
                      <a16:colId xmlns:a16="http://schemas.microsoft.com/office/drawing/2014/main" val="20002"/>
                    </a:ext>
                  </a:extLst>
                </a:gridCol>
                <a:gridCol w="1691440">
                  <a:extLst>
                    <a:ext uri="{9D8B030D-6E8A-4147-A177-3AD203B41FA5}">
                      <a16:colId xmlns:a16="http://schemas.microsoft.com/office/drawing/2014/main" val="20003"/>
                    </a:ext>
                  </a:extLst>
                </a:gridCol>
              </a:tblGrid>
              <a:tr h="514350">
                <a:tc>
                  <a:txBody>
                    <a:bodyPr/>
                    <a:lstStyle/>
                    <a:p>
                      <a:pPr algn="ctr"/>
                      <a:r>
                        <a:rPr lang="en-US" sz="1800" b="1">
                          <a:solidFill>
                            <a:srgbClr val="FFFFFF"/>
                          </a:solidFill>
                          <a:latin typeface="Aptos"/>
                          <a:ea typeface="Aptos"/>
                          <a:cs typeface="Aptos"/>
                        </a:rPr>
                        <a:t>Session / date</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Study unit</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Coverage and practice</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Subunits</a:t>
                      </a:r>
                    </a:p>
                  </a:txBody>
                  <a:tcPr marL="133350" marR="133350" marT="133350" marB="133350" anchor="ctr">
                    <a:solidFill>
                      <a:srgbClr val="122C49"/>
                    </a:solidFill>
                  </a:tcPr>
                </a:tc>
                <a:extLst>
                  <a:ext uri="{0D108BD9-81ED-4DB2-BD59-A6C34878D82A}">
                    <a16:rowId xmlns:a16="http://schemas.microsoft.com/office/drawing/2014/main" val="10000"/>
                  </a:ext>
                </a:extLst>
              </a:tr>
              <a:tr h="1691640">
                <a:tc>
                  <a:txBody>
                    <a:bodyPr/>
                    <a:lstStyle/>
                    <a:p>
                      <a:r>
                        <a:rPr lang="fr-FR" sz="1800" b="1">
                          <a:solidFill>
                            <a:srgbClr val="007F83"/>
                          </a:solidFill>
                          <a:latin typeface="Aptos"/>
                          <a:ea typeface="Aptos"/>
                          <a:cs typeface="Aptos"/>
                        </a:rPr>
                        <a:t>25</a:t>
                      </a:r>
                    </a:p>
                    <a:p>
                      <a:r>
                        <a:rPr lang="fr-FR" sz="1800" b="1">
                          <a:solidFill>
                            <a:srgbClr val="007F83"/>
                          </a:solidFill>
                          <a:latin typeface="Aptos"/>
                          <a:ea typeface="Aptos"/>
                          <a:cs typeface="Aptos"/>
                        </a:rPr>
                        <a:t>Fri 07 May</a:t>
                      </a:r>
                    </a:p>
                    <a:p>
                      <a:r>
                        <a:rPr lang="fr-FR" sz="1800" b="1">
                          <a:solidFill>
                            <a:srgbClr val="007F83"/>
                          </a:solidFill>
                          <a:latin typeface="Aptos"/>
                          <a:ea typeface="Aptos"/>
                          <a:cs typeface="Aptos"/>
                        </a:rPr>
                        <a:t>2027</a:t>
                      </a:r>
                    </a:p>
                  </a:txBody>
                  <a:tcPr marL="133350" marR="133350" marT="133350" marB="133350" anchor="ctr">
                    <a:solidFill>
                      <a:srgbClr val="F3F7F9"/>
                    </a:solidFill>
                  </a:tcPr>
                </a:tc>
                <a:tc>
                  <a:txBody>
                    <a:bodyPr/>
                    <a:lstStyle/>
                    <a:p>
                      <a:r>
                        <a:rPr lang="en-US" sz="1800" b="1">
                          <a:solidFill>
                            <a:srgbClr val="122C49"/>
                          </a:solidFill>
                          <a:latin typeface="Aptos"/>
                          <a:ea typeface="Aptos"/>
                          <a:cs typeface="Aptos"/>
                        </a:rPr>
                        <a:t>Unit 13. Budgeting Concepts and Methodologies</a:t>
                      </a:r>
                    </a:p>
                    <a:p>
                      <a:r>
                        <a:rPr lang="en-US" sz="1800" b="1">
                          <a:solidFill>
                            <a:srgbClr val="122C49"/>
                          </a:solidFill>
                          <a:latin typeface="Aptos"/>
                          <a:ea typeface="Aptos"/>
                          <a:cs typeface="Aptos"/>
                        </a:rPr>
                        <a:t>Lecture 1 of 2</a:t>
                      </a:r>
                    </a:p>
                  </a:txBody>
                  <a:tcPr marL="133350" marR="133350" marT="133350" marB="133350" anchor="ctr">
                    <a:solidFill>
                      <a:srgbClr val="F3F7F9"/>
                    </a:solidFill>
                  </a:tcPr>
                </a:tc>
                <a:tc>
                  <a:txBody>
                    <a:bodyPr/>
                    <a:lstStyle/>
                    <a:p>
                      <a:pPr marL="285750" indent="-285750">
                        <a:buFont typeface="Arial" panose="020B0604020202020204" pitchFamily="34" charset="0"/>
                        <a:buChar char="•"/>
                      </a:pPr>
                      <a:r>
                        <a:rPr lang="en-US" sz="1800">
                          <a:solidFill>
                            <a:srgbClr val="233B50"/>
                          </a:solidFill>
                          <a:latin typeface="Aptos"/>
                          <a:ea typeface="Aptos"/>
                          <a:cs typeface="Aptos"/>
                        </a:rPr>
                        <a:t>13.1 Roles of budgets and the budgeting process.</a:t>
                      </a:r>
                    </a:p>
                    <a:p>
                      <a:pPr marL="285750" indent="-285750">
                        <a:buFont typeface="Arial" panose="020B0604020202020204" pitchFamily="34" charset="0"/>
                        <a:buChar char="•"/>
                      </a:pPr>
                      <a:r>
                        <a:rPr lang="en-US" sz="1800">
                          <a:solidFill>
                            <a:srgbClr val="233B50"/>
                          </a:solidFill>
                          <a:latin typeface="Aptos"/>
                          <a:ea typeface="Aptos"/>
                          <a:cs typeface="Aptos"/>
                        </a:rPr>
                        <a:t>13.2 Budgeting and standard costs.</a:t>
                      </a:r>
                    </a:p>
                  </a:txBody>
                  <a:tcPr marL="133350" marR="133350" marT="133350" marB="133350" anchor="ctr">
                    <a:solidFill>
                      <a:srgbClr val="F3F7F9"/>
                    </a:solidFill>
                  </a:tcPr>
                </a:tc>
                <a:tc>
                  <a:txBody>
                    <a:bodyPr/>
                    <a:lstStyle/>
                    <a:p>
                      <a:pPr algn="ctr"/>
                      <a:r>
                        <a:rPr lang="en-US" sz="1800">
                          <a:solidFill>
                            <a:srgbClr val="233B50"/>
                          </a:solidFill>
                          <a:latin typeface="Aptos"/>
                          <a:ea typeface="Aptos"/>
                          <a:cs typeface="Aptos"/>
                        </a:rPr>
                        <a:t>13.1–13.2</a:t>
                      </a:r>
                    </a:p>
                  </a:txBody>
                  <a:tcPr marL="133350" marR="133350" marT="133350" marB="133350" anchor="ctr">
                    <a:solidFill>
                      <a:srgbClr val="F3F7F9"/>
                    </a:solidFill>
                  </a:tcPr>
                </a:tc>
                <a:extLst>
                  <a:ext uri="{0D108BD9-81ED-4DB2-BD59-A6C34878D82A}">
                    <a16:rowId xmlns:a16="http://schemas.microsoft.com/office/drawing/2014/main" val="10002"/>
                  </a:ext>
                </a:extLst>
              </a:tr>
              <a:tr h="1691640">
                <a:tc>
                  <a:txBody>
                    <a:bodyPr/>
                    <a:lstStyle/>
                    <a:p>
                      <a:r>
                        <a:rPr lang="sv-SE" sz="1800" b="1">
                          <a:solidFill>
                            <a:srgbClr val="007F83"/>
                          </a:solidFill>
                          <a:latin typeface="Aptos"/>
                          <a:ea typeface="Aptos"/>
                          <a:cs typeface="Aptos"/>
                        </a:rPr>
                        <a:t>26</a:t>
                      </a:r>
                    </a:p>
                    <a:p>
                      <a:r>
                        <a:rPr lang="sv-SE" sz="1800" b="1">
                          <a:solidFill>
                            <a:srgbClr val="007F83"/>
                          </a:solidFill>
                          <a:latin typeface="Aptos"/>
                          <a:ea typeface="Aptos"/>
                          <a:cs typeface="Aptos"/>
                        </a:rPr>
                        <a:t>Tue 11 May</a:t>
                      </a:r>
                    </a:p>
                    <a:p>
                      <a:r>
                        <a:rPr lang="sv-SE" sz="1800" b="1">
                          <a:solidFill>
                            <a:srgbClr val="007F83"/>
                          </a:solidFill>
                          <a:latin typeface="Aptos"/>
                          <a:ea typeface="Aptos"/>
                          <a:cs typeface="Aptos"/>
                        </a:rPr>
                        <a:t>2027</a:t>
                      </a:r>
                    </a:p>
                  </a:txBody>
                  <a:tcPr marL="133350" marR="133350" marT="133350" marB="133350" anchor="ctr">
                    <a:solidFill>
                      <a:srgbClr val="FFFFFF"/>
                    </a:solidFill>
                  </a:tcPr>
                </a:tc>
                <a:tc>
                  <a:txBody>
                    <a:bodyPr/>
                    <a:lstStyle/>
                    <a:p>
                      <a:r>
                        <a:rPr lang="en-US" sz="1800" b="1">
                          <a:solidFill>
                            <a:srgbClr val="122C49"/>
                          </a:solidFill>
                          <a:latin typeface="Aptos"/>
                          <a:ea typeface="Aptos"/>
                          <a:cs typeface="Aptos"/>
                        </a:rPr>
                        <a:t>Unit 13. Budgeting Concepts and Methodologies</a:t>
                      </a:r>
                    </a:p>
                    <a:p>
                      <a:r>
                        <a:rPr lang="en-US" sz="1800" b="1">
                          <a:solidFill>
                            <a:srgbClr val="122C49"/>
                          </a:solidFill>
                          <a:latin typeface="Aptos"/>
                          <a:ea typeface="Aptos"/>
                          <a:cs typeface="Aptos"/>
                        </a:rPr>
                        <a:t>Lecture 2 of 2</a:t>
                      </a:r>
                    </a:p>
                  </a:txBody>
                  <a:tcPr marL="133350" marR="133350" marT="133350" marB="133350" anchor="ctr">
                    <a:solidFill>
                      <a:srgbClr val="FFFFFF"/>
                    </a:solidFill>
                  </a:tcPr>
                </a:tc>
                <a:tc>
                  <a:txBody>
                    <a:bodyPr/>
                    <a:lstStyle/>
                    <a:p>
                      <a:pPr marL="285750" indent="-285750">
                        <a:buFont typeface="Arial" panose="020B0604020202020204" pitchFamily="34" charset="0"/>
                        <a:buChar char="•"/>
                      </a:pPr>
                      <a:r>
                        <a:rPr lang="en-US" sz="1800">
                          <a:solidFill>
                            <a:srgbClr val="233B50"/>
                          </a:solidFill>
                          <a:latin typeface="Aptos"/>
                          <a:ea typeface="Aptos"/>
                          <a:cs typeface="Aptos"/>
                        </a:rPr>
                        <a:t>13.3 Master budget.</a:t>
                      </a:r>
                    </a:p>
                    <a:p>
                      <a:pPr marL="285750" indent="-285750">
                        <a:buFont typeface="Arial" panose="020B0604020202020204" pitchFamily="34" charset="0"/>
                        <a:buChar char="•"/>
                      </a:pPr>
                      <a:r>
                        <a:rPr lang="en-US" sz="1800">
                          <a:solidFill>
                            <a:srgbClr val="233B50"/>
                          </a:solidFill>
                          <a:latin typeface="Aptos"/>
                          <a:ea typeface="Aptos"/>
                          <a:cs typeface="Aptos"/>
                        </a:rPr>
                        <a:t>13.4 Budget methodologies.</a:t>
                      </a:r>
                    </a:p>
                  </a:txBody>
                  <a:tcPr marL="133350" marR="133350" marT="133350" marB="133350" anchor="ctr">
                    <a:solidFill>
                      <a:srgbClr val="FFFFFF"/>
                    </a:solidFill>
                  </a:tcPr>
                </a:tc>
                <a:tc>
                  <a:txBody>
                    <a:bodyPr/>
                    <a:lstStyle/>
                    <a:p>
                      <a:pPr algn="ctr"/>
                      <a:r>
                        <a:rPr lang="en-US" sz="1800">
                          <a:solidFill>
                            <a:srgbClr val="233B50"/>
                          </a:solidFill>
                          <a:latin typeface="Aptos"/>
                          <a:ea typeface="Aptos"/>
                          <a:cs typeface="Aptos"/>
                        </a:rPr>
                        <a:t>13.3–13.4</a:t>
                      </a:r>
                    </a:p>
                  </a:txBody>
                  <a:tcPr marL="133350" marR="133350" marT="133350" marB="133350" anchor="ctr">
                    <a:solidFill>
                      <a:srgbClr val="FFFFFF"/>
                    </a:solidFill>
                  </a:tcPr>
                </a:tc>
                <a:extLst>
                  <a:ext uri="{0D108BD9-81ED-4DB2-BD59-A6C34878D82A}">
                    <a16:rowId xmlns:a16="http://schemas.microsoft.com/office/drawing/2014/main" val="10003"/>
                  </a:ext>
                </a:extLst>
              </a:tr>
            </a:tbl>
          </a:graphicData>
        </a:graphic>
      </p:graphicFrame>
      <p:sp>
        <p:nvSpPr>
          <p:cNvPr id="5" name="Rectangle 4">
            <a:extLst>
              <a:ext uri="{FF2B5EF4-FFF2-40B4-BE49-F238E27FC236}">
                <a16:creationId xmlns:a16="http://schemas.microsoft.com/office/drawing/2014/main" id="{00000002-0004-4000-8000-000000000000}"/>
              </a:ext>
            </a:extLst>
          </p:cNvPr>
          <p:cNvSpPr>
            <a:spLocks noGrp="1"/>
          </p:cNvSpPr>
          <p:nvPr/>
        </p:nvSpPr>
        <p:spPr>
          <a:xfrm>
            <a:off x="13811250" y="8077200"/>
            <a:ext cx="666750" cy="285750"/>
          </a:xfrm>
          <a:prstGeom prst="rect">
            <a:avLst/>
          </a:prstGeom>
          <a:noFill/>
          <a:ln w="0">
            <a:noFill/>
          </a:ln>
        </p:spPr>
        <p:txBody>
          <a:bodyPr wrap="square">
            <a:noAutofit/>
          </a:bodyPr>
          <a:lstStyle/>
          <a:p>
            <a:pPr>
              <a:defRPr sz="1350" b="0">
                <a:solidFill>
                  <a:srgbClr val="5C6F7F"/>
                </a:solidFill>
                <a:latin typeface="Aptos"/>
                <a:ea typeface="Aptos"/>
                <a:cs typeface="Aptos"/>
              </a:defRPr>
            </a:pPr>
            <a:r>
              <a:rPr lang="en-US" sz="1350" b="0">
                <a:solidFill>
                  <a:srgbClr val="5C6F7F"/>
                </a:solidFill>
                <a:latin typeface="Aptos"/>
                <a:ea typeface="Aptos"/>
                <a:cs typeface="Aptos"/>
              </a:rPr>
              <a:t>29</a:t>
            </a:r>
          </a:p>
        </p:txBody>
      </p:sp>
      <p:sp>
        <p:nvSpPr>
          <p:cNvPr id="7" name="Section exam weighting">
            <a:extLst>
              <a:ext uri="{FF2B5EF4-FFF2-40B4-BE49-F238E27FC236}">
                <a16:creationId xmlns:a16="http://schemas.microsoft.com/office/drawing/2014/main" id="{00000002-0002-4000-8000-000000000000}"/>
              </a:ext>
            </a:extLst>
          </p:cNvPr>
          <p:cNvSpPr>
            <a:spLocks noGrp="1"/>
          </p:cNvSpPr>
          <p:nvPr/>
        </p:nvSpPr>
        <p:spPr>
          <a:xfrm>
            <a:off x="762000" y="1657350"/>
            <a:ext cx="13811250" cy="276225"/>
          </a:xfrm>
          <a:prstGeom prst="rect">
            <a:avLst/>
          </a:prstGeom>
          <a:noFill/>
          <a:ln w="0">
            <a:noFill/>
          </a:ln>
        </p:spPr>
        <p:txBody>
          <a:bodyPr wrap="square" tIns="0" bIns="0">
            <a:noAutofit/>
          </a:bodyPr>
          <a:lstStyle/>
          <a:p>
            <a:pPr>
              <a:defRPr sz="2025" b="0">
                <a:solidFill>
                  <a:srgbClr val="007F83"/>
                </a:solidFill>
                <a:latin typeface="Aptos"/>
                <a:ea typeface="Aptos"/>
                <a:cs typeface="Aptos"/>
              </a:defRPr>
            </a:pPr>
            <a:r>
              <a:rPr lang="en-US" b="1">
                <a:solidFill>
                  <a:srgbClr val="007F83"/>
                </a:solidFill>
                <a:latin typeface="Aptos"/>
                <a:ea typeface="Aptos"/>
                <a:cs typeface="Aptos"/>
              </a:rPr>
              <a:t>Section exam weight: Planning, Budgeting and Forecasting 20%</a:t>
            </a:r>
          </a:p>
        </p:txBody>
      </p:sp>
      <p:sp>
        <p:nvSpPr>
          <p:cNvPr id="9" name="Rectangle 8">
            <a:extLst>
              <a:ext uri="{FF2B5EF4-FFF2-40B4-BE49-F238E27FC236}">
                <a16:creationId xmlns:a16="http://schemas.microsoft.com/office/drawing/2014/main" id="{D3A78D56-E053-6C16-E8E4-FC020C038BC4}"/>
              </a:ext>
            </a:extLst>
          </p:cNvPr>
          <p:cNvSpPr>
            <a:spLocks noGrp="1"/>
          </p:cNvSpPr>
          <p:nvPr/>
        </p:nvSpPr>
        <p:spPr>
          <a:xfrm>
            <a:off x="762000" y="8077200"/>
            <a:ext cx="11430000" cy="285750"/>
          </a:xfrm>
          <a:prstGeom prst="rect">
            <a:avLst/>
          </a:prstGeom>
          <a:noFill/>
          <a:ln w="0">
            <a:noFill/>
          </a:ln>
        </p:spPr>
        <p:txBody>
          <a:bodyPr wrap="square">
            <a:noAutofit/>
          </a:bodyPr>
          <a:lstStyle/>
          <a:p>
            <a:pPr>
              <a:defRPr sz="1350" b="0">
                <a:solidFill>
                  <a:srgbClr val="5C6F7F"/>
                </a:solidFill>
                <a:latin typeface="Aptos"/>
                <a:ea typeface="Aptos"/>
                <a:cs typeface="Aptos"/>
              </a:defRPr>
            </a:pPr>
            <a:r>
              <a:rPr sz="1350" b="0">
                <a:solidFill>
                  <a:srgbClr val="5C6F7F"/>
                </a:solidFill>
                <a:latin typeface="Aptos"/>
                <a:ea typeface="Aptos"/>
                <a:cs typeface="Aptos"/>
              </a:rPr>
              <a:t>CMA Part 1. Supplied course outline. Subunit references shown.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0000002-0001-4000-8000-000000000000}"/>
              </a:ext>
            </a:extLst>
          </p:cNvPr>
          <p:cNvSpPr>
            <a:spLocks noGrp="1"/>
          </p:cNvSpPr>
          <p:nvPr/>
        </p:nvSpPr>
        <p:spPr>
          <a:xfrm>
            <a:off x="762000" y="542925"/>
            <a:ext cx="13811250" cy="666750"/>
          </a:xfrm>
          <a:prstGeom prst="rect">
            <a:avLst/>
          </a:prstGeom>
          <a:noFill/>
          <a:ln w="0">
            <a:noFill/>
          </a:ln>
        </p:spPr>
        <p:txBody>
          <a:bodyPr wrap="square">
            <a:noAutofit/>
          </a:bodyPr>
          <a:lstStyle/>
          <a:p>
            <a:pPr>
              <a:defRPr sz="3675" b="1">
                <a:solidFill>
                  <a:srgbClr val="122C49"/>
                </a:solidFill>
                <a:latin typeface="Aptos"/>
                <a:ea typeface="Aptos"/>
                <a:cs typeface="Aptos"/>
              </a:defRPr>
            </a:pPr>
            <a:r>
              <a:rPr lang="en-US" sz="3675" b="1">
                <a:solidFill>
                  <a:srgbClr val="122C49"/>
                </a:solidFill>
                <a:latin typeface="Aptos"/>
                <a:ea typeface="Aptos"/>
                <a:cs typeface="Aptos"/>
              </a:rPr>
              <a:t>Budget Calculations and Financial Statements</a:t>
            </a:r>
          </a:p>
        </p:txBody>
      </p:sp>
      <p:sp>
        <p:nvSpPr>
          <p:cNvPr id="2" name="Rectangle 1">
            <a:extLst>
              <a:ext uri="{FF2B5EF4-FFF2-40B4-BE49-F238E27FC236}">
                <a16:creationId xmlns:a16="http://schemas.microsoft.com/office/drawing/2014/main" id="{00000002-0002-4000-8000-000000000000}"/>
              </a:ext>
            </a:extLst>
          </p:cNvPr>
          <p:cNvSpPr>
            <a:spLocks noGrp="1"/>
          </p:cNvSpPr>
          <p:nvPr/>
        </p:nvSpPr>
        <p:spPr>
          <a:xfrm>
            <a:off x="762000" y="1185862"/>
            <a:ext cx="13811250" cy="400050"/>
          </a:xfrm>
          <a:prstGeom prst="rect">
            <a:avLst/>
          </a:prstGeom>
          <a:noFill/>
          <a:ln w="0">
            <a:noFill/>
          </a:ln>
        </p:spPr>
        <p:txBody>
          <a:bodyPr wrap="square">
            <a:noAutofit/>
          </a:bodyPr>
          <a:lstStyle/>
          <a:p>
            <a:pPr>
              <a:defRPr sz="2025" b="0">
                <a:solidFill>
                  <a:srgbClr val="007F83"/>
                </a:solidFill>
                <a:latin typeface="Aptos"/>
                <a:ea typeface="Aptos"/>
                <a:cs typeface="Aptos"/>
              </a:defRPr>
            </a:pPr>
            <a:r>
              <a:rPr lang="en-US" sz="2400" b="0">
                <a:solidFill>
                  <a:srgbClr val="007F83"/>
                </a:solidFill>
                <a:latin typeface="Aptos"/>
                <a:ea typeface="Aptos"/>
                <a:cs typeface="Aptos"/>
              </a:rPr>
              <a:t>14–18 May 2027   /   Sessions 27–28</a:t>
            </a:r>
          </a:p>
        </p:txBody>
      </p:sp>
      <p:graphicFrame>
        <p:nvGraphicFramePr>
          <p:cNvPr id="3" name="Table 2"/>
          <p:cNvGraphicFramePr/>
          <p:nvPr>
            <p:extLst>
              <p:ext uri="{D42A27DB-BD31-4B8C-83A1-F6EECF244321}">
                <p14:modId xmlns:p14="http://schemas.microsoft.com/office/powerpoint/2010/main" val="2356047842"/>
              </p:ext>
            </p:extLst>
          </p:nvPr>
        </p:nvGraphicFramePr>
        <p:xfrm>
          <a:off x="762000" y="2028825"/>
          <a:ext cx="13811251" cy="3924300"/>
        </p:xfrm>
        <a:graphic>
          <a:graphicData uri="http://schemas.openxmlformats.org/drawingml/2006/table">
            <a:tbl>
              <a:tblPr/>
              <a:tblGrid>
                <a:gridCol w="1962652">
                  <a:extLst>
                    <a:ext uri="{9D8B030D-6E8A-4147-A177-3AD203B41FA5}">
                      <a16:colId xmlns:a16="http://schemas.microsoft.com/office/drawing/2014/main" val="20000"/>
                    </a:ext>
                  </a:extLst>
                </a:gridCol>
                <a:gridCol w="4984248">
                  <a:extLst>
                    <a:ext uri="{9D8B030D-6E8A-4147-A177-3AD203B41FA5}">
                      <a16:colId xmlns:a16="http://schemas.microsoft.com/office/drawing/2014/main" val="20001"/>
                    </a:ext>
                  </a:extLst>
                </a:gridCol>
                <a:gridCol w="5172911">
                  <a:extLst>
                    <a:ext uri="{9D8B030D-6E8A-4147-A177-3AD203B41FA5}">
                      <a16:colId xmlns:a16="http://schemas.microsoft.com/office/drawing/2014/main" val="20002"/>
                    </a:ext>
                  </a:extLst>
                </a:gridCol>
                <a:gridCol w="1691440">
                  <a:extLst>
                    <a:ext uri="{9D8B030D-6E8A-4147-A177-3AD203B41FA5}">
                      <a16:colId xmlns:a16="http://schemas.microsoft.com/office/drawing/2014/main" val="20003"/>
                    </a:ext>
                  </a:extLst>
                </a:gridCol>
              </a:tblGrid>
              <a:tr h="514350">
                <a:tc>
                  <a:txBody>
                    <a:bodyPr/>
                    <a:lstStyle/>
                    <a:p>
                      <a:pPr algn="ctr"/>
                      <a:r>
                        <a:rPr lang="en-US" sz="1800" b="1">
                          <a:solidFill>
                            <a:srgbClr val="FFFFFF"/>
                          </a:solidFill>
                          <a:latin typeface="Aptos"/>
                          <a:ea typeface="Aptos"/>
                          <a:cs typeface="Aptos"/>
                        </a:rPr>
                        <a:t>Session / date</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Study unit</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Coverage and practice</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Subunits</a:t>
                      </a:r>
                    </a:p>
                  </a:txBody>
                  <a:tcPr marL="133350" marR="133350" marT="133350" marB="133350" anchor="ctr">
                    <a:solidFill>
                      <a:srgbClr val="122C49"/>
                    </a:solidFill>
                  </a:tcPr>
                </a:tc>
                <a:extLst>
                  <a:ext uri="{0D108BD9-81ED-4DB2-BD59-A6C34878D82A}">
                    <a16:rowId xmlns:a16="http://schemas.microsoft.com/office/drawing/2014/main" val="10000"/>
                  </a:ext>
                </a:extLst>
              </a:tr>
              <a:tr h="1691640">
                <a:tc>
                  <a:txBody>
                    <a:bodyPr/>
                    <a:lstStyle/>
                    <a:p>
                      <a:r>
                        <a:rPr lang="fr-FR" sz="1800" b="1">
                          <a:solidFill>
                            <a:srgbClr val="007F83"/>
                          </a:solidFill>
                          <a:latin typeface="Aptos"/>
                          <a:ea typeface="Aptos"/>
                          <a:cs typeface="Aptos"/>
                        </a:rPr>
                        <a:t>27</a:t>
                      </a:r>
                    </a:p>
                    <a:p>
                      <a:r>
                        <a:rPr lang="fr-FR" sz="1800" b="1">
                          <a:solidFill>
                            <a:srgbClr val="007F83"/>
                          </a:solidFill>
                          <a:latin typeface="Aptos"/>
                          <a:ea typeface="Aptos"/>
                          <a:cs typeface="Aptos"/>
                        </a:rPr>
                        <a:t>Fri 14 May</a:t>
                      </a:r>
                    </a:p>
                    <a:p>
                      <a:r>
                        <a:rPr lang="fr-FR" sz="1800" b="1">
                          <a:solidFill>
                            <a:srgbClr val="007F83"/>
                          </a:solidFill>
                          <a:latin typeface="Aptos"/>
                          <a:ea typeface="Aptos"/>
                          <a:cs typeface="Aptos"/>
                        </a:rPr>
                        <a:t>2027</a:t>
                      </a:r>
                    </a:p>
                  </a:txBody>
                  <a:tcPr marL="133350" marR="133350" marT="133350" marB="133350" anchor="ctr">
                    <a:solidFill>
                      <a:srgbClr val="F3F7F9"/>
                    </a:solidFill>
                  </a:tcPr>
                </a:tc>
                <a:tc>
                  <a:txBody>
                    <a:bodyPr/>
                    <a:lstStyle/>
                    <a:p>
                      <a:r>
                        <a:rPr lang="en-US" sz="1800" b="1">
                          <a:solidFill>
                            <a:srgbClr val="122C49"/>
                          </a:solidFill>
                          <a:latin typeface="Aptos"/>
                          <a:ea typeface="Aptos"/>
                          <a:cs typeface="Aptos"/>
                        </a:rPr>
                        <a:t>Unit 14. Budget Calculations</a:t>
                      </a:r>
                    </a:p>
                  </a:txBody>
                  <a:tcPr marL="133350" marR="133350" marT="133350" marB="133350" anchor="ctr">
                    <a:solidFill>
                      <a:srgbClr val="F3F7F9"/>
                    </a:solidFill>
                  </a:tcPr>
                </a:tc>
                <a:tc>
                  <a:txBody>
                    <a:bodyPr/>
                    <a:lstStyle/>
                    <a:p>
                      <a:pPr marL="285750" indent="-285750">
                        <a:buFont typeface="Arial" panose="020B0604020202020204" pitchFamily="34" charset="0"/>
                        <a:buChar char="•"/>
                      </a:pPr>
                      <a:r>
                        <a:rPr lang="en-US" sz="1800">
                          <a:solidFill>
                            <a:srgbClr val="233B50"/>
                          </a:solidFill>
                          <a:latin typeface="Aptos"/>
                          <a:ea typeface="Aptos"/>
                          <a:cs typeface="Aptos"/>
                        </a:rPr>
                        <a:t>14.1 Sales forecasts and sales budget.</a:t>
                      </a:r>
                    </a:p>
                    <a:p>
                      <a:pPr marL="285750" indent="-285750">
                        <a:buFont typeface="Arial" panose="020B0604020202020204" pitchFamily="34" charset="0"/>
                        <a:buChar char="•"/>
                      </a:pPr>
                      <a:r>
                        <a:rPr lang="en-US" sz="1800">
                          <a:solidFill>
                            <a:srgbClr val="233B50"/>
                          </a:solidFill>
                          <a:latin typeface="Aptos"/>
                          <a:ea typeface="Aptos"/>
                          <a:cs typeface="Aptos"/>
                        </a:rPr>
                        <a:t>14.2 Production and direct materials budgets.</a:t>
                      </a:r>
                    </a:p>
                    <a:p>
                      <a:pPr marL="285750" indent="-285750">
                        <a:buFont typeface="Arial" panose="020B0604020202020204" pitchFamily="34" charset="0"/>
                        <a:buChar char="•"/>
                      </a:pPr>
                      <a:r>
                        <a:rPr lang="en-US" sz="1800">
                          <a:solidFill>
                            <a:srgbClr val="233B50"/>
                          </a:solidFill>
                          <a:latin typeface="Aptos"/>
                          <a:ea typeface="Aptos"/>
                          <a:cs typeface="Aptos"/>
                        </a:rPr>
                        <a:t>14.3 Other operating budget calculations.</a:t>
                      </a:r>
                    </a:p>
                  </a:txBody>
                  <a:tcPr marL="133350" marR="133350" marT="133350" marB="133350" anchor="ctr">
                    <a:solidFill>
                      <a:srgbClr val="F3F7F9"/>
                    </a:solidFill>
                  </a:tcPr>
                </a:tc>
                <a:tc>
                  <a:txBody>
                    <a:bodyPr/>
                    <a:lstStyle/>
                    <a:p>
                      <a:pPr algn="ctr"/>
                      <a:r>
                        <a:rPr lang="en-US" sz="1800">
                          <a:solidFill>
                            <a:srgbClr val="233B50"/>
                          </a:solidFill>
                          <a:latin typeface="Aptos"/>
                          <a:ea typeface="Aptos"/>
                          <a:cs typeface="Aptos"/>
                        </a:rPr>
                        <a:t>14.1–14.3</a:t>
                      </a:r>
                    </a:p>
                  </a:txBody>
                  <a:tcPr marL="133350" marR="133350" marT="133350" marB="133350" anchor="ctr">
                    <a:solidFill>
                      <a:srgbClr val="F3F7F9"/>
                    </a:solidFill>
                  </a:tcPr>
                </a:tc>
                <a:extLst>
                  <a:ext uri="{0D108BD9-81ED-4DB2-BD59-A6C34878D82A}">
                    <a16:rowId xmlns:a16="http://schemas.microsoft.com/office/drawing/2014/main" val="10002"/>
                  </a:ext>
                </a:extLst>
              </a:tr>
              <a:tr h="1691640">
                <a:tc>
                  <a:txBody>
                    <a:bodyPr/>
                    <a:lstStyle/>
                    <a:p>
                      <a:r>
                        <a:rPr lang="sv-SE" sz="1800" b="1">
                          <a:solidFill>
                            <a:srgbClr val="007F83"/>
                          </a:solidFill>
                          <a:latin typeface="Aptos"/>
                          <a:ea typeface="Aptos"/>
                          <a:cs typeface="Aptos"/>
                        </a:rPr>
                        <a:t>28</a:t>
                      </a:r>
                    </a:p>
                    <a:p>
                      <a:r>
                        <a:rPr lang="sv-SE" sz="1800" b="1">
                          <a:solidFill>
                            <a:srgbClr val="007F83"/>
                          </a:solidFill>
                          <a:latin typeface="Aptos"/>
                          <a:ea typeface="Aptos"/>
                          <a:cs typeface="Aptos"/>
                        </a:rPr>
                        <a:t>Tue 18 May</a:t>
                      </a:r>
                    </a:p>
                    <a:p>
                      <a:r>
                        <a:rPr lang="sv-SE" sz="1800" b="1">
                          <a:solidFill>
                            <a:srgbClr val="007F83"/>
                          </a:solidFill>
                          <a:latin typeface="Aptos"/>
                          <a:ea typeface="Aptos"/>
                          <a:cs typeface="Aptos"/>
                        </a:rPr>
                        <a:t>2027</a:t>
                      </a:r>
                    </a:p>
                  </a:txBody>
                  <a:tcPr marL="133350" marR="133350" marT="133350" marB="133350" anchor="ctr">
                    <a:solidFill>
                      <a:srgbClr val="FFFFFF"/>
                    </a:solidFill>
                  </a:tcPr>
                </a:tc>
                <a:tc>
                  <a:txBody>
                    <a:bodyPr/>
                    <a:lstStyle/>
                    <a:p>
                      <a:r>
                        <a:rPr lang="en-US" sz="1800" b="1">
                          <a:solidFill>
                            <a:srgbClr val="122C49"/>
                          </a:solidFill>
                          <a:latin typeface="Aptos"/>
                          <a:ea typeface="Aptos"/>
                          <a:cs typeface="Aptos"/>
                        </a:rPr>
                        <a:t>Unit 14. Cash Budgets and Pro Forma Statements</a:t>
                      </a:r>
                    </a:p>
                  </a:txBody>
                  <a:tcPr marL="133350" marR="133350" marT="133350" marB="133350" anchor="ctr">
                    <a:solidFill>
                      <a:srgbClr val="FFFFFF"/>
                    </a:solidFill>
                  </a:tcPr>
                </a:tc>
                <a:tc>
                  <a:txBody>
                    <a:bodyPr/>
                    <a:lstStyle/>
                    <a:p>
                      <a:pPr marL="285750" indent="-285750">
                        <a:buFont typeface="Arial" panose="020B0604020202020204" pitchFamily="34" charset="0"/>
                        <a:buChar char="•"/>
                      </a:pPr>
                      <a:r>
                        <a:rPr lang="en-US" sz="1800">
                          <a:solidFill>
                            <a:srgbClr val="233B50"/>
                          </a:solidFill>
                          <a:latin typeface="Aptos"/>
                          <a:ea typeface="Aptos"/>
                          <a:cs typeface="Aptos"/>
                        </a:rPr>
                        <a:t>14.4 Capital budget and projected cash collections.</a:t>
                      </a:r>
                    </a:p>
                    <a:p>
                      <a:pPr marL="285750" indent="-285750">
                        <a:buFont typeface="Arial" panose="020B0604020202020204" pitchFamily="34" charset="0"/>
                        <a:buChar char="•"/>
                      </a:pPr>
                      <a:r>
                        <a:rPr lang="en-US" sz="1800">
                          <a:solidFill>
                            <a:srgbClr val="233B50"/>
                          </a:solidFill>
                          <a:latin typeface="Aptos"/>
                          <a:ea typeface="Aptos"/>
                          <a:cs typeface="Aptos"/>
                        </a:rPr>
                        <a:t>14.5 Cash disbursements and cash budget.</a:t>
                      </a:r>
                    </a:p>
                    <a:p>
                      <a:pPr marL="285750" indent="-285750">
                        <a:buFont typeface="Arial" panose="020B0604020202020204" pitchFamily="34" charset="0"/>
                        <a:buChar char="•"/>
                      </a:pPr>
                      <a:r>
                        <a:rPr lang="en-US" sz="1800">
                          <a:solidFill>
                            <a:srgbClr val="233B50"/>
                          </a:solidFill>
                          <a:latin typeface="Aptos"/>
                          <a:ea typeface="Aptos"/>
                          <a:cs typeface="Aptos"/>
                        </a:rPr>
                        <a:t>14.6 Pro forma financial statements.</a:t>
                      </a:r>
                    </a:p>
                  </a:txBody>
                  <a:tcPr marL="133350" marR="133350" marT="133350" marB="133350" anchor="ctr">
                    <a:solidFill>
                      <a:srgbClr val="FFFFFF"/>
                    </a:solidFill>
                  </a:tcPr>
                </a:tc>
                <a:tc>
                  <a:txBody>
                    <a:bodyPr/>
                    <a:lstStyle/>
                    <a:p>
                      <a:pPr algn="ctr"/>
                      <a:r>
                        <a:rPr lang="en-US" sz="1800">
                          <a:solidFill>
                            <a:srgbClr val="233B50"/>
                          </a:solidFill>
                          <a:latin typeface="Aptos"/>
                          <a:ea typeface="Aptos"/>
                          <a:cs typeface="Aptos"/>
                        </a:rPr>
                        <a:t>14.4–14.6</a:t>
                      </a:r>
                    </a:p>
                  </a:txBody>
                  <a:tcPr marL="133350" marR="133350" marT="133350" marB="133350" anchor="ctr">
                    <a:solidFill>
                      <a:srgbClr val="FFFFFF"/>
                    </a:solidFill>
                  </a:tcPr>
                </a:tc>
                <a:extLst>
                  <a:ext uri="{0D108BD9-81ED-4DB2-BD59-A6C34878D82A}">
                    <a16:rowId xmlns:a16="http://schemas.microsoft.com/office/drawing/2014/main" val="10003"/>
                  </a:ext>
                </a:extLst>
              </a:tr>
            </a:tbl>
          </a:graphicData>
        </a:graphic>
      </p:graphicFrame>
      <p:sp>
        <p:nvSpPr>
          <p:cNvPr id="5" name="Rectangle 4">
            <a:extLst>
              <a:ext uri="{FF2B5EF4-FFF2-40B4-BE49-F238E27FC236}">
                <a16:creationId xmlns:a16="http://schemas.microsoft.com/office/drawing/2014/main" id="{00000002-0004-4000-8000-000000000000}"/>
              </a:ext>
            </a:extLst>
          </p:cNvPr>
          <p:cNvSpPr>
            <a:spLocks noGrp="1"/>
          </p:cNvSpPr>
          <p:nvPr/>
        </p:nvSpPr>
        <p:spPr>
          <a:xfrm>
            <a:off x="13811250" y="8077200"/>
            <a:ext cx="666750" cy="285750"/>
          </a:xfrm>
          <a:prstGeom prst="rect">
            <a:avLst/>
          </a:prstGeom>
          <a:noFill/>
          <a:ln w="0">
            <a:noFill/>
          </a:ln>
        </p:spPr>
        <p:txBody>
          <a:bodyPr wrap="square">
            <a:noAutofit/>
          </a:bodyPr>
          <a:lstStyle/>
          <a:p>
            <a:pPr>
              <a:defRPr sz="1350" b="0">
                <a:solidFill>
                  <a:srgbClr val="5C6F7F"/>
                </a:solidFill>
                <a:latin typeface="Aptos"/>
                <a:ea typeface="Aptos"/>
                <a:cs typeface="Aptos"/>
              </a:defRPr>
            </a:pPr>
            <a:r>
              <a:rPr lang="en-US" sz="1350" b="0">
                <a:solidFill>
                  <a:srgbClr val="5C6F7F"/>
                </a:solidFill>
                <a:latin typeface="Aptos"/>
                <a:ea typeface="Aptos"/>
                <a:cs typeface="Aptos"/>
              </a:rPr>
              <a:t>30</a:t>
            </a:r>
          </a:p>
        </p:txBody>
      </p:sp>
      <p:sp>
        <p:nvSpPr>
          <p:cNvPr id="7" name="Section exam weighting">
            <a:extLst>
              <a:ext uri="{FF2B5EF4-FFF2-40B4-BE49-F238E27FC236}">
                <a16:creationId xmlns:a16="http://schemas.microsoft.com/office/drawing/2014/main" id="{00000002-0002-4000-8000-000000000000}"/>
              </a:ext>
            </a:extLst>
          </p:cNvPr>
          <p:cNvSpPr>
            <a:spLocks noGrp="1"/>
          </p:cNvSpPr>
          <p:nvPr/>
        </p:nvSpPr>
        <p:spPr>
          <a:xfrm>
            <a:off x="762000" y="1657350"/>
            <a:ext cx="13811250" cy="276225"/>
          </a:xfrm>
          <a:prstGeom prst="rect">
            <a:avLst/>
          </a:prstGeom>
          <a:noFill/>
          <a:ln w="0">
            <a:noFill/>
          </a:ln>
        </p:spPr>
        <p:txBody>
          <a:bodyPr wrap="square" tIns="0" bIns="0">
            <a:noAutofit/>
          </a:bodyPr>
          <a:lstStyle/>
          <a:p>
            <a:pPr>
              <a:defRPr sz="2025" b="0">
                <a:solidFill>
                  <a:srgbClr val="007F83"/>
                </a:solidFill>
                <a:latin typeface="Aptos"/>
                <a:ea typeface="Aptos"/>
                <a:cs typeface="Aptos"/>
              </a:defRPr>
            </a:pPr>
            <a:r>
              <a:rPr lang="en-US" b="1">
                <a:solidFill>
                  <a:srgbClr val="007F83"/>
                </a:solidFill>
                <a:latin typeface="Aptos"/>
                <a:ea typeface="Aptos"/>
                <a:cs typeface="Aptos"/>
              </a:rPr>
              <a:t>Section exam weight: Planning, Budgeting and Forecasting 20%</a:t>
            </a:r>
          </a:p>
        </p:txBody>
      </p:sp>
      <p:sp>
        <p:nvSpPr>
          <p:cNvPr id="9" name="Rectangle 8">
            <a:extLst>
              <a:ext uri="{FF2B5EF4-FFF2-40B4-BE49-F238E27FC236}">
                <a16:creationId xmlns:a16="http://schemas.microsoft.com/office/drawing/2014/main" id="{D3A78D56-E053-6C16-E8E4-FC020C038BC4}"/>
              </a:ext>
            </a:extLst>
          </p:cNvPr>
          <p:cNvSpPr>
            <a:spLocks noGrp="1"/>
          </p:cNvSpPr>
          <p:nvPr/>
        </p:nvSpPr>
        <p:spPr>
          <a:xfrm>
            <a:off x="762000" y="8077200"/>
            <a:ext cx="11430000" cy="285750"/>
          </a:xfrm>
          <a:prstGeom prst="rect">
            <a:avLst/>
          </a:prstGeom>
          <a:noFill/>
          <a:ln w="0">
            <a:noFill/>
          </a:ln>
        </p:spPr>
        <p:txBody>
          <a:bodyPr wrap="square">
            <a:noAutofit/>
          </a:bodyPr>
          <a:lstStyle/>
          <a:p>
            <a:pPr>
              <a:defRPr sz="1350" b="0">
                <a:solidFill>
                  <a:srgbClr val="5C6F7F"/>
                </a:solidFill>
                <a:latin typeface="Aptos"/>
                <a:ea typeface="Aptos"/>
                <a:cs typeface="Aptos"/>
              </a:defRPr>
            </a:pPr>
            <a:r>
              <a:rPr sz="1350" b="0">
                <a:solidFill>
                  <a:srgbClr val="5C6F7F"/>
                </a:solidFill>
                <a:latin typeface="Aptos"/>
                <a:ea typeface="Aptos"/>
                <a:cs typeface="Aptos"/>
              </a:rPr>
              <a:t>CMA Part 1. Supplied course outline. Subunit references shown.</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0000002-0001-4000-8000-000000000000}"/>
              </a:ext>
            </a:extLst>
          </p:cNvPr>
          <p:cNvSpPr>
            <a:spLocks noGrp="1"/>
          </p:cNvSpPr>
          <p:nvPr/>
        </p:nvSpPr>
        <p:spPr>
          <a:xfrm>
            <a:off x="762000" y="542925"/>
            <a:ext cx="13811250" cy="666750"/>
          </a:xfrm>
          <a:prstGeom prst="rect">
            <a:avLst/>
          </a:prstGeom>
          <a:noFill/>
          <a:ln w="0">
            <a:noFill/>
          </a:ln>
        </p:spPr>
        <p:txBody>
          <a:bodyPr wrap="square">
            <a:noAutofit/>
          </a:bodyPr>
          <a:lstStyle/>
          <a:p>
            <a:pPr>
              <a:defRPr sz="3675" b="1">
                <a:solidFill>
                  <a:srgbClr val="122C49"/>
                </a:solidFill>
                <a:latin typeface="Aptos"/>
                <a:ea typeface="Aptos"/>
                <a:cs typeface="Aptos"/>
              </a:defRPr>
            </a:pPr>
            <a:r>
              <a:rPr lang="en-US" sz="3675" b="1">
                <a:solidFill>
                  <a:srgbClr val="122C49"/>
                </a:solidFill>
                <a:latin typeface="Aptos"/>
                <a:ea typeface="Aptos"/>
                <a:cs typeface="Aptos"/>
              </a:rPr>
              <a:t>Cost and Variance Measures</a:t>
            </a:r>
          </a:p>
        </p:txBody>
      </p:sp>
      <p:sp>
        <p:nvSpPr>
          <p:cNvPr id="2" name="Rectangle 1">
            <a:extLst>
              <a:ext uri="{FF2B5EF4-FFF2-40B4-BE49-F238E27FC236}">
                <a16:creationId xmlns:a16="http://schemas.microsoft.com/office/drawing/2014/main" id="{00000002-0002-4000-8000-000000000000}"/>
              </a:ext>
            </a:extLst>
          </p:cNvPr>
          <p:cNvSpPr>
            <a:spLocks noGrp="1"/>
          </p:cNvSpPr>
          <p:nvPr/>
        </p:nvSpPr>
        <p:spPr>
          <a:xfrm>
            <a:off x="762000" y="1185862"/>
            <a:ext cx="13811250" cy="400050"/>
          </a:xfrm>
          <a:prstGeom prst="rect">
            <a:avLst/>
          </a:prstGeom>
          <a:noFill/>
          <a:ln w="0">
            <a:noFill/>
          </a:ln>
        </p:spPr>
        <p:txBody>
          <a:bodyPr wrap="square">
            <a:noAutofit/>
          </a:bodyPr>
          <a:lstStyle/>
          <a:p>
            <a:pPr>
              <a:defRPr sz="2025" b="0">
                <a:solidFill>
                  <a:srgbClr val="007F83"/>
                </a:solidFill>
                <a:latin typeface="Aptos"/>
                <a:ea typeface="Aptos"/>
                <a:cs typeface="Aptos"/>
              </a:defRPr>
            </a:pPr>
            <a:r>
              <a:rPr lang="en-US" sz="2400" b="0">
                <a:solidFill>
                  <a:srgbClr val="007F83"/>
                </a:solidFill>
                <a:latin typeface="Aptos"/>
                <a:ea typeface="Aptos"/>
                <a:cs typeface="Aptos"/>
              </a:rPr>
              <a:t>21–25 May 2027   /   Sessions 29–30</a:t>
            </a:r>
          </a:p>
        </p:txBody>
      </p:sp>
      <p:graphicFrame>
        <p:nvGraphicFramePr>
          <p:cNvPr id="3" name="Table 2"/>
          <p:cNvGraphicFramePr/>
          <p:nvPr>
            <p:extLst>
              <p:ext uri="{D42A27DB-BD31-4B8C-83A1-F6EECF244321}">
                <p14:modId xmlns:p14="http://schemas.microsoft.com/office/powerpoint/2010/main" val="55641625"/>
              </p:ext>
            </p:extLst>
          </p:nvPr>
        </p:nvGraphicFramePr>
        <p:xfrm>
          <a:off x="762000" y="2028825"/>
          <a:ext cx="13811251" cy="3924300"/>
        </p:xfrm>
        <a:graphic>
          <a:graphicData uri="http://schemas.openxmlformats.org/drawingml/2006/table">
            <a:tbl>
              <a:tblPr/>
              <a:tblGrid>
                <a:gridCol w="1962652">
                  <a:extLst>
                    <a:ext uri="{9D8B030D-6E8A-4147-A177-3AD203B41FA5}">
                      <a16:colId xmlns:a16="http://schemas.microsoft.com/office/drawing/2014/main" val="20000"/>
                    </a:ext>
                  </a:extLst>
                </a:gridCol>
                <a:gridCol w="4984248">
                  <a:extLst>
                    <a:ext uri="{9D8B030D-6E8A-4147-A177-3AD203B41FA5}">
                      <a16:colId xmlns:a16="http://schemas.microsoft.com/office/drawing/2014/main" val="20001"/>
                    </a:ext>
                  </a:extLst>
                </a:gridCol>
                <a:gridCol w="5172911">
                  <a:extLst>
                    <a:ext uri="{9D8B030D-6E8A-4147-A177-3AD203B41FA5}">
                      <a16:colId xmlns:a16="http://schemas.microsoft.com/office/drawing/2014/main" val="20002"/>
                    </a:ext>
                  </a:extLst>
                </a:gridCol>
                <a:gridCol w="1691440">
                  <a:extLst>
                    <a:ext uri="{9D8B030D-6E8A-4147-A177-3AD203B41FA5}">
                      <a16:colId xmlns:a16="http://schemas.microsoft.com/office/drawing/2014/main" val="20003"/>
                    </a:ext>
                  </a:extLst>
                </a:gridCol>
              </a:tblGrid>
              <a:tr h="514350">
                <a:tc>
                  <a:txBody>
                    <a:bodyPr/>
                    <a:lstStyle/>
                    <a:p>
                      <a:pPr algn="ctr"/>
                      <a:r>
                        <a:rPr lang="en-US" sz="1800" b="1">
                          <a:solidFill>
                            <a:srgbClr val="FFFFFF"/>
                          </a:solidFill>
                          <a:latin typeface="Aptos"/>
                          <a:ea typeface="Aptos"/>
                          <a:cs typeface="Aptos"/>
                        </a:rPr>
                        <a:t>Session / date</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Study unit</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Coverage and practice</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Subunits</a:t>
                      </a:r>
                    </a:p>
                  </a:txBody>
                  <a:tcPr marL="133350" marR="133350" marT="133350" marB="133350" anchor="ctr">
                    <a:solidFill>
                      <a:srgbClr val="122C49"/>
                    </a:solidFill>
                  </a:tcPr>
                </a:tc>
                <a:extLst>
                  <a:ext uri="{0D108BD9-81ED-4DB2-BD59-A6C34878D82A}">
                    <a16:rowId xmlns:a16="http://schemas.microsoft.com/office/drawing/2014/main" val="10000"/>
                  </a:ext>
                </a:extLst>
              </a:tr>
              <a:tr h="1691640">
                <a:tc>
                  <a:txBody>
                    <a:bodyPr/>
                    <a:lstStyle/>
                    <a:p>
                      <a:r>
                        <a:rPr lang="fr-FR" sz="1800" b="1">
                          <a:solidFill>
                            <a:srgbClr val="007F83"/>
                          </a:solidFill>
                          <a:latin typeface="Aptos"/>
                          <a:ea typeface="Aptos"/>
                          <a:cs typeface="Aptos"/>
                        </a:rPr>
                        <a:t>29</a:t>
                      </a:r>
                    </a:p>
                    <a:p>
                      <a:r>
                        <a:rPr lang="fr-FR" sz="1800" b="1">
                          <a:solidFill>
                            <a:srgbClr val="007F83"/>
                          </a:solidFill>
                          <a:latin typeface="Aptos"/>
                          <a:ea typeface="Aptos"/>
                          <a:cs typeface="Aptos"/>
                        </a:rPr>
                        <a:t>Fri 21 May</a:t>
                      </a:r>
                    </a:p>
                    <a:p>
                      <a:r>
                        <a:rPr lang="fr-FR" sz="1800" b="1">
                          <a:solidFill>
                            <a:srgbClr val="007F83"/>
                          </a:solidFill>
                          <a:latin typeface="Aptos"/>
                          <a:ea typeface="Aptos"/>
                          <a:cs typeface="Aptos"/>
                        </a:rPr>
                        <a:t>2027</a:t>
                      </a:r>
                    </a:p>
                  </a:txBody>
                  <a:tcPr marL="133350" marR="133350" marT="133350" marB="133350" anchor="ctr">
                    <a:solidFill>
                      <a:srgbClr val="F3F7F9"/>
                    </a:solidFill>
                  </a:tcPr>
                </a:tc>
                <a:tc>
                  <a:txBody>
                    <a:bodyPr/>
                    <a:lstStyle/>
                    <a:p>
                      <a:r>
                        <a:rPr lang="en-US" sz="1800" b="1">
                          <a:solidFill>
                            <a:srgbClr val="122C49"/>
                          </a:solidFill>
                          <a:latin typeface="Aptos"/>
                          <a:ea typeface="Aptos"/>
                          <a:cs typeface="Aptos"/>
                        </a:rPr>
                        <a:t>Unit 15. Cost and Variance Measures</a:t>
                      </a:r>
                    </a:p>
                  </a:txBody>
                  <a:tcPr marL="133350" marR="133350" marT="133350" marB="133350" anchor="ctr">
                    <a:solidFill>
                      <a:srgbClr val="F3F7F9"/>
                    </a:solidFill>
                  </a:tcPr>
                </a:tc>
                <a:tc>
                  <a:txBody>
                    <a:bodyPr/>
                    <a:lstStyle/>
                    <a:p>
                      <a:pPr marL="285750" indent="-285750">
                        <a:buFont typeface="Arial" panose="020B0604020202020204" pitchFamily="34" charset="0"/>
                        <a:buChar char="•"/>
                      </a:pPr>
                      <a:r>
                        <a:rPr lang="en-US" sz="1800" dirty="0">
                          <a:solidFill>
                            <a:srgbClr val="233B50"/>
                          </a:solidFill>
                          <a:latin typeface="Aptos"/>
                          <a:ea typeface="Aptos"/>
                          <a:cs typeface="Aptos"/>
                        </a:rPr>
                        <a:t>15.1 Variance analysis overview.</a:t>
                      </a:r>
                    </a:p>
                    <a:p>
                      <a:pPr marL="285750" indent="-285750">
                        <a:buFont typeface="Arial" panose="020B0604020202020204" pitchFamily="34" charset="0"/>
                        <a:buChar char="•"/>
                      </a:pPr>
                      <a:r>
                        <a:rPr lang="en-US" sz="1800" dirty="0">
                          <a:solidFill>
                            <a:srgbClr val="233B50"/>
                          </a:solidFill>
                          <a:latin typeface="Aptos"/>
                          <a:ea typeface="Aptos"/>
                          <a:cs typeface="Aptos"/>
                        </a:rPr>
                        <a:t>15.2 Static and flexible budget variances.</a:t>
                      </a:r>
                    </a:p>
                    <a:p>
                      <a:pPr marL="285750" indent="-285750">
                        <a:buFont typeface="Arial" panose="020B0604020202020204" pitchFamily="34" charset="0"/>
                        <a:buChar char="•"/>
                      </a:pPr>
                      <a:r>
                        <a:rPr lang="en-US" sz="1800" dirty="0">
                          <a:solidFill>
                            <a:srgbClr val="233B50"/>
                          </a:solidFill>
                          <a:latin typeface="Aptos"/>
                          <a:ea typeface="Aptos"/>
                          <a:cs typeface="Aptos"/>
                        </a:rPr>
                        <a:t>15.3 Direct materials variances.</a:t>
                      </a:r>
                    </a:p>
                    <a:p>
                      <a:pPr marL="285750" indent="-285750">
                        <a:buFont typeface="Arial" panose="020B0604020202020204" pitchFamily="34" charset="0"/>
                        <a:buChar char="•"/>
                      </a:pPr>
                      <a:r>
                        <a:rPr lang="en-US" sz="1800" dirty="0">
                          <a:solidFill>
                            <a:srgbClr val="233B50"/>
                          </a:solidFill>
                          <a:latin typeface="Aptos"/>
                          <a:ea typeface="Aptos"/>
                          <a:cs typeface="Aptos"/>
                        </a:rPr>
                        <a:t> 15.4 Direct labor variances.</a:t>
                      </a:r>
                    </a:p>
                  </a:txBody>
                  <a:tcPr marL="133350" marR="133350" marT="133350" marB="133350" anchor="ctr">
                    <a:solidFill>
                      <a:srgbClr val="F3F7F9"/>
                    </a:solidFill>
                  </a:tcPr>
                </a:tc>
                <a:tc>
                  <a:txBody>
                    <a:bodyPr/>
                    <a:lstStyle/>
                    <a:p>
                      <a:pPr algn="ctr"/>
                      <a:r>
                        <a:rPr lang="en-US" sz="1800">
                          <a:solidFill>
                            <a:srgbClr val="233B50"/>
                          </a:solidFill>
                          <a:latin typeface="Aptos"/>
                          <a:ea typeface="Aptos"/>
                          <a:cs typeface="Aptos"/>
                        </a:rPr>
                        <a:t>15.1–15.4</a:t>
                      </a:r>
                    </a:p>
                  </a:txBody>
                  <a:tcPr marL="133350" marR="133350" marT="133350" marB="133350" anchor="ctr">
                    <a:solidFill>
                      <a:srgbClr val="F3F7F9"/>
                    </a:solidFill>
                  </a:tcPr>
                </a:tc>
                <a:extLst>
                  <a:ext uri="{0D108BD9-81ED-4DB2-BD59-A6C34878D82A}">
                    <a16:rowId xmlns:a16="http://schemas.microsoft.com/office/drawing/2014/main" val="10002"/>
                  </a:ext>
                </a:extLst>
              </a:tr>
              <a:tr h="1691640">
                <a:tc>
                  <a:txBody>
                    <a:bodyPr/>
                    <a:lstStyle/>
                    <a:p>
                      <a:r>
                        <a:rPr lang="sv-SE" sz="1800" b="1">
                          <a:solidFill>
                            <a:srgbClr val="007F83"/>
                          </a:solidFill>
                          <a:latin typeface="Aptos"/>
                          <a:ea typeface="Aptos"/>
                          <a:cs typeface="Aptos"/>
                        </a:rPr>
                        <a:t>30</a:t>
                      </a:r>
                    </a:p>
                    <a:p>
                      <a:r>
                        <a:rPr lang="sv-SE" sz="1800" b="1">
                          <a:solidFill>
                            <a:srgbClr val="007F83"/>
                          </a:solidFill>
                          <a:latin typeface="Aptos"/>
                          <a:ea typeface="Aptos"/>
                          <a:cs typeface="Aptos"/>
                        </a:rPr>
                        <a:t>Tue 25 May</a:t>
                      </a:r>
                    </a:p>
                    <a:p>
                      <a:r>
                        <a:rPr lang="sv-SE" sz="1800" b="1">
                          <a:solidFill>
                            <a:srgbClr val="007F83"/>
                          </a:solidFill>
                          <a:latin typeface="Aptos"/>
                          <a:ea typeface="Aptos"/>
                          <a:cs typeface="Aptos"/>
                        </a:rPr>
                        <a:t>2027</a:t>
                      </a:r>
                    </a:p>
                  </a:txBody>
                  <a:tcPr marL="133350" marR="133350" marT="133350" marB="133350" anchor="ctr">
                    <a:solidFill>
                      <a:srgbClr val="FFFFFF"/>
                    </a:solidFill>
                  </a:tcPr>
                </a:tc>
                <a:tc>
                  <a:txBody>
                    <a:bodyPr/>
                    <a:lstStyle/>
                    <a:p>
                      <a:r>
                        <a:rPr lang="en-US" sz="1800" b="1">
                          <a:solidFill>
                            <a:srgbClr val="122C49"/>
                          </a:solidFill>
                          <a:latin typeface="Aptos"/>
                          <a:ea typeface="Aptos"/>
                          <a:cs typeface="Aptos"/>
                        </a:rPr>
                        <a:t>Unit 15. Cost and Variance Measures</a:t>
                      </a:r>
                    </a:p>
                  </a:txBody>
                  <a:tcPr marL="133350" marR="133350" marT="133350" marB="133350" anchor="ctr">
                    <a:solidFill>
                      <a:srgbClr val="FFFFFF"/>
                    </a:solidFill>
                  </a:tcPr>
                </a:tc>
                <a:tc>
                  <a:txBody>
                    <a:bodyPr/>
                    <a:lstStyle/>
                    <a:p>
                      <a:pPr marL="285750" indent="-285750">
                        <a:buFont typeface="Arial" panose="020B0604020202020204" pitchFamily="34" charset="0"/>
                        <a:buChar char="•"/>
                      </a:pPr>
                      <a:r>
                        <a:rPr lang="en-US" sz="1800" dirty="0">
                          <a:solidFill>
                            <a:srgbClr val="233B50"/>
                          </a:solidFill>
                          <a:latin typeface="Aptos"/>
                          <a:ea typeface="Aptos"/>
                          <a:cs typeface="Aptos"/>
                        </a:rPr>
                        <a:t>15.5 Mix and yield variances.</a:t>
                      </a:r>
                    </a:p>
                    <a:p>
                      <a:pPr marL="285750" indent="-285750">
                        <a:buFont typeface="Arial" panose="020B0604020202020204" pitchFamily="34" charset="0"/>
                        <a:buChar char="•"/>
                      </a:pPr>
                      <a:r>
                        <a:rPr lang="en-US" sz="1800" dirty="0">
                          <a:solidFill>
                            <a:srgbClr val="233B50"/>
                          </a:solidFill>
                          <a:latin typeface="Aptos"/>
                          <a:ea typeface="Aptos"/>
                          <a:cs typeface="Aptos"/>
                        </a:rPr>
                        <a:t>15.6 Overhead variances.</a:t>
                      </a:r>
                    </a:p>
                    <a:p>
                      <a:pPr marL="285750" indent="-285750">
                        <a:buFont typeface="Arial" panose="020B0604020202020204" pitchFamily="34" charset="0"/>
                        <a:buChar char="•"/>
                      </a:pPr>
                      <a:r>
                        <a:rPr lang="en-US" sz="1800" dirty="0">
                          <a:solidFill>
                            <a:srgbClr val="233B50"/>
                          </a:solidFill>
                          <a:latin typeface="Aptos"/>
                          <a:ea typeface="Aptos"/>
                          <a:cs typeface="Aptos"/>
                        </a:rPr>
                        <a:t>15.7 Comprehensive example.</a:t>
                      </a:r>
                    </a:p>
                    <a:p>
                      <a:pPr marL="285750" indent="-285750">
                        <a:buFont typeface="Arial" panose="020B0604020202020204" pitchFamily="34" charset="0"/>
                        <a:buChar char="•"/>
                      </a:pPr>
                      <a:r>
                        <a:rPr lang="en-US" sz="1800" dirty="0">
                          <a:solidFill>
                            <a:srgbClr val="233B50"/>
                          </a:solidFill>
                          <a:latin typeface="Aptos"/>
                          <a:ea typeface="Aptos"/>
                          <a:cs typeface="Aptos"/>
                        </a:rPr>
                        <a:t>15.8 Sales variances.</a:t>
                      </a:r>
                    </a:p>
                  </a:txBody>
                  <a:tcPr marL="133350" marR="133350" marT="133350" marB="133350" anchor="ctr">
                    <a:solidFill>
                      <a:srgbClr val="FFFFFF"/>
                    </a:solidFill>
                  </a:tcPr>
                </a:tc>
                <a:tc>
                  <a:txBody>
                    <a:bodyPr/>
                    <a:lstStyle/>
                    <a:p>
                      <a:pPr algn="ctr"/>
                      <a:r>
                        <a:rPr lang="en-US" sz="1800" dirty="0">
                          <a:solidFill>
                            <a:srgbClr val="233B50"/>
                          </a:solidFill>
                          <a:latin typeface="Aptos"/>
                          <a:ea typeface="Aptos"/>
                          <a:cs typeface="Aptos"/>
                        </a:rPr>
                        <a:t>15.5–15.8</a:t>
                      </a:r>
                    </a:p>
                  </a:txBody>
                  <a:tcPr marL="133350" marR="133350" marT="133350" marB="133350" anchor="ctr">
                    <a:solidFill>
                      <a:srgbClr val="FFFFFF"/>
                    </a:solidFill>
                  </a:tcPr>
                </a:tc>
                <a:extLst>
                  <a:ext uri="{0D108BD9-81ED-4DB2-BD59-A6C34878D82A}">
                    <a16:rowId xmlns:a16="http://schemas.microsoft.com/office/drawing/2014/main" val="10003"/>
                  </a:ext>
                </a:extLst>
              </a:tr>
            </a:tbl>
          </a:graphicData>
        </a:graphic>
      </p:graphicFrame>
      <p:sp>
        <p:nvSpPr>
          <p:cNvPr id="5" name="Rectangle 4">
            <a:extLst>
              <a:ext uri="{FF2B5EF4-FFF2-40B4-BE49-F238E27FC236}">
                <a16:creationId xmlns:a16="http://schemas.microsoft.com/office/drawing/2014/main" id="{00000002-0004-4000-8000-000000000000}"/>
              </a:ext>
            </a:extLst>
          </p:cNvPr>
          <p:cNvSpPr>
            <a:spLocks noGrp="1"/>
          </p:cNvSpPr>
          <p:nvPr/>
        </p:nvSpPr>
        <p:spPr>
          <a:xfrm>
            <a:off x="13811250" y="8077200"/>
            <a:ext cx="666750" cy="285750"/>
          </a:xfrm>
          <a:prstGeom prst="rect">
            <a:avLst/>
          </a:prstGeom>
          <a:noFill/>
          <a:ln w="0">
            <a:noFill/>
          </a:ln>
        </p:spPr>
        <p:txBody>
          <a:bodyPr wrap="square">
            <a:noAutofit/>
          </a:bodyPr>
          <a:lstStyle/>
          <a:p>
            <a:pPr>
              <a:defRPr sz="1350" b="0">
                <a:solidFill>
                  <a:srgbClr val="5C6F7F"/>
                </a:solidFill>
                <a:latin typeface="Aptos"/>
                <a:ea typeface="Aptos"/>
                <a:cs typeface="Aptos"/>
              </a:defRPr>
            </a:pPr>
            <a:r>
              <a:rPr lang="en-US" sz="1350" b="0">
                <a:solidFill>
                  <a:srgbClr val="5C6F7F"/>
                </a:solidFill>
                <a:latin typeface="Aptos"/>
                <a:ea typeface="Aptos"/>
                <a:cs typeface="Aptos"/>
              </a:rPr>
              <a:t>31</a:t>
            </a:r>
          </a:p>
        </p:txBody>
      </p:sp>
      <p:sp>
        <p:nvSpPr>
          <p:cNvPr id="7" name="Section exam weighting">
            <a:extLst>
              <a:ext uri="{FF2B5EF4-FFF2-40B4-BE49-F238E27FC236}">
                <a16:creationId xmlns:a16="http://schemas.microsoft.com/office/drawing/2014/main" id="{00000002-0002-4000-8000-000000000000}"/>
              </a:ext>
            </a:extLst>
          </p:cNvPr>
          <p:cNvSpPr>
            <a:spLocks noGrp="1"/>
          </p:cNvSpPr>
          <p:nvPr/>
        </p:nvSpPr>
        <p:spPr>
          <a:xfrm>
            <a:off x="762000" y="1657350"/>
            <a:ext cx="13811250" cy="276225"/>
          </a:xfrm>
          <a:prstGeom prst="rect">
            <a:avLst/>
          </a:prstGeom>
          <a:noFill/>
          <a:ln w="0">
            <a:noFill/>
          </a:ln>
        </p:spPr>
        <p:txBody>
          <a:bodyPr wrap="square" tIns="0" bIns="0">
            <a:noAutofit/>
          </a:bodyPr>
          <a:lstStyle/>
          <a:p>
            <a:pPr>
              <a:defRPr sz="2025" b="0">
                <a:solidFill>
                  <a:srgbClr val="007F83"/>
                </a:solidFill>
                <a:latin typeface="Aptos"/>
                <a:ea typeface="Aptos"/>
                <a:cs typeface="Aptos"/>
              </a:defRPr>
            </a:pPr>
            <a:r>
              <a:rPr lang="en-US" b="1">
                <a:solidFill>
                  <a:srgbClr val="007F83"/>
                </a:solidFill>
                <a:latin typeface="Aptos"/>
                <a:ea typeface="Aptos"/>
                <a:cs typeface="Aptos"/>
              </a:rPr>
              <a:t>Section exam weight: Performance Management 20%</a:t>
            </a:r>
          </a:p>
        </p:txBody>
      </p:sp>
      <p:sp>
        <p:nvSpPr>
          <p:cNvPr id="9" name="Rectangle 8">
            <a:extLst>
              <a:ext uri="{FF2B5EF4-FFF2-40B4-BE49-F238E27FC236}">
                <a16:creationId xmlns:a16="http://schemas.microsoft.com/office/drawing/2014/main" id="{D3A78D56-E053-6C16-E8E4-FC020C038BC4}"/>
              </a:ext>
            </a:extLst>
          </p:cNvPr>
          <p:cNvSpPr>
            <a:spLocks noGrp="1"/>
          </p:cNvSpPr>
          <p:nvPr/>
        </p:nvSpPr>
        <p:spPr>
          <a:xfrm>
            <a:off x="762000" y="8077200"/>
            <a:ext cx="11430000" cy="285750"/>
          </a:xfrm>
          <a:prstGeom prst="rect">
            <a:avLst/>
          </a:prstGeom>
          <a:noFill/>
          <a:ln w="0">
            <a:noFill/>
          </a:ln>
        </p:spPr>
        <p:txBody>
          <a:bodyPr wrap="square">
            <a:noAutofit/>
          </a:bodyPr>
          <a:lstStyle/>
          <a:p>
            <a:pPr>
              <a:defRPr sz="1350" b="0">
                <a:solidFill>
                  <a:srgbClr val="5C6F7F"/>
                </a:solidFill>
                <a:latin typeface="Aptos"/>
                <a:ea typeface="Aptos"/>
                <a:cs typeface="Aptos"/>
              </a:defRPr>
            </a:pPr>
            <a:r>
              <a:rPr sz="1350" b="0">
                <a:solidFill>
                  <a:srgbClr val="5C6F7F"/>
                </a:solidFill>
                <a:latin typeface="Aptos"/>
                <a:ea typeface="Aptos"/>
                <a:cs typeface="Aptos"/>
              </a:rPr>
              <a:t>CMA Part 1. Supplied course outline. Subunit references shown.</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0000002-0001-4000-8000-000000000000}"/>
              </a:ext>
            </a:extLst>
          </p:cNvPr>
          <p:cNvSpPr>
            <a:spLocks noGrp="1"/>
          </p:cNvSpPr>
          <p:nvPr/>
        </p:nvSpPr>
        <p:spPr>
          <a:xfrm>
            <a:off x="762000" y="542925"/>
            <a:ext cx="13811250" cy="666750"/>
          </a:xfrm>
          <a:prstGeom prst="rect">
            <a:avLst/>
          </a:prstGeom>
          <a:noFill/>
          <a:ln w="0">
            <a:noFill/>
          </a:ln>
        </p:spPr>
        <p:txBody>
          <a:bodyPr wrap="square">
            <a:noAutofit/>
          </a:bodyPr>
          <a:lstStyle/>
          <a:p>
            <a:pPr>
              <a:defRPr sz="3675" b="1">
                <a:solidFill>
                  <a:srgbClr val="122C49"/>
                </a:solidFill>
                <a:latin typeface="Aptos"/>
                <a:ea typeface="Aptos"/>
                <a:cs typeface="Aptos"/>
              </a:defRPr>
            </a:pPr>
            <a:r>
              <a:rPr lang="en-US" sz="3675" b="1">
                <a:solidFill>
                  <a:srgbClr val="122C49"/>
                </a:solidFill>
                <a:latin typeface="Aptos"/>
                <a:ea typeface="Aptos"/>
                <a:cs typeface="Aptos"/>
              </a:rPr>
              <a:t>Responsibility Accounting and Performance</a:t>
            </a:r>
          </a:p>
        </p:txBody>
      </p:sp>
      <p:sp>
        <p:nvSpPr>
          <p:cNvPr id="2" name="Rectangle 1">
            <a:extLst>
              <a:ext uri="{FF2B5EF4-FFF2-40B4-BE49-F238E27FC236}">
                <a16:creationId xmlns:a16="http://schemas.microsoft.com/office/drawing/2014/main" id="{00000002-0002-4000-8000-000000000000}"/>
              </a:ext>
            </a:extLst>
          </p:cNvPr>
          <p:cNvSpPr>
            <a:spLocks noGrp="1"/>
          </p:cNvSpPr>
          <p:nvPr/>
        </p:nvSpPr>
        <p:spPr>
          <a:xfrm>
            <a:off x="762000" y="1185862"/>
            <a:ext cx="13811250" cy="400050"/>
          </a:xfrm>
          <a:prstGeom prst="rect">
            <a:avLst/>
          </a:prstGeom>
          <a:noFill/>
          <a:ln w="0">
            <a:noFill/>
          </a:ln>
        </p:spPr>
        <p:txBody>
          <a:bodyPr wrap="square">
            <a:noAutofit/>
          </a:bodyPr>
          <a:lstStyle/>
          <a:p>
            <a:pPr>
              <a:defRPr sz="2025" b="0">
                <a:solidFill>
                  <a:srgbClr val="007F83"/>
                </a:solidFill>
                <a:latin typeface="Aptos"/>
                <a:ea typeface="Aptos"/>
                <a:cs typeface="Aptos"/>
              </a:defRPr>
            </a:pPr>
            <a:r>
              <a:rPr lang="en-US" sz="2400" b="0">
                <a:solidFill>
                  <a:srgbClr val="007F83"/>
                </a:solidFill>
                <a:latin typeface="Aptos"/>
                <a:ea typeface="Aptos"/>
                <a:cs typeface="Aptos"/>
              </a:rPr>
              <a:t>28 May – 01 Jun 2027   /   Sessions 31–32</a:t>
            </a:r>
          </a:p>
        </p:txBody>
      </p:sp>
      <p:graphicFrame>
        <p:nvGraphicFramePr>
          <p:cNvPr id="3" name="Table 2"/>
          <p:cNvGraphicFramePr/>
          <p:nvPr>
            <p:extLst>
              <p:ext uri="{D42A27DB-BD31-4B8C-83A1-F6EECF244321}">
                <p14:modId xmlns:p14="http://schemas.microsoft.com/office/powerpoint/2010/main" val="2612149783"/>
              </p:ext>
            </p:extLst>
          </p:nvPr>
        </p:nvGraphicFramePr>
        <p:xfrm>
          <a:off x="762000" y="2028825"/>
          <a:ext cx="13811251" cy="3924300"/>
        </p:xfrm>
        <a:graphic>
          <a:graphicData uri="http://schemas.openxmlformats.org/drawingml/2006/table">
            <a:tbl>
              <a:tblPr/>
              <a:tblGrid>
                <a:gridCol w="1962652">
                  <a:extLst>
                    <a:ext uri="{9D8B030D-6E8A-4147-A177-3AD203B41FA5}">
                      <a16:colId xmlns:a16="http://schemas.microsoft.com/office/drawing/2014/main" val="20000"/>
                    </a:ext>
                  </a:extLst>
                </a:gridCol>
                <a:gridCol w="4984248">
                  <a:extLst>
                    <a:ext uri="{9D8B030D-6E8A-4147-A177-3AD203B41FA5}">
                      <a16:colId xmlns:a16="http://schemas.microsoft.com/office/drawing/2014/main" val="20001"/>
                    </a:ext>
                  </a:extLst>
                </a:gridCol>
                <a:gridCol w="5172911">
                  <a:extLst>
                    <a:ext uri="{9D8B030D-6E8A-4147-A177-3AD203B41FA5}">
                      <a16:colId xmlns:a16="http://schemas.microsoft.com/office/drawing/2014/main" val="20002"/>
                    </a:ext>
                  </a:extLst>
                </a:gridCol>
                <a:gridCol w="1691440">
                  <a:extLst>
                    <a:ext uri="{9D8B030D-6E8A-4147-A177-3AD203B41FA5}">
                      <a16:colId xmlns:a16="http://schemas.microsoft.com/office/drawing/2014/main" val="20003"/>
                    </a:ext>
                  </a:extLst>
                </a:gridCol>
              </a:tblGrid>
              <a:tr h="514350">
                <a:tc>
                  <a:txBody>
                    <a:bodyPr/>
                    <a:lstStyle/>
                    <a:p>
                      <a:pPr algn="ctr"/>
                      <a:r>
                        <a:rPr lang="en-US" sz="1800" b="1">
                          <a:solidFill>
                            <a:srgbClr val="FFFFFF"/>
                          </a:solidFill>
                          <a:latin typeface="Aptos"/>
                          <a:ea typeface="Aptos"/>
                          <a:cs typeface="Aptos"/>
                        </a:rPr>
                        <a:t>Session / date</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Study unit</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Coverage and practice</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Subunits</a:t>
                      </a:r>
                    </a:p>
                  </a:txBody>
                  <a:tcPr marL="133350" marR="133350" marT="133350" marB="133350" anchor="ctr">
                    <a:solidFill>
                      <a:srgbClr val="122C49"/>
                    </a:solidFill>
                  </a:tcPr>
                </a:tc>
                <a:extLst>
                  <a:ext uri="{0D108BD9-81ED-4DB2-BD59-A6C34878D82A}">
                    <a16:rowId xmlns:a16="http://schemas.microsoft.com/office/drawing/2014/main" val="10000"/>
                  </a:ext>
                </a:extLst>
              </a:tr>
              <a:tr h="1691640">
                <a:tc>
                  <a:txBody>
                    <a:bodyPr/>
                    <a:lstStyle/>
                    <a:p>
                      <a:r>
                        <a:rPr lang="fr-FR" sz="1800" b="1">
                          <a:solidFill>
                            <a:srgbClr val="007F83"/>
                          </a:solidFill>
                          <a:latin typeface="Aptos"/>
                          <a:ea typeface="Aptos"/>
                          <a:cs typeface="Aptos"/>
                        </a:rPr>
                        <a:t>31</a:t>
                      </a:r>
                    </a:p>
                    <a:p>
                      <a:r>
                        <a:rPr lang="fr-FR" sz="1800" b="1">
                          <a:solidFill>
                            <a:srgbClr val="007F83"/>
                          </a:solidFill>
                          <a:latin typeface="Aptos"/>
                          <a:ea typeface="Aptos"/>
                          <a:cs typeface="Aptos"/>
                        </a:rPr>
                        <a:t>Fri 28 May</a:t>
                      </a:r>
                    </a:p>
                    <a:p>
                      <a:r>
                        <a:rPr lang="fr-FR" sz="1800" b="1">
                          <a:solidFill>
                            <a:srgbClr val="007F83"/>
                          </a:solidFill>
                          <a:latin typeface="Aptos"/>
                          <a:ea typeface="Aptos"/>
                          <a:cs typeface="Aptos"/>
                        </a:rPr>
                        <a:t>2027</a:t>
                      </a:r>
                    </a:p>
                  </a:txBody>
                  <a:tcPr marL="133350" marR="133350" marT="133350" marB="133350" anchor="ctr">
                    <a:solidFill>
                      <a:srgbClr val="F3F7F9"/>
                    </a:solidFill>
                  </a:tcPr>
                </a:tc>
                <a:tc>
                  <a:txBody>
                    <a:bodyPr/>
                    <a:lstStyle/>
                    <a:p>
                      <a:r>
                        <a:rPr lang="en-US" sz="1800" b="1">
                          <a:solidFill>
                            <a:srgbClr val="122C49"/>
                          </a:solidFill>
                          <a:latin typeface="Aptos"/>
                          <a:ea typeface="Aptos"/>
                          <a:cs typeface="Aptos"/>
                        </a:rPr>
                        <a:t>Unit 16. Responsibility Accounting and Performance Measures</a:t>
                      </a:r>
                    </a:p>
                  </a:txBody>
                  <a:tcPr marL="133350" marR="133350" marT="133350" marB="133350" anchor="ctr">
                    <a:solidFill>
                      <a:srgbClr val="F3F7F9"/>
                    </a:solidFill>
                  </a:tcPr>
                </a:tc>
                <a:tc>
                  <a:txBody>
                    <a:bodyPr/>
                    <a:lstStyle/>
                    <a:p>
                      <a:pPr marL="285750" indent="-285750">
                        <a:buFont typeface="Arial" panose="020B0604020202020204" pitchFamily="34" charset="0"/>
                        <a:buChar char="•"/>
                      </a:pPr>
                      <a:r>
                        <a:rPr lang="en-US" sz="1800">
                          <a:solidFill>
                            <a:srgbClr val="233B50"/>
                          </a:solidFill>
                          <a:latin typeface="Aptos"/>
                          <a:ea typeface="Aptos"/>
                          <a:cs typeface="Aptos"/>
                        </a:rPr>
                        <a:t>16.1 Responsibility centers.</a:t>
                      </a:r>
                    </a:p>
                    <a:p>
                      <a:pPr marL="285750" indent="-285750">
                        <a:buFont typeface="Arial" panose="020B0604020202020204" pitchFamily="34" charset="0"/>
                        <a:buChar char="•"/>
                      </a:pPr>
                      <a:r>
                        <a:rPr lang="en-US" sz="1800">
                          <a:solidFill>
                            <a:srgbClr val="233B50"/>
                          </a:solidFill>
                          <a:latin typeface="Aptos"/>
                          <a:ea typeface="Aptos"/>
                          <a:cs typeface="Aptos"/>
                        </a:rPr>
                        <a:t>16.2 Performance measures for cost, revenue and profit centers.</a:t>
                      </a:r>
                    </a:p>
                    <a:p>
                      <a:pPr marL="285750" indent="-285750">
                        <a:buFont typeface="Arial" panose="020B0604020202020204" pitchFamily="34" charset="0"/>
                        <a:buChar char="•"/>
                      </a:pPr>
                      <a:r>
                        <a:rPr lang="en-US" sz="1800">
                          <a:solidFill>
                            <a:srgbClr val="233B50"/>
                          </a:solidFill>
                          <a:latin typeface="Aptos"/>
                          <a:ea typeface="Aptos"/>
                          <a:cs typeface="Aptos"/>
                        </a:rPr>
                        <a:t>Practice choosing measures for each type of center.</a:t>
                      </a:r>
                    </a:p>
                  </a:txBody>
                  <a:tcPr marL="133350" marR="133350" marT="133350" marB="133350" anchor="ctr">
                    <a:solidFill>
                      <a:srgbClr val="F3F7F9"/>
                    </a:solidFill>
                  </a:tcPr>
                </a:tc>
                <a:tc>
                  <a:txBody>
                    <a:bodyPr/>
                    <a:lstStyle/>
                    <a:p>
                      <a:pPr algn="ctr"/>
                      <a:r>
                        <a:rPr lang="en-US" sz="1800">
                          <a:solidFill>
                            <a:srgbClr val="233B50"/>
                          </a:solidFill>
                          <a:latin typeface="Aptos"/>
                          <a:ea typeface="Aptos"/>
                          <a:cs typeface="Aptos"/>
                        </a:rPr>
                        <a:t>16.1–16.2</a:t>
                      </a:r>
                    </a:p>
                  </a:txBody>
                  <a:tcPr marL="133350" marR="133350" marT="133350" marB="133350" anchor="ctr">
                    <a:solidFill>
                      <a:srgbClr val="F3F7F9"/>
                    </a:solidFill>
                  </a:tcPr>
                </a:tc>
                <a:extLst>
                  <a:ext uri="{0D108BD9-81ED-4DB2-BD59-A6C34878D82A}">
                    <a16:rowId xmlns:a16="http://schemas.microsoft.com/office/drawing/2014/main" val="10002"/>
                  </a:ext>
                </a:extLst>
              </a:tr>
              <a:tr h="1691640">
                <a:tc>
                  <a:txBody>
                    <a:bodyPr/>
                    <a:lstStyle/>
                    <a:p>
                      <a:r>
                        <a:rPr lang="sv-SE" sz="1800" b="1">
                          <a:solidFill>
                            <a:srgbClr val="007F83"/>
                          </a:solidFill>
                          <a:latin typeface="Aptos"/>
                          <a:ea typeface="Aptos"/>
                          <a:cs typeface="Aptos"/>
                        </a:rPr>
                        <a:t>32</a:t>
                      </a:r>
                    </a:p>
                    <a:p>
                      <a:r>
                        <a:rPr lang="sv-SE" sz="1800" b="1">
                          <a:solidFill>
                            <a:srgbClr val="007F83"/>
                          </a:solidFill>
                          <a:latin typeface="Aptos"/>
                          <a:ea typeface="Aptos"/>
                          <a:cs typeface="Aptos"/>
                        </a:rPr>
                        <a:t>Tue 01 Jun</a:t>
                      </a:r>
                    </a:p>
                    <a:p>
                      <a:r>
                        <a:rPr lang="sv-SE" sz="1800" b="1">
                          <a:solidFill>
                            <a:srgbClr val="007F83"/>
                          </a:solidFill>
                          <a:latin typeface="Aptos"/>
                          <a:ea typeface="Aptos"/>
                          <a:cs typeface="Aptos"/>
                        </a:rPr>
                        <a:t>2027</a:t>
                      </a:r>
                    </a:p>
                  </a:txBody>
                  <a:tcPr marL="133350" marR="133350" marT="133350" marB="133350" anchor="ctr">
                    <a:solidFill>
                      <a:srgbClr val="FFFFFF"/>
                    </a:solidFill>
                  </a:tcPr>
                </a:tc>
                <a:tc>
                  <a:txBody>
                    <a:bodyPr/>
                    <a:lstStyle/>
                    <a:p>
                      <a:r>
                        <a:rPr lang="en-US" sz="1800" b="1">
                          <a:solidFill>
                            <a:srgbClr val="122C49"/>
                          </a:solidFill>
                          <a:latin typeface="Aptos"/>
                          <a:ea typeface="Aptos"/>
                          <a:cs typeface="Aptos"/>
                        </a:rPr>
                        <a:t>Unit 16. Responsibility Accounting and Performance Measures</a:t>
                      </a:r>
                    </a:p>
                  </a:txBody>
                  <a:tcPr marL="133350" marR="133350" marT="133350" marB="133350" anchor="ctr">
                    <a:solidFill>
                      <a:srgbClr val="FFFFFF"/>
                    </a:solidFill>
                  </a:tcPr>
                </a:tc>
                <a:tc>
                  <a:txBody>
                    <a:bodyPr/>
                    <a:lstStyle/>
                    <a:p>
                      <a:pPr marL="285750" indent="-285750">
                        <a:buFont typeface="Arial" panose="020B0604020202020204" pitchFamily="34" charset="0"/>
                        <a:buChar char="•"/>
                      </a:pPr>
                      <a:r>
                        <a:rPr lang="en-US" sz="1800">
                          <a:solidFill>
                            <a:srgbClr val="233B50"/>
                          </a:solidFill>
                          <a:latin typeface="Aptos"/>
                          <a:ea typeface="Aptos"/>
                          <a:cs typeface="Aptos"/>
                        </a:rPr>
                        <a:t>16.3 Performance measures for investment centers.</a:t>
                      </a:r>
                    </a:p>
                    <a:p>
                      <a:pPr marL="285750" indent="-285750">
                        <a:buFont typeface="Arial" panose="020B0604020202020204" pitchFamily="34" charset="0"/>
                        <a:buChar char="•"/>
                      </a:pPr>
                      <a:r>
                        <a:rPr lang="en-US" sz="1800">
                          <a:solidFill>
                            <a:srgbClr val="233B50"/>
                          </a:solidFill>
                          <a:latin typeface="Aptos"/>
                          <a:ea typeface="Aptos"/>
                          <a:cs typeface="Aptos"/>
                        </a:rPr>
                        <a:t>16.4 Balanced scorecard.</a:t>
                      </a:r>
                    </a:p>
                    <a:p>
                      <a:pPr marL="285750" indent="-285750">
                        <a:buFont typeface="Arial" panose="020B0604020202020204" pitchFamily="34" charset="0"/>
                        <a:buChar char="•"/>
                      </a:pPr>
                      <a:r>
                        <a:rPr lang="en-US" sz="1800">
                          <a:solidFill>
                            <a:srgbClr val="233B50"/>
                          </a:solidFill>
                          <a:latin typeface="Aptos"/>
                          <a:ea typeface="Aptos"/>
                          <a:cs typeface="Aptos"/>
                        </a:rPr>
                        <a:t>16.5 Transfer pricing.</a:t>
                      </a:r>
                    </a:p>
                  </a:txBody>
                  <a:tcPr marL="133350" marR="133350" marT="133350" marB="133350" anchor="ctr">
                    <a:solidFill>
                      <a:srgbClr val="FFFFFF"/>
                    </a:solidFill>
                  </a:tcPr>
                </a:tc>
                <a:tc>
                  <a:txBody>
                    <a:bodyPr/>
                    <a:lstStyle/>
                    <a:p>
                      <a:pPr algn="ctr"/>
                      <a:r>
                        <a:rPr lang="en-US" sz="1800">
                          <a:solidFill>
                            <a:srgbClr val="233B50"/>
                          </a:solidFill>
                          <a:latin typeface="Aptos"/>
                          <a:ea typeface="Aptos"/>
                          <a:cs typeface="Aptos"/>
                        </a:rPr>
                        <a:t>16.3–16.5</a:t>
                      </a:r>
                    </a:p>
                  </a:txBody>
                  <a:tcPr marL="133350" marR="133350" marT="133350" marB="133350" anchor="ctr">
                    <a:solidFill>
                      <a:srgbClr val="FFFFFF"/>
                    </a:solidFill>
                  </a:tcPr>
                </a:tc>
                <a:extLst>
                  <a:ext uri="{0D108BD9-81ED-4DB2-BD59-A6C34878D82A}">
                    <a16:rowId xmlns:a16="http://schemas.microsoft.com/office/drawing/2014/main" val="10003"/>
                  </a:ext>
                </a:extLst>
              </a:tr>
            </a:tbl>
          </a:graphicData>
        </a:graphic>
      </p:graphicFrame>
      <p:sp>
        <p:nvSpPr>
          <p:cNvPr id="5" name="Rectangle 4">
            <a:extLst>
              <a:ext uri="{FF2B5EF4-FFF2-40B4-BE49-F238E27FC236}">
                <a16:creationId xmlns:a16="http://schemas.microsoft.com/office/drawing/2014/main" id="{00000002-0004-4000-8000-000000000000}"/>
              </a:ext>
            </a:extLst>
          </p:cNvPr>
          <p:cNvSpPr>
            <a:spLocks noGrp="1"/>
          </p:cNvSpPr>
          <p:nvPr/>
        </p:nvSpPr>
        <p:spPr>
          <a:xfrm>
            <a:off x="13811250" y="8077200"/>
            <a:ext cx="666750" cy="285750"/>
          </a:xfrm>
          <a:prstGeom prst="rect">
            <a:avLst/>
          </a:prstGeom>
          <a:noFill/>
          <a:ln w="0">
            <a:noFill/>
          </a:ln>
        </p:spPr>
        <p:txBody>
          <a:bodyPr wrap="square">
            <a:noAutofit/>
          </a:bodyPr>
          <a:lstStyle/>
          <a:p>
            <a:pPr>
              <a:defRPr sz="1350" b="0">
                <a:solidFill>
                  <a:srgbClr val="5C6F7F"/>
                </a:solidFill>
                <a:latin typeface="Aptos"/>
                <a:ea typeface="Aptos"/>
                <a:cs typeface="Aptos"/>
              </a:defRPr>
            </a:pPr>
            <a:r>
              <a:rPr lang="en-US" sz="1350" b="0">
                <a:solidFill>
                  <a:srgbClr val="5C6F7F"/>
                </a:solidFill>
                <a:latin typeface="Aptos"/>
                <a:ea typeface="Aptos"/>
                <a:cs typeface="Aptos"/>
              </a:rPr>
              <a:t>32</a:t>
            </a:r>
          </a:p>
        </p:txBody>
      </p:sp>
      <p:sp>
        <p:nvSpPr>
          <p:cNvPr id="7" name="Section exam weighting">
            <a:extLst>
              <a:ext uri="{FF2B5EF4-FFF2-40B4-BE49-F238E27FC236}">
                <a16:creationId xmlns:a16="http://schemas.microsoft.com/office/drawing/2014/main" id="{00000002-0002-4000-8000-000000000000}"/>
              </a:ext>
            </a:extLst>
          </p:cNvPr>
          <p:cNvSpPr>
            <a:spLocks noGrp="1"/>
          </p:cNvSpPr>
          <p:nvPr/>
        </p:nvSpPr>
        <p:spPr>
          <a:xfrm>
            <a:off x="762000" y="1657350"/>
            <a:ext cx="13811250" cy="276225"/>
          </a:xfrm>
          <a:prstGeom prst="rect">
            <a:avLst/>
          </a:prstGeom>
          <a:noFill/>
          <a:ln w="0">
            <a:noFill/>
          </a:ln>
        </p:spPr>
        <p:txBody>
          <a:bodyPr wrap="square" tIns="0" bIns="0">
            <a:noAutofit/>
          </a:bodyPr>
          <a:lstStyle/>
          <a:p>
            <a:pPr>
              <a:defRPr sz="2025" b="0">
                <a:solidFill>
                  <a:srgbClr val="007F83"/>
                </a:solidFill>
                <a:latin typeface="Aptos"/>
                <a:ea typeface="Aptos"/>
                <a:cs typeface="Aptos"/>
              </a:defRPr>
            </a:pPr>
            <a:r>
              <a:rPr lang="en-US" b="1">
                <a:solidFill>
                  <a:srgbClr val="007F83"/>
                </a:solidFill>
                <a:latin typeface="Aptos"/>
                <a:ea typeface="Aptos"/>
                <a:cs typeface="Aptos"/>
              </a:rPr>
              <a:t>Section exam weight: Performance Management 20%</a:t>
            </a:r>
          </a:p>
        </p:txBody>
      </p:sp>
      <p:sp>
        <p:nvSpPr>
          <p:cNvPr id="9" name="Rectangle 8">
            <a:extLst>
              <a:ext uri="{FF2B5EF4-FFF2-40B4-BE49-F238E27FC236}">
                <a16:creationId xmlns:a16="http://schemas.microsoft.com/office/drawing/2014/main" id="{D3A78D56-E053-6C16-E8E4-FC020C038BC4}"/>
              </a:ext>
            </a:extLst>
          </p:cNvPr>
          <p:cNvSpPr>
            <a:spLocks noGrp="1"/>
          </p:cNvSpPr>
          <p:nvPr/>
        </p:nvSpPr>
        <p:spPr>
          <a:xfrm>
            <a:off x="762000" y="8077200"/>
            <a:ext cx="11430000" cy="285750"/>
          </a:xfrm>
          <a:prstGeom prst="rect">
            <a:avLst/>
          </a:prstGeom>
          <a:noFill/>
          <a:ln w="0">
            <a:noFill/>
          </a:ln>
        </p:spPr>
        <p:txBody>
          <a:bodyPr wrap="square">
            <a:noAutofit/>
          </a:bodyPr>
          <a:lstStyle/>
          <a:p>
            <a:pPr>
              <a:defRPr sz="1350" b="0">
                <a:solidFill>
                  <a:srgbClr val="5C6F7F"/>
                </a:solidFill>
                <a:latin typeface="Aptos"/>
                <a:ea typeface="Aptos"/>
                <a:cs typeface="Aptos"/>
              </a:defRPr>
            </a:pPr>
            <a:r>
              <a:rPr sz="1350" b="0">
                <a:solidFill>
                  <a:srgbClr val="5C6F7F"/>
                </a:solidFill>
                <a:latin typeface="Aptos"/>
                <a:ea typeface="Aptos"/>
                <a:cs typeface="Aptos"/>
              </a:rPr>
              <a:t>CMA Part 1. Supplied course outline. Subunit references shown.</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0000002-0001-4000-8000-000000000000}"/>
              </a:ext>
            </a:extLst>
          </p:cNvPr>
          <p:cNvSpPr>
            <a:spLocks noGrp="1"/>
          </p:cNvSpPr>
          <p:nvPr/>
        </p:nvSpPr>
        <p:spPr>
          <a:xfrm>
            <a:off x="762000" y="542925"/>
            <a:ext cx="13811250" cy="666750"/>
          </a:xfrm>
          <a:prstGeom prst="rect">
            <a:avLst/>
          </a:prstGeom>
          <a:noFill/>
          <a:ln w="0">
            <a:noFill/>
          </a:ln>
        </p:spPr>
        <p:txBody>
          <a:bodyPr wrap="square">
            <a:noAutofit/>
          </a:bodyPr>
          <a:lstStyle/>
          <a:p>
            <a:pPr>
              <a:defRPr sz="3675" b="1">
                <a:solidFill>
                  <a:srgbClr val="122C49"/>
                </a:solidFill>
                <a:latin typeface="Aptos"/>
                <a:ea typeface="Aptos"/>
                <a:cs typeface="Aptos"/>
              </a:defRPr>
            </a:pPr>
            <a:r>
              <a:rPr lang="en-US" sz="3675" b="1">
                <a:solidFill>
                  <a:srgbClr val="122C49"/>
                </a:solidFill>
                <a:latin typeface="Aptos"/>
                <a:ea typeface="Aptos"/>
                <a:cs typeface="Aptos"/>
              </a:rPr>
              <a:t>Internal Controls</a:t>
            </a:r>
          </a:p>
        </p:txBody>
      </p:sp>
      <p:sp>
        <p:nvSpPr>
          <p:cNvPr id="2" name="Rectangle 1">
            <a:extLst>
              <a:ext uri="{FF2B5EF4-FFF2-40B4-BE49-F238E27FC236}">
                <a16:creationId xmlns:a16="http://schemas.microsoft.com/office/drawing/2014/main" id="{00000002-0002-4000-8000-000000000000}"/>
              </a:ext>
            </a:extLst>
          </p:cNvPr>
          <p:cNvSpPr>
            <a:spLocks noGrp="1"/>
          </p:cNvSpPr>
          <p:nvPr/>
        </p:nvSpPr>
        <p:spPr>
          <a:xfrm>
            <a:off x="762000" y="1185862"/>
            <a:ext cx="13811250" cy="400050"/>
          </a:xfrm>
          <a:prstGeom prst="rect">
            <a:avLst/>
          </a:prstGeom>
          <a:noFill/>
          <a:ln w="0">
            <a:noFill/>
          </a:ln>
        </p:spPr>
        <p:txBody>
          <a:bodyPr wrap="square">
            <a:noAutofit/>
          </a:bodyPr>
          <a:lstStyle/>
          <a:p>
            <a:pPr>
              <a:defRPr sz="2025" b="0">
                <a:solidFill>
                  <a:srgbClr val="007F83"/>
                </a:solidFill>
                <a:latin typeface="Aptos"/>
                <a:ea typeface="Aptos"/>
                <a:cs typeface="Aptos"/>
              </a:defRPr>
            </a:pPr>
            <a:r>
              <a:rPr lang="en-US" sz="2400" b="0">
                <a:solidFill>
                  <a:srgbClr val="007F83"/>
                </a:solidFill>
                <a:latin typeface="Aptos"/>
                <a:ea typeface="Aptos"/>
                <a:cs typeface="Aptos"/>
              </a:rPr>
              <a:t>4–11 June 2027   /   Sessions 33–35</a:t>
            </a:r>
          </a:p>
        </p:txBody>
      </p:sp>
      <p:graphicFrame>
        <p:nvGraphicFramePr>
          <p:cNvPr id="3" name="Table 2"/>
          <p:cNvGraphicFramePr/>
          <p:nvPr>
            <p:extLst>
              <p:ext uri="{D42A27DB-BD31-4B8C-83A1-F6EECF244321}">
                <p14:modId xmlns:p14="http://schemas.microsoft.com/office/powerpoint/2010/main" val="608403213"/>
              </p:ext>
            </p:extLst>
          </p:nvPr>
        </p:nvGraphicFramePr>
        <p:xfrm>
          <a:off x="762000" y="2028825"/>
          <a:ext cx="13811251" cy="5204460"/>
        </p:xfrm>
        <a:graphic>
          <a:graphicData uri="http://schemas.openxmlformats.org/drawingml/2006/table">
            <a:tbl>
              <a:tblPr/>
              <a:tblGrid>
                <a:gridCol w="1962652">
                  <a:extLst>
                    <a:ext uri="{9D8B030D-6E8A-4147-A177-3AD203B41FA5}">
                      <a16:colId xmlns:a16="http://schemas.microsoft.com/office/drawing/2014/main" val="20000"/>
                    </a:ext>
                  </a:extLst>
                </a:gridCol>
                <a:gridCol w="4984248">
                  <a:extLst>
                    <a:ext uri="{9D8B030D-6E8A-4147-A177-3AD203B41FA5}">
                      <a16:colId xmlns:a16="http://schemas.microsoft.com/office/drawing/2014/main" val="20001"/>
                    </a:ext>
                  </a:extLst>
                </a:gridCol>
                <a:gridCol w="5172911">
                  <a:extLst>
                    <a:ext uri="{9D8B030D-6E8A-4147-A177-3AD203B41FA5}">
                      <a16:colId xmlns:a16="http://schemas.microsoft.com/office/drawing/2014/main" val="20002"/>
                    </a:ext>
                  </a:extLst>
                </a:gridCol>
                <a:gridCol w="1691440">
                  <a:extLst>
                    <a:ext uri="{9D8B030D-6E8A-4147-A177-3AD203B41FA5}">
                      <a16:colId xmlns:a16="http://schemas.microsoft.com/office/drawing/2014/main" val="20003"/>
                    </a:ext>
                  </a:extLst>
                </a:gridCol>
              </a:tblGrid>
              <a:tr h="514350">
                <a:tc>
                  <a:txBody>
                    <a:bodyPr/>
                    <a:lstStyle/>
                    <a:p>
                      <a:pPr algn="ctr"/>
                      <a:r>
                        <a:rPr lang="en-US" sz="1800" b="1">
                          <a:solidFill>
                            <a:srgbClr val="FFFFFF"/>
                          </a:solidFill>
                          <a:latin typeface="Aptos"/>
                          <a:ea typeface="Aptos"/>
                          <a:cs typeface="Aptos"/>
                        </a:rPr>
                        <a:t>Session / date</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Study unit</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Coverage and practice</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Subunits</a:t>
                      </a:r>
                    </a:p>
                  </a:txBody>
                  <a:tcPr marL="133350" marR="133350" marT="133350" marB="133350" anchor="ctr">
                    <a:solidFill>
                      <a:srgbClr val="122C49"/>
                    </a:solidFill>
                  </a:tcPr>
                </a:tc>
                <a:extLst>
                  <a:ext uri="{0D108BD9-81ED-4DB2-BD59-A6C34878D82A}">
                    <a16:rowId xmlns:a16="http://schemas.microsoft.com/office/drawing/2014/main" val="10000"/>
                  </a:ext>
                </a:extLst>
              </a:tr>
              <a:tr h="1554480">
                <a:tc>
                  <a:txBody>
                    <a:bodyPr/>
                    <a:lstStyle/>
                    <a:p>
                      <a:r>
                        <a:rPr lang="fr-FR" sz="1800" b="1">
                          <a:solidFill>
                            <a:srgbClr val="007F83"/>
                          </a:solidFill>
                          <a:latin typeface="Aptos"/>
                          <a:ea typeface="Aptos"/>
                          <a:cs typeface="Aptos"/>
                        </a:rPr>
                        <a:t>33</a:t>
                      </a:r>
                    </a:p>
                    <a:p>
                      <a:r>
                        <a:rPr lang="fr-FR" sz="1800" b="1">
                          <a:solidFill>
                            <a:srgbClr val="007F83"/>
                          </a:solidFill>
                          <a:latin typeface="Aptos"/>
                          <a:ea typeface="Aptos"/>
                          <a:cs typeface="Aptos"/>
                        </a:rPr>
                        <a:t>Fri 04 Jun</a:t>
                      </a:r>
                    </a:p>
                    <a:p>
                      <a:r>
                        <a:rPr lang="fr-FR" sz="1800" b="1">
                          <a:solidFill>
                            <a:srgbClr val="007F83"/>
                          </a:solidFill>
                          <a:latin typeface="Aptos"/>
                          <a:ea typeface="Aptos"/>
                          <a:cs typeface="Aptos"/>
                        </a:rPr>
                        <a:t>2027</a:t>
                      </a:r>
                    </a:p>
                  </a:txBody>
                  <a:tcPr marL="133350" marR="133350" marT="133350" marB="133350" anchor="ctr">
                    <a:solidFill>
                      <a:srgbClr val="F3F7F9"/>
                    </a:solidFill>
                  </a:tcPr>
                </a:tc>
                <a:tc>
                  <a:txBody>
                    <a:bodyPr/>
                    <a:lstStyle/>
                    <a:p>
                      <a:r>
                        <a:rPr lang="en-US" sz="1800" b="1">
                          <a:solidFill>
                            <a:srgbClr val="122C49"/>
                          </a:solidFill>
                          <a:latin typeface="Aptos"/>
                          <a:ea typeface="Aptos"/>
                          <a:cs typeface="Aptos"/>
                        </a:rPr>
                        <a:t>Unit 17. Corporate Governance</a:t>
                      </a:r>
                    </a:p>
                  </a:txBody>
                  <a:tcPr marL="133350" marR="133350" marT="133350" marB="133350" anchor="ctr">
                    <a:solidFill>
                      <a:srgbClr val="F3F7F9"/>
                    </a:solidFill>
                  </a:tcPr>
                </a:tc>
                <a:tc>
                  <a:txBody>
                    <a:bodyPr/>
                    <a:lstStyle/>
                    <a:p>
                      <a:pPr marL="285750" indent="-285750">
                        <a:buFont typeface="Arial" panose="020B0604020202020204" pitchFamily="34" charset="0"/>
                        <a:buChar char="•"/>
                      </a:pPr>
                      <a:r>
                        <a:rPr lang="en-US" sz="1800">
                          <a:solidFill>
                            <a:srgbClr val="233B50"/>
                          </a:solidFill>
                          <a:latin typeface="Aptos"/>
                          <a:ea typeface="Aptos"/>
                          <a:cs typeface="Aptos"/>
                        </a:rPr>
                        <a:t>17.1 Corporate governance and regulations relating to internal control.</a:t>
                      </a:r>
                    </a:p>
                    <a:p>
                      <a:pPr marL="285750" indent="-285750">
                        <a:buFont typeface="Arial" panose="020B0604020202020204" pitchFamily="34" charset="0"/>
                        <a:buChar char="•"/>
                      </a:pPr>
                      <a:r>
                        <a:rPr lang="en-US" sz="1800">
                          <a:solidFill>
                            <a:srgbClr val="233B50"/>
                          </a:solidFill>
                          <a:latin typeface="Aptos"/>
                          <a:ea typeface="Aptos"/>
                          <a:cs typeface="Aptos"/>
                        </a:rPr>
                        <a:t>17.2 Risk and internal control.</a:t>
                      </a:r>
                    </a:p>
                    <a:p>
                      <a:pPr marL="285750" indent="-285750">
                        <a:buFont typeface="Arial" panose="020B0604020202020204" pitchFamily="34" charset="0"/>
                        <a:buChar char="•"/>
                      </a:pPr>
                      <a:r>
                        <a:rPr lang="en-US" sz="1800">
                          <a:solidFill>
                            <a:srgbClr val="233B50"/>
                          </a:solidFill>
                          <a:latin typeface="Aptos"/>
                          <a:ea typeface="Aptos"/>
                          <a:cs typeface="Aptos"/>
                        </a:rPr>
                        <a:t>Apply the concepts to practice scenarios.</a:t>
                      </a:r>
                    </a:p>
                  </a:txBody>
                  <a:tcPr marL="133350" marR="133350" marT="133350" marB="133350" anchor="ctr">
                    <a:solidFill>
                      <a:srgbClr val="F3F7F9"/>
                    </a:solidFill>
                  </a:tcPr>
                </a:tc>
                <a:tc>
                  <a:txBody>
                    <a:bodyPr/>
                    <a:lstStyle/>
                    <a:p>
                      <a:pPr algn="ctr"/>
                      <a:r>
                        <a:rPr lang="en-US" sz="1800">
                          <a:solidFill>
                            <a:srgbClr val="233B50"/>
                          </a:solidFill>
                          <a:latin typeface="Aptos"/>
                          <a:ea typeface="Aptos"/>
                          <a:cs typeface="Aptos"/>
                        </a:rPr>
                        <a:t>17.1–17.2</a:t>
                      </a:r>
                    </a:p>
                  </a:txBody>
                  <a:tcPr marL="133350" marR="133350" marT="133350" marB="133350" anchor="ctr">
                    <a:solidFill>
                      <a:srgbClr val="F3F7F9"/>
                    </a:solidFill>
                  </a:tcPr>
                </a:tc>
                <a:extLst>
                  <a:ext uri="{0D108BD9-81ED-4DB2-BD59-A6C34878D82A}">
                    <a16:rowId xmlns:a16="http://schemas.microsoft.com/office/drawing/2014/main" val="10002"/>
                  </a:ext>
                </a:extLst>
              </a:tr>
              <a:tr h="1554480">
                <a:tc>
                  <a:txBody>
                    <a:bodyPr/>
                    <a:lstStyle/>
                    <a:p>
                      <a:r>
                        <a:rPr lang="sv-SE" sz="1800" b="1">
                          <a:solidFill>
                            <a:srgbClr val="007F83"/>
                          </a:solidFill>
                          <a:latin typeface="Aptos"/>
                          <a:ea typeface="Aptos"/>
                          <a:cs typeface="Aptos"/>
                        </a:rPr>
                        <a:t>34</a:t>
                      </a:r>
                    </a:p>
                    <a:p>
                      <a:r>
                        <a:rPr lang="sv-SE" sz="1800" b="1">
                          <a:solidFill>
                            <a:srgbClr val="007F83"/>
                          </a:solidFill>
                          <a:latin typeface="Aptos"/>
                          <a:ea typeface="Aptos"/>
                          <a:cs typeface="Aptos"/>
                        </a:rPr>
                        <a:t>Tue 08 Jun</a:t>
                      </a:r>
                    </a:p>
                    <a:p>
                      <a:r>
                        <a:rPr lang="sv-SE" sz="1800" b="1">
                          <a:solidFill>
                            <a:srgbClr val="007F83"/>
                          </a:solidFill>
                          <a:latin typeface="Aptos"/>
                          <a:ea typeface="Aptos"/>
                          <a:cs typeface="Aptos"/>
                        </a:rPr>
                        <a:t>2027</a:t>
                      </a:r>
                    </a:p>
                  </a:txBody>
                  <a:tcPr marL="133350" marR="133350" marT="133350" marB="133350" anchor="ctr">
                    <a:solidFill>
                      <a:srgbClr val="FFFFFF"/>
                    </a:solidFill>
                  </a:tcPr>
                </a:tc>
                <a:tc>
                  <a:txBody>
                    <a:bodyPr/>
                    <a:lstStyle/>
                    <a:p>
                      <a:r>
                        <a:rPr lang="en-US" sz="1800" b="1">
                          <a:solidFill>
                            <a:srgbClr val="122C49"/>
                          </a:solidFill>
                          <a:latin typeface="Aptos"/>
                          <a:ea typeface="Aptos"/>
                          <a:cs typeface="Aptos"/>
                        </a:rPr>
                        <a:t>Unit 18. Controls and Security Measures</a:t>
                      </a:r>
                    </a:p>
                    <a:p>
                      <a:r>
                        <a:rPr lang="en-US" sz="1800" b="1">
                          <a:solidFill>
                            <a:srgbClr val="122C49"/>
                          </a:solidFill>
                          <a:latin typeface="Aptos"/>
                          <a:ea typeface="Aptos"/>
                          <a:cs typeface="Aptos"/>
                        </a:rPr>
                        <a:t>Lecture 1 of 2</a:t>
                      </a:r>
                    </a:p>
                  </a:txBody>
                  <a:tcPr marL="133350" marR="133350" marT="133350" marB="133350" anchor="ctr">
                    <a:solidFill>
                      <a:srgbClr val="FFFFFF"/>
                    </a:solidFill>
                  </a:tcPr>
                </a:tc>
                <a:tc>
                  <a:txBody>
                    <a:bodyPr/>
                    <a:lstStyle/>
                    <a:p>
                      <a:pPr marL="285750" indent="-285750">
                        <a:buFont typeface="Arial" panose="020B0604020202020204" pitchFamily="34" charset="0"/>
                        <a:buChar char="•"/>
                      </a:pPr>
                      <a:r>
                        <a:rPr lang="en-US" sz="1800">
                          <a:solidFill>
                            <a:srgbClr val="233B50"/>
                          </a:solidFill>
                          <a:latin typeface="Aptos"/>
                          <a:ea typeface="Aptos"/>
                          <a:cs typeface="Aptos"/>
                        </a:rPr>
                        <a:t>18.1 Control procedures.</a:t>
                      </a:r>
                    </a:p>
                  </a:txBody>
                  <a:tcPr marL="133350" marR="133350" marT="133350" marB="133350" anchor="ctr">
                    <a:solidFill>
                      <a:srgbClr val="FFFFFF"/>
                    </a:solidFill>
                  </a:tcPr>
                </a:tc>
                <a:tc>
                  <a:txBody>
                    <a:bodyPr/>
                    <a:lstStyle/>
                    <a:p>
                      <a:pPr algn="ctr"/>
                      <a:r>
                        <a:rPr lang="en-US" sz="1800">
                          <a:solidFill>
                            <a:srgbClr val="233B50"/>
                          </a:solidFill>
                          <a:latin typeface="Aptos"/>
                          <a:ea typeface="Aptos"/>
                          <a:cs typeface="Aptos"/>
                        </a:rPr>
                        <a:t>18.1</a:t>
                      </a:r>
                    </a:p>
                  </a:txBody>
                  <a:tcPr marL="133350" marR="133350" marT="133350" marB="133350" anchor="ctr">
                    <a:solidFill>
                      <a:srgbClr val="FFFFFF"/>
                    </a:solidFill>
                  </a:tcPr>
                </a:tc>
                <a:extLst>
                  <a:ext uri="{0D108BD9-81ED-4DB2-BD59-A6C34878D82A}">
                    <a16:rowId xmlns:a16="http://schemas.microsoft.com/office/drawing/2014/main" val="10003"/>
                  </a:ext>
                </a:extLst>
              </a:tr>
              <a:tr h="1554480">
                <a:tc>
                  <a:txBody>
                    <a:bodyPr/>
                    <a:lstStyle/>
                    <a:p>
                      <a:r>
                        <a:rPr lang="sv-SE" sz="1800" b="1">
                          <a:solidFill>
                            <a:srgbClr val="007F83"/>
                          </a:solidFill>
                          <a:latin typeface="Aptos"/>
                          <a:ea typeface="Aptos"/>
                          <a:cs typeface="Aptos"/>
                        </a:rPr>
                        <a:t>35</a:t>
                      </a:r>
                    </a:p>
                    <a:p>
                      <a:r>
                        <a:rPr lang="sv-SE" sz="1800" b="1">
                          <a:solidFill>
                            <a:srgbClr val="007F83"/>
                          </a:solidFill>
                          <a:latin typeface="Aptos"/>
                          <a:ea typeface="Aptos"/>
                          <a:cs typeface="Aptos"/>
                        </a:rPr>
                        <a:t>Fri 11 Jun</a:t>
                      </a:r>
                    </a:p>
                    <a:p>
                      <a:r>
                        <a:rPr lang="sv-SE" sz="1800" b="1">
                          <a:solidFill>
                            <a:srgbClr val="007F83"/>
                          </a:solidFill>
                          <a:latin typeface="Aptos"/>
                          <a:ea typeface="Aptos"/>
                          <a:cs typeface="Aptos"/>
                        </a:rPr>
                        <a:t>2027</a:t>
                      </a:r>
                    </a:p>
                  </a:txBody>
                  <a:tcPr marL="133350" marR="133350" marT="133350" marB="133350" anchor="ctr">
                    <a:solidFill>
                      <a:srgbClr val="FFFFFF"/>
                    </a:solidFill>
                  </a:tcPr>
                </a:tc>
                <a:tc>
                  <a:txBody>
                    <a:bodyPr/>
                    <a:lstStyle/>
                    <a:p>
                      <a:r>
                        <a:rPr lang="en-US" sz="1800" b="1">
                          <a:solidFill>
                            <a:srgbClr val="122C49"/>
                          </a:solidFill>
                          <a:latin typeface="Aptos"/>
                          <a:ea typeface="Aptos"/>
                          <a:cs typeface="Aptos"/>
                        </a:rPr>
                        <a:t>Unit 18. Controls and Security Measures</a:t>
                      </a:r>
                    </a:p>
                    <a:p>
                      <a:r>
                        <a:rPr lang="en-US" sz="1800" b="1">
                          <a:solidFill>
                            <a:srgbClr val="122C49"/>
                          </a:solidFill>
                          <a:latin typeface="Aptos"/>
                          <a:ea typeface="Aptos"/>
                          <a:cs typeface="Aptos"/>
                        </a:rPr>
                        <a:t>Lecture 2 of 2</a:t>
                      </a:r>
                    </a:p>
                  </a:txBody>
                  <a:tcPr marL="133350" marR="133350" marT="133350" marB="133350" anchor="ctr">
                    <a:solidFill>
                      <a:srgbClr val="FFFFFF"/>
                    </a:solidFill>
                  </a:tcPr>
                </a:tc>
                <a:tc>
                  <a:txBody>
                    <a:bodyPr/>
                    <a:lstStyle/>
                    <a:p>
                      <a:pPr marL="285750" indent="-285750">
                        <a:buFont typeface="Arial" panose="020B0604020202020204" pitchFamily="34" charset="0"/>
                        <a:buChar char="•"/>
                      </a:pPr>
                      <a:r>
                        <a:rPr lang="en-US" sz="1800">
                          <a:solidFill>
                            <a:srgbClr val="233B50"/>
                          </a:solidFill>
                          <a:latin typeface="Aptos"/>
                          <a:ea typeface="Aptos"/>
                          <a:cs typeface="Aptos"/>
                        </a:rPr>
                        <a:t>18.2 Systems controls and information security.</a:t>
                      </a:r>
                    </a:p>
                    <a:p>
                      <a:pPr marL="285750" indent="-285750">
                        <a:buFont typeface="Arial" panose="020B0604020202020204" pitchFamily="34" charset="0"/>
                        <a:buChar char="•"/>
                      </a:pPr>
                      <a:r>
                        <a:rPr lang="en-US" sz="1800">
                          <a:solidFill>
                            <a:srgbClr val="233B50"/>
                          </a:solidFill>
                          <a:latin typeface="Aptos"/>
                          <a:ea typeface="Aptos"/>
                          <a:cs typeface="Aptos"/>
                        </a:rPr>
                        <a:t>18.3 Security measures and business continuity planning.</a:t>
                      </a:r>
                    </a:p>
                  </a:txBody>
                  <a:tcPr marL="133350" marR="133350" marT="133350" marB="133350" anchor="ctr">
                    <a:solidFill>
                      <a:srgbClr val="FFFFFF"/>
                    </a:solidFill>
                  </a:tcPr>
                </a:tc>
                <a:tc>
                  <a:txBody>
                    <a:bodyPr/>
                    <a:lstStyle/>
                    <a:p>
                      <a:pPr algn="ctr"/>
                      <a:r>
                        <a:rPr lang="en-US" sz="1800">
                          <a:solidFill>
                            <a:srgbClr val="233B50"/>
                          </a:solidFill>
                          <a:latin typeface="Aptos"/>
                          <a:ea typeface="Aptos"/>
                          <a:cs typeface="Aptos"/>
                        </a:rPr>
                        <a:t>18.2–18.3</a:t>
                      </a:r>
                    </a:p>
                  </a:txBody>
                  <a:tcPr marL="133350" marR="133350" marT="133350" marB="133350" anchor="ctr">
                    <a:solidFill>
                      <a:srgbClr val="FFFFFF"/>
                    </a:solidFill>
                  </a:tcPr>
                </a:tc>
                <a:extLst>
                  <a:ext uri="{0D108BD9-81ED-4DB2-BD59-A6C34878D82A}">
                    <a16:rowId xmlns:a16="http://schemas.microsoft.com/office/drawing/2014/main" val="3414459732"/>
                  </a:ext>
                </a:extLst>
              </a:tr>
            </a:tbl>
          </a:graphicData>
        </a:graphic>
      </p:graphicFrame>
      <p:sp>
        <p:nvSpPr>
          <p:cNvPr id="5" name="Rectangle 4">
            <a:extLst>
              <a:ext uri="{FF2B5EF4-FFF2-40B4-BE49-F238E27FC236}">
                <a16:creationId xmlns:a16="http://schemas.microsoft.com/office/drawing/2014/main" id="{00000002-0004-4000-8000-000000000000}"/>
              </a:ext>
            </a:extLst>
          </p:cNvPr>
          <p:cNvSpPr>
            <a:spLocks noGrp="1"/>
          </p:cNvSpPr>
          <p:nvPr/>
        </p:nvSpPr>
        <p:spPr>
          <a:xfrm>
            <a:off x="13811250" y="8077200"/>
            <a:ext cx="666750" cy="285750"/>
          </a:xfrm>
          <a:prstGeom prst="rect">
            <a:avLst/>
          </a:prstGeom>
          <a:noFill/>
          <a:ln w="0">
            <a:noFill/>
          </a:ln>
        </p:spPr>
        <p:txBody>
          <a:bodyPr wrap="square">
            <a:noAutofit/>
          </a:bodyPr>
          <a:lstStyle/>
          <a:p>
            <a:pPr>
              <a:defRPr sz="1350" b="0">
                <a:solidFill>
                  <a:srgbClr val="5C6F7F"/>
                </a:solidFill>
                <a:latin typeface="Aptos"/>
                <a:ea typeface="Aptos"/>
                <a:cs typeface="Aptos"/>
              </a:defRPr>
            </a:pPr>
            <a:r>
              <a:rPr lang="en-US" sz="1350" b="0">
                <a:solidFill>
                  <a:srgbClr val="5C6F7F"/>
                </a:solidFill>
                <a:latin typeface="Aptos"/>
                <a:ea typeface="Aptos"/>
                <a:cs typeface="Aptos"/>
              </a:rPr>
              <a:t>33</a:t>
            </a:r>
          </a:p>
        </p:txBody>
      </p:sp>
      <p:sp>
        <p:nvSpPr>
          <p:cNvPr id="7" name="Section exam weighting">
            <a:extLst>
              <a:ext uri="{FF2B5EF4-FFF2-40B4-BE49-F238E27FC236}">
                <a16:creationId xmlns:a16="http://schemas.microsoft.com/office/drawing/2014/main" id="{00000002-0002-4000-8000-000000000000}"/>
              </a:ext>
            </a:extLst>
          </p:cNvPr>
          <p:cNvSpPr>
            <a:spLocks noGrp="1"/>
          </p:cNvSpPr>
          <p:nvPr/>
        </p:nvSpPr>
        <p:spPr>
          <a:xfrm>
            <a:off x="762000" y="1657350"/>
            <a:ext cx="13811250" cy="276225"/>
          </a:xfrm>
          <a:prstGeom prst="rect">
            <a:avLst/>
          </a:prstGeom>
          <a:noFill/>
          <a:ln w="0">
            <a:noFill/>
          </a:ln>
        </p:spPr>
        <p:txBody>
          <a:bodyPr wrap="square" tIns="0" bIns="0">
            <a:noAutofit/>
          </a:bodyPr>
          <a:lstStyle/>
          <a:p>
            <a:pPr>
              <a:defRPr sz="2025" b="0">
                <a:solidFill>
                  <a:srgbClr val="007F83"/>
                </a:solidFill>
                <a:latin typeface="Aptos"/>
                <a:ea typeface="Aptos"/>
                <a:cs typeface="Aptos"/>
              </a:defRPr>
            </a:pPr>
            <a:r>
              <a:rPr lang="en-US" b="1">
                <a:solidFill>
                  <a:srgbClr val="007F83"/>
                </a:solidFill>
                <a:latin typeface="Aptos"/>
                <a:ea typeface="Aptos"/>
                <a:cs typeface="Aptos"/>
              </a:rPr>
              <a:t>Section exam weight: Internal Controls 15%</a:t>
            </a:r>
          </a:p>
        </p:txBody>
      </p:sp>
      <p:sp>
        <p:nvSpPr>
          <p:cNvPr id="9" name="Rectangle 8">
            <a:extLst>
              <a:ext uri="{FF2B5EF4-FFF2-40B4-BE49-F238E27FC236}">
                <a16:creationId xmlns:a16="http://schemas.microsoft.com/office/drawing/2014/main" id="{D3A78D56-E053-6C16-E8E4-FC020C038BC4}"/>
              </a:ext>
            </a:extLst>
          </p:cNvPr>
          <p:cNvSpPr>
            <a:spLocks noGrp="1"/>
          </p:cNvSpPr>
          <p:nvPr/>
        </p:nvSpPr>
        <p:spPr>
          <a:xfrm>
            <a:off x="762000" y="8077200"/>
            <a:ext cx="11430000" cy="285750"/>
          </a:xfrm>
          <a:prstGeom prst="rect">
            <a:avLst/>
          </a:prstGeom>
          <a:noFill/>
          <a:ln w="0">
            <a:noFill/>
          </a:ln>
        </p:spPr>
        <p:txBody>
          <a:bodyPr wrap="square">
            <a:noAutofit/>
          </a:bodyPr>
          <a:lstStyle/>
          <a:p>
            <a:pPr>
              <a:defRPr sz="1350" b="0">
                <a:solidFill>
                  <a:srgbClr val="5C6F7F"/>
                </a:solidFill>
                <a:latin typeface="Aptos"/>
                <a:ea typeface="Aptos"/>
                <a:cs typeface="Aptos"/>
              </a:defRPr>
            </a:pPr>
            <a:r>
              <a:rPr sz="1350" b="0">
                <a:solidFill>
                  <a:srgbClr val="5C6F7F"/>
                </a:solidFill>
                <a:latin typeface="Aptos"/>
                <a:ea typeface="Aptos"/>
                <a:cs typeface="Aptos"/>
              </a:rPr>
              <a:t>CMA Part 1. Supplied course outline. Subunit references shown.</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0000002-0001-4000-8000-000000000000}"/>
              </a:ext>
            </a:extLst>
          </p:cNvPr>
          <p:cNvSpPr>
            <a:spLocks noGrp="1"/>
          </p:cNvSpPr>
          <p:nvPr/>
        </p:nvSpPr>
        <p:spPr>
          <a:xfrm>
            <a:off x="762000" y="542925"/>
            <a:ext cx="13811250" cy="666750"/>
          </a:xfrm>
          <a:prstGeom prst="rect">
            <a:avLst/>
          </a:prstGeom>
          <a:noFill/>
          <a:ln w="0">
            <a:noFill/>
          </a:ln>
        </p:spPr>
        <p:txBody>
          <a:bodyPr wrap="square">
            <a:noAutofit/>
          </a:bodyPr>
          <a:lstStyle/>
          <a:p>
            <a:pPr>
              <a:defRPr sz="3675" b="1">
                <a:solidFill>
                  <a:srgbClr val="122C49"/>
                </a:solidFill>
                <a:latin typeface="Aptos"/>
                <a:ea typeface="Aptos"/>
                <a:cs typeface="Aptos"/>
              </a:defRPr>
            </a:pPr>
            <a:r>
              <a:rPr lang="en-US" sz="3675" b="1">
                <a:solidFill>
                  <a:srgbClr val="122C49"/>
                </a:solidFill>
                <a:latin typeface="Aptos"/>
                <a:ea typeface="Aptos"/>
                <a:cs typeface="Aptos"/>
              </a:rPr>
              <a:t>Technology and Analytics</a:t>
            </a:r>
          </a:p>
        </p:txBody>
      </p:sp>
      <p:sp>
        <p:nvSpPr>
          <p:cNvPr id="2" name="Rectangle 1">
            <a:extLst>
              <a:ext uri="{FF2B5EF4-FFF2-40B4-BE49-F238E27FC236}">
                <a16:creationId xmlns:a16="http://schemas.microsoft.com/office/drawing/2014/main" id="{00000002-0002-4000-8000-000000000000}"/>
              </a:ext>
            </a:extLst>
          </p:cNvPr>
          <p:cNvSpPr>
            <a:spLocks noGrp="1"/>
          </p:cNvSpPr>
          <p:nvPr/>
        </p:nvSpPr>
        <p:spPr>
          <a:xfrm>
            <a:off x="762000" y="1185862"/>
            <a:ext cx="13811250" cy="400050"/>
          </a:xfrm>
          <a:prstGeom prst="rect">
            <a:avLst/>
          </a:prstGeom>
          <a:noFill/>
          <a:ln w="0">
            <a:noFill/>
          </a:ln>
        </p:spPr>
        <p:txBody>
          <a:bodyPr wrap="square">
            <a:noAutofit/>
          </a:bodyPr>
          <a:lstStyle/>
          <a:p>
            <a:pPr>
              <a:defRPr sz="2025" b="0">
                <a:solidFill>
                  <a:srgbClr val="007F83"/>
                </a:solidFill>
                <a:latin typeface="Aptos"/>
                <a:ea typeface="Aptos"/>
                <a:cs typeface="Aptos"/>
              </a:defRPr>
            </a:pPr>
            <a:r>
              <a:rPr lang="en-US" sz="2400" b="0">
                <a:solidFill>
                  <a:srgbClr val="007F83"/>
                </a:solidFill>
                <a:latin typeface="Aptos"/>
                <a:ea typeface="Aptos"/>
                <a:cs typeface="Aptos"/>
              </a:rPr>
              <a:t>15–22 June 2027   /   Sessions 36–38</a:t>
            </a:r>
          </a:p>
        </p:txBody>
      </p:sp>
      <p:graphicFrame>
        <p:nvGraphicFramePr>
          <p:cNvPr id="3" name="Table 2"/>
          <p:cNvGraphicFramePr/>
          <p:nvPr>
            <p:extLst>
              <p:ext uri="{D42A27DB-BD31-4B8C-83A1-F6EECF244321}">
                <p14:modId xmlns:p14="http://schemas.microsoft.com/office/powerpoint/2010/main" val="210606230"/>
              </p:ext>
            </p:extLst>
          </p:nvPr>
        </p:nvGraphicFramePr>
        <p:xfrm>
          <a:off x="762000" y="2028825"/>
          <a:ext cx="13811251" cy="5204460"/>
        </p:xfrm>
        <a:graphic>
          <a:graphicData uri="http://schemas.openxmlformats.org/drawingml/2006/table">
            <a:tbl>
              <a:tblPr/>
              <a:tblGrid>
                <a:gridCol w="1962652">
                  <a:extLst>
                    <a:ext uri="{9D8B030D-6E8A-4147-A177-3AD203B41FA5}">
                      <a16:colId xmlns:a16="http://schemas.microsoft.com/office/drawing/2014/main" val="20000"/>
                    </a:ext>
                  </a:extLst>
                </a:gridCol>
                <a:gridCol w="4984248">
                  <a:extLst>
                    <a:ext uri="{9D8B030D-6E8A-4147-A177-3AD203B41FA5}">
                      <a16:colId xmlns:a16="http://schemas.microsoft.com/office/drawing/2014/main" val="20001"/>
                    </a:ext>
                  </a:extLst>
                </a:gridCol>
                <a:gridCol w="5172911">
                  <a:extLst>
                    <a:ext uri="{9D8B030D-6E8A-4147-A177-3AD203B41FA5}">
                      <a16:colId xmlns:a16="http://schemas.microsoft.com/office/drawing/2014/main" val="20002"/>
                    </a:ext>
                  </a:extLst>
                </a:gridCol>
                <a:gridCol w="1691440">
                  <a:extLst>
                    <a:ext uri="{9D8B030D-6E8A-4147-A177-3AD203B41FA5}">
                      <a16:colId xmlns:a16="http://schemas.microsoft.com/office/drawing/2014/main" val="20003"/>
                    </a:ext>
                  </a:extLst>
                </a:gridCol>
              </a:tblGrid>
              <a:tr h="514350">
                <a:tc>
                  <a:txBody>
                    <a:bodyPr/>
                    <a:lstStyle/>
                    <a:p>
                      <a:pPr algn="ctr"/>
                      <a:r>
                        <a:rPr lang="en-US" sz="1800" b="1">
                          <a:solidFill>
                            <a:srgbClr val="FFFFFF"/>
                          </a:solidFill>
                          <a:latin typeface="Aptos"/>
                          <a:ea typeface="Aptos"/>
                          <a:cs typeface="Aptos"/>
                        </a:rPr>
                        <a:t>Session / date</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Study unit</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Coverage and practice</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Subunits</a:t>
                      </a:r>
                    </a:p>
                  </a:txBody>
                  <a:tcPr marL="133350" marR="133350" marT="133350" marB="133350" anchor="ctr">
                    <a:solidFill>
                      <a:srgbClr val="122C49"/>
                    </a:solidFill>
                  </a:tcPr>
                </a:tc>
                <a:extLst>
                  <a:ext uri="{0D108BD9-81ED-4DB2-BD59-A6C34878D82A}">
                    <a16:rowId xmlns:a16="http://schemas.microsoft.com/office/drawing/2014/main" val="10000"/>
                  </a:ext>
                </a:extLst>
              </a:tr>
              <a:tr h="1554480">
                <a:tc>
                  <a:txBody>
                    <a:bodyPr/>
                    <a:lstStyle/>
                    <a:p>
                      <a:r>
                        <a:rPr lang="fr-FR" sz="1800" b="1">
                          <a:solidFill>
                            <a:srgbClr val="007F83"/>
                          </a:solidFill>
                          <a:latin typeface="Aptos"/>
                          <a:ea typeface="Aptos"/>
                          <a:cs typeface="Aptos"/>
                        </a:rPr>
                        <a:t>36</a:t>
                      </a:r>
                    </a:p>
                    <a:p>
                      <a:r>
                        <a:rPr lang="fr-FR" sz="1800" b="1">
                          <a:solidFill>
                            <a:srgbClr val="007F83"/>
                          </a:solidFill>
                          <a:latin typeface="Aptos"/>
                          <a:ea typeface="Aptos"/>
                          <a:cs typeface="Aptos"/>
                        </a:rPr>
                        <a:t>Tue 15 Jun</a:t>
                      </a:r>
                    </a:p>
                    <a:p>
                      <a:r>
                        <a:rPr lang="fr-FR" sz="1800" b="1">
                          <a:solidFill>
                            <a:srgbClr val="007F83"/>
                          </a:solidFill>
                          <a:latin typeface="Aptos"/>
                          <a:ea typeface="Aptos"/>
                          <a:cs typeface="Aptos"/>
                        </a:rPr>
                        <a:t>2027</a:t>
                      </a:r>
                    </a:p>
                  </a:txBody>
                  <a:tcPr marL="133350" marR="133350" marT="133350" marB="133350" anchor="ctr">
                    <a:solidFill>
                      <a:srgbClr val="F3F7F9"/>
                    </a:solidFill>
                  </a:tcPr>
                </a:tc>
                <a:tc>
                  <a:txBody>
                    <a:bodyPr/>
                    <a:lstStyle/>
                    <a:p>
                      <a:r>
                        <a:rPr lang="en-US" sz="1800" b="1">
                          <a:solidFill>
                            <a:srgbClr val="122C49"/>
                          </a:solidFill>
                          <a:latin typeface="Aptos"/>
                          <a:ea typeface="Aptos"/>
                          <a:cs typeface="Aptos"/>
                        </a:rPr>
                        <a:t>Unit 19. Information Systems and Data Governance</a:t>
                      </a:r>
                    </a:p>
                    <a:p>
                      <a:r>
                        <a:rPr lang="en-US" sz="1800" b="1">
                          <a:solidFill>
                            <a:srgbClr val="122C49"/>
                          </a:solidFill>
                          <a:latin typeface="Aptos"/>
                          <a:ea typeface="Aptos"/>
                          <a:cs typeface="Aptos"/>
                        </a:rPr>
                        <a:t>Lecture 1 of 2</a:t>
                      </a:r>
                    </a:p>
                  </a:txBody>
                  <a:tcPr marL="133350" marR="133350" marT="133350" marB="133350" anchor="ctr">
                    <a:solidFill>
                      <a:srgbClr val="F3F7F9"/>
                    </a:solidFill>
                  </a:tcPr>
                </a:tc>
                <a:tc>
                  <a:txBody>
                    <a:bodyPr/>
                    <a:lstStyle/>
                    <a:p>
                      <a:pPr marL="285750" indent="-285750">
                        <a:buFont typeface="Arial" panose="020B0604020202020204" pitchFamily="34" charset="0"/>
                        <a:buChar char="•"/>
                      </a:pPr>
                      <a:r>
                        <a:rPr lang="en-US" sz="1800">
                          <a:solidFill>
                            <a:srgbClr val="233B50"/>
                          </a:solidFill>
                          <a:latin typeface="Aptos"/>
                          <a:ea typeface="Aptos"/>
                          <a:cs typeface="Aptos"/>
                        </a:rPr>
                        <a:t>19.1 Accounting information systems.</a:t>
                      </a:r>
                    </a:p>
                    <a:p>
                      <a:pPr marL="285750" indent="-285750">
                        <a:buFont typeface="Arial" panose="020B0604020202020204" pitchFamily="34" charset="0"/>
                        <a:buChar char="•"/>
                      </a:pPr>
                      <a:r>
                        <a:rPr lang="en-US" sz="1800">
                          <a:solidFill>
                            <a:srgbClr val="233B50"/>
                          </a:solidFill>
                          <a:latin typeface="Aptos"/>
                          <a:ea typeface="Aptos"/>
                          <a:cs typeface="Aptos"/>
                        </a:rPr>
                        <a:t>19.2 Data governance and the data life cycle.</a:t>
                      </a:r>
                    </a:p>
                  </a:txBody>
                  <a:tcPr marL="133350" marR="133350" marT="133350" marB="133350" anchor="ctr">
                    <a:solidFill>
                      <a:srgbClr val="F3F7F9"/>
                    </a:solidFill>
                  </a:tcPr>
                </a:tc>
                <a:tc>
                  <a:txBody>
                    <a:bodyPr/>
                    <a:lstStyle/>
                    <a:p>
                      <a:pPr algn="ctr"/>
                      <a:r>
                        <a:rPr lang="en-US" sz="1800">
                          <a:solidFill>
                            <a:srgbClr val="233B50"/>
                          </a:solidFill>
                          <a:latin typeface="Aptos"/>
                          <a:ea typeface="Aptos"/>
                          <a:cs typeface="Aptos"/>
                        </a:rPr>
                        <a:t>19.1–19.2</a:t>
                      </a:r>
                    </a:p>
                  </a:txBody>
                  <a:tcPr marL="133350" marR="133350" marT="133350" marB="133350" anchor="ctr">
                    <a:solidFill>
                      <a:srgbClr val="F3F7F9"/>
                    </a:solidFill>
                  </a:tcPr>
                </a:tc>
                <a:extLst>
                  <a:ext uri="{0D108BD9-81ED-4DB2-BD59-A6C34878D82A}">
                    <a16:rowId xmlns:a16="http://schemas.microsoft.com/office/drawing/2014/main" val="10002"/>
                  </a:ext>
                </a:extLst>
              </a:tr>
              <a:tr h="1554480">
                <a:tc>
                  <a:txBody>
                    <a:bodyPr/>
                    <a:lstStyle/>
                    <a:p>
                      <a:r>
                        <a:rPr lang="sv-SE" sz="1800" b="1">
                          <a:solidFill>
                            <a:srgbClr val="007F83"/>
                          </a:solidFill>
                          <a:latin typeface="Aptos"/>
                          <a:ea typeface="Aptos"/>
                          <a:cs typeface="Aptos"/>
                        </a:rPr>
                        <a:t>37</a:t>
                      </a:r>
                    </a:p>
                    <a:p>
                      <a:r>
                        <a:rPr lang="sv-SE" sz="1800" b="1">
                          <a:solidFill>
                            <a:srgbClr val="007F83"/>
                          </a:solidFill>
                          <a:latin typeface="Aptos"/>
                          <a:ea typeface="Aptos"/>
                          <a:cs typeface="Aptos"/>
                        </a:rPr>
                        <a:t>Fri 18 Jun</a:t>
                      </a:r>
                    </a:p>
                    <a:p>
                      <a:r>
                        <a:rPr lang="sv-SE" sz="1800" b="1">
                          <a:solidFill>
                            <a:srgbClr val="007F83"/>
                          </a:solidFill>
                          <a:latin typeface="Aptos"/>
                          <a:ea typeface="Aptos"/>
                          <a:cs typeface="Aptos"/>
                        </a:rPr>
                        <a:t>2027</a:t>
                      </a:r>
                    </a:p>
                  </a:txBody>
                  <a:tcPr marL="133350" marR="133350" marT="133350" marB="133350" anchor="ctr">
                    <a:solidFill>
                      <a:srgbClr val="FFFFFF"/>
                    </a:solidFill>
                  </a:tcPr>
                </a:tc>
                <a:tc>
                  <a:txBody>
                    <a:bodyPr/>
                    <a:lstStyle/>
                    <a:p>
                      <a:r>
                        <a:rPr lang="en-US" sz="1800" b="1">
                          <a:solidFill>
                            <a:srgbClr val="122C49"/>
                          </a:solidFill>
                          <a:latin typeface="Aptos"/>
                          <a:ea typeface="Aptos"/>
                          <a:cs typeface="Aptos"/>
                        </a:rPr>
                        <a:t>Unit 19. Information Systems and Data Governance</a:t>
                      </a:r>
                    </a:p>
                    <a:p>
                      <a:r>
                        <a:rPr lang="en-US" sz="1800" b="1">
                          <a:solidFill>
                            <a:srgbClr val="122C49"/>
                          </a:solidFill>
                          <a:latin typeface="Aptos"/>
                          <a:ea typeface="Aptos"/>
                          <a:cs typeface="Aptos"/>
                        </a:rPr>
                        <a:t>Lecture 2 of 2</a:t>
                      </a:r>
                    </a:p>
                  </a:txBody>
                  <a:tcPr marL="133350" marR="133350" marT="133350" marB="133350" anchor="ctr">
                    <a:solidFill>
                      <a:srgbClr val="FFFFFF"/>
                    </a:solidFill>
                  </a:tcPr>
                </a:tc>
                <a:tc>
                  <a:txBody>
                    <a:bodyPr/>
                    <a:lstStyle/>
                    <a:p>
                      <a:pPr marL="285750" indent="-285750">
                        <a:buFont typeface="Arial" panose="020B0604020202020204" pitchFamily="34" charset="0"/>
                        <a:buChar char="•"/>
                      </a:pPr>
                      <a:r>
                        <a:rPr lang="en-US" sz="1800">
                          <a:solidFill>
                            <a:srgbClr val="233B50"/>
                          </a:solidFill>
                          <a:latin typeface="Aptos"/>
                          <a:ea typeface="Aptos"/>
                          <a:cs typeface="Aptos"/>
                        </a:rPr>
                        <a:t>19.3 COSO framework: internal control for data governance.</a:t>
                      </a:r>
                    </a:p>
                  </a:txBody>
                  <a:tcPr marL="133350" marR="133350" marT="133350" marB="133350" anchor="ctr">
                    <a:solidFill>
                      <a:srgbClr val="FFFFFF"/>
                    </a:solidFill>
                  </a:tcPr>
                </a:tc>
                <a:tc>
                  <a:txBody>
                    <a:bodyPr/>
                    <a:lstStyle/>
                    <a:p>
                      <a:pPr algn="ctr"/>
                      <a:r>
                        <a:rPr lang="en-US" sz="1800">
                          <a:solidFill>
                            <a:srgbClr val="233B50"/>
                          </a:solidFill>
                          <a:latin typeface="Aptos"/>
                          <a:ea typeface="Aptos"/>
                          <a:cs typeface="Aptos"/>
                        </a:rPr>
                        <a:t>19.3</a:t>
                      </a:r>
                    </a:p>
                  </a:txBody>
                  <a:tcPr marL="133350" marR="133350" marT="133350" marB="133350" anchor="ctr">
                    <a:solidFill>
                      <a:srgbClr val="FFFFFF"/>
                    </a:solidFill>
                  </a:tcPr>
                </a:tc>
                <a:extLst>
                  <a:ext uri="{0D108BD9-81ED-4DB2-BD59-A6C34878D82A}">
                    <a16:rowId xmlns:a16="http://schemas.microsoft.com/office/drawing/2014/main" val="10003"/>
                  </a:ext>
                </a:extLst>
              </a:tr>
              <a:tr h="1554480">
                <a:tc>
                  <a:txBody>
                    <a:bodyPr/>
                    <a:lstStyle/>
                    <a:p>
                      <a:r>
                        <a:rPr lang="sv-SE" sz="1800" b="1">
                          <a:solidFill>
                            <a:srgbClr val="007F83"/>
                          </a:solidFill>
                          <a:latin typeface="Aptos"/>
                          <a:ea typeface="Aptos"/>
                          <a:cs typeface="Aptos"/>
                        </a:rPr>
                        <a:t>38</a:t>
                      </a:r>
                    </a:p>
                    <a:p>
                      <a:r>
                        <a:rPr lang="sv-SE" sz="1800" b="1">
                          <a:solidFill>
                            <a:srgbClr val="007F83"/>
                          </a:solidFill>
                          <a:latin typeface="Aptos"/>
                          <a:ea typeface="Aptos"/>
                          <a:cs typeface="Aptos"/>
                        </a:rPr>
                        <a:t>Tue 22 Jun</a:t>
                      </a:r>
                    </a:p>
                    <a:p>
                      <a:r>
                        <a:rPr lang="sv-SE" sz="1800" b="1">
                          <a:solidFill>
                            <a:srgbClr val="007F83"/>
                          </a:solidFill>
                          <a:latin typeface="Aptos"/>
                          <a:ea typeface="Aptos"/>
                          <a:cs typeface="Aptos"/>
                        </a:rPr>
                        <a:t>2027</a:t>
                      </a:r>
                    </a:p>
                  </a:txBody>
                  <a:tcPr marL="133350" marR="133350" marT="133350" marB="133350" anchor="ctr">
                    <a:solidFill>
                      <a:srgbClr val="FFFFFF"/>
                    </a:solidFill>
                  </a:tcPr>
                </a:tc>
                <a:tc>
                  <a:txBody>
                    <a:bodyPr/>
                    <a:lstStyle/>
                    <a:p>
                      <a:r>
                        <a:rPr lang="en-US" sz="1800" b="1">
                          <a:solidFill>
                            <a:srgbClr val="122C49"/>
                          </a:solidFill>
                          <a:latin typeface="Aptos"/>
                          <a:ea typeface="Aptos"/>
                          <a:cs typeface="Aptos"/>
                        </a:rPr>
                        <a:t>Unit 20. Systems Development and Data Analytics</a:t>
                      </a:r>
                    </a:p>
                  </a:txBody>
                  <a:tcPr marL="133350" marR="133350" marT="133350" marB="133350" anchor="ctr">
                    <a:solidFill>
                      <a:srgbClr val="FFFFFF"/>
                    </a:solidFill>
                  </a:tcPr>
                </a:tc>
                <a:tc>
                  <a:txBody>
                    <a:bodyPr/>
                    <a:lstStyle/>
                    <a:p>
                      <a:pPr marL="285750" indent="-285750">
                        <a:buFont typeface="Arial" panose="020B0604020202020204" pitchFamily="34" charset="0"/>
                        <a:buChar char="•"/>
                      </a:pPr>
                      <a:r>
                        <a:rPr lang="en-US" sz="1800">
                          <a:solidFill>
                            <a:srgbClr val="233B50"/>
                          </a:solidFill>
                          <a:latin typeface="Aptos"/>
                          <a:ea typeface="Aptos"/>
                          <a:cs typeface="Aptos"/>
                        </a:rPr>
                        <a:t>20.1 Technology-enabled finance transformation.</a:t>
                      </a:r>
                    </a:p>
                    <a:p>
                      <a:pPr marL="285750" indent="-285750">
                        <a:buFont typeface="Arial" panose="020B0604020202020204" pitchFamily="34" charset="0"/>
                        <a:buChar char="•"/>
                      </a:pPr>
                      <a:r>
                        <a:rPr lang="en-US" sz="1800">
                          <a:solidFill>
                            <a:srgbClr val="233B50"/>
                          </a:solidFill>
                          <a:latin typeface="Aptos"/>
                          <a:ea typeface="Aptos"/>
                          <a:cs typeface="Aptos"/>
                        </a:rPr>
                        <a:t>20.2 Analytics and big data.</a:t>
                      </a:r>
                    </a:p>
                    <a:p>
                      <a:pPr marL="285750" indent="-285750">
                        <a:buFont typeface="Arial" panose="020B0604020202020204" pitchFamily="34" charset="0"/>
                        <a:buChar char="•"/>
                      </a:pPr>
                      <a:r>
                        <a:rPr lang="en-US" sz="1800">
                          <a:solidFill>
                            <a:srgbClr val="233B50"/>
                          </a:solidFill>
                          <a:latin typeface="Aptos"/>
                          <a:ea typeface="Aptos"/>
                          <a:cs typeface="Aptos"/>
                        </a:rPr>
                        <a:t>Use practice questions to connect both topics.</a:t>
                      </a:r>
                    </a:p>
                  </a:txBody>
                  <a:tcPr marL="133350" marR="133350" marT="133350" marB="133350" anchor="ctr">
                    <a:solidFill>
                      <a:srgbClr val="FFFFFF"/>
                    </a:solidFill>
                  </a:tcPr>
                </a:tc>
                <a:tc>
                  <a:txBody>
                    <a:bodyPr/>
                    <a:lstStyle/>
                    <a:p>
                      <a:pPr algn="ctr"/>
                      <a:r>
                        <a:rPr lang="en-US" sz="1800">
                          <a:solidFill>
                            <a:srgbClr val="233B50"/>
                          </a:solidFill>
                          <a:latin typeface="Aptos"/>
                          <a:ea typeface="Aptos"/>
                          <a:cs typeface="Aptos"/>
                        </a:rPr>
                        <a:t>20.1–20.2</a:t>
                      </a:r>
                    </a:p>
                  </a:txBody>
                  <a:tcPr marL="133350" marR="133350" marT="133350" marB="133350" anchor="ctr">
                    <a:solidFill>
                      <a:srgbClr val="FFFFFF"/>
                    </a:solidFill>
                  </a:tcPr>
                </a:tc>
                <a:extLst>
                  <a:ext uri="{0D108BD9-81ED-4DB2-BD59-A6C34878D82A}">
                    <a16:rowId xmlns:a16="http://schemas.microsoft.com/office/drawing/2014/main" val="1888236052"/>
                  </a:ext>
                </a:extLst>
              </a:tr>
            </a:tbl>
          </a:graphicData>
        </a:graphic>
      </p:graphicFrame>
      <p:sp>
        <p:nvSpPr>
          <p:cNvPr id="5" name="Rectangle 4">
            <a:extLst>
              <a:ext uri="{FF2B5EF4-FFF2-40B4-BE49-F238E27FC236}">
                <a16:creationId xmlns:a16="http://schemas.microsoft.com/office/drawing/2014/main" id="{00000002-0004-4000-8000-000000000000}"/>
              </a:ext>
            </a:extLst>
          </p:cNvPr>
          <p:cNvSpPr>
            <a:spLocks noGrp="1"/>
          </p:cNvSpPr>
          <p:nvPr/>
        </p:nvSpPr>
        <p:spPr>
          <a:xfrm>
            <a:off x="13811250" y="8077200"/>
            <a:ext cx="666750" cy="285750"/>
          </a:xfrm>
          <a:prstGeom prst="rect">
            <a:avLst/>
          </a:prstGeom>
          <a:noFill/>
          <a:ln w="0">
            <a:noFill/>
          </a:ln>
        </p:spPr>
        <p:txBody>
          <a:bodyPr wrap="square">
            <a:noAutofit/>
          </a:bodyPr>
          <a:lstStyle/>
          <a:p>
            <a:pPr>
              <a:defRPr sz="1350" b="0">
                <a:solidFill>
                  <a:srgbClr val="5C6F7F"/>
                </a:solidFill>
                <a:latin typeface="Aptos"/>
                <a:ea typeface="Aptos"/>
                <a:cs typeface="Aptos"/>
              </a:defRPr>
            </a:pPr>
            <a:r>
              <a:rPr lang="en-US" sz="1350" b="0">
                <a:solidFill>
                  <a:srgbClr val="5C6F7F"/>
                </a:solidFill>
                <a:latin typeface="Aptos"/>
                <a:ea typeface="Aptos"/>
                <a:cs typeface="Aptos"/>
              </a:rPr>
              <a:t>34</a:t>
            </a:r>
          </a:p>
        </p:txBody>
      </p:sp>
      <p:sp>
        <p:nvSpPr>
          <p:cNvPr id="7" name="Section exam weighting">
            <a:extLst>
              <a:ext uri="{FF2B5EF4-FFF2-40B4-BE49-F238E27FC236}">
                <a16:creationId xmlns:a16="http://schemas.microsoft.com/office/drawing/2014/main" id="{00000002-0002-4000-8000-000000000000}"/>
              </a:ext>
            </a:extLst>
          </p:cNvPr>
          <p:cNvSpPr>
            <a:spLocks noGrp="1"/>
          </p:cNvSpPr>
          <p:nvPr/>
        </p:nvSpPr>
        <p:spPr>
          <a:xfrm>
            <a:off x="762000" y="1657350"/>
            <a:ext cx="13811250" cy="276225"/>
          </a:xfrm>
          <a:prstGeom prst="rect">
            <a:avLst/>
          </a:prstGeom>
          <a:noFill/>
          <a:ln w="0">
            <a:noFill/>
          </a:ln>
        </p:spPr>
        <p:txBody>
          <a:bodyPr wrap="square" tIns="0" bIns="0">
            <a:noAutofit/>
          </a:bodyPr>
          <a:lstStyle/>
          <a:p>
            <a:pPr>
              <a:defRPr sz="2025" b="0">
                <a:solidFill>
                  <a:srgbClr val="007F83"/>
                </a:solidFill>
                <a:latin typeface="Aptos"/>
                <a:ea typeface="Aptos"/>
                <a:cs typeface="Aptos"/>
              </a:defRPr>
            </a:pPr>
            <a:r>
              <a:rPr lang="en-US" b="1">
                <a:solidFill>
                  <a:srgbClr val="007F83"/>
                </a:solidFill>
                <a:latin typeface="Aptos"/>
                <a:ea typeface="Aptos"/>
                <a:cs typeface="Aptos"/>
              </a:rPr>
              <a:t>Section exam weight: Technology and Analytics 15%</a:t>
            </a:r>
          </a:p>
        </p:txBody>
      </p:sp>
      <p:sp>
        <p:nvSpPr>
          <p:cNvPr id="9" name="Rectangle 8">
            <a:extLst>
              <a:ext uri="{FF2B5EF4-FFF2-40B4-BE49-F238E27FC236}">
                <a16:creationId xmlns:a16="http://schemas.microsoft.com/office/drawing/2014/main" id="{D3A78D56-E053-6C16-E8E4-FC020C038BC4}"/>
              </a:ext>
            </a:extLst>
          </p:cNvPr>
          <p:cNvSpPr>
            <a:spLocks noGrp="1"/>
          </p:cNvSpPr>
          <p:nvPr/>
        </p:nvSpPr>
        <p:spPr>
          <a:xfrm>
            <a:off x="762000" y="8077200"/>
            <a:ext cx="11430000" cy="285750"/>
          </a:xfrm>
          <a:prstGeom prst="rect">
            <a:avLst/>
          </a:prstGeom>
          <a:noFill/>
          <a:ln w="0">
            <a:noFill/>
          </a:ln>
        </p:spPr>
        <p:txBody>
          <a:bodyPr wrap="square">
            <a:noAutofit/>
          </a:bodyPr>
          <a:lstStyle/>
          <a:p>
            <a:pPr>
              <a:defRPr sz="1350" b="0">
                <a:solidFill>
                  <a:srgbClr val="5C6F7F"/>
                </a:solidFill>
                <a:latin typeface="Aptos"/>
                <a:ea typeface="Aptos"/>
                <a:cs typeface="Aptos"/>
              </a:defRPr>
            </a:pPr>
            <a:r>
              <a:rPr sz="1350" b="0">
                <a:solidFill>
                  <a:srgbClr val="5C6F7F"/>
                </a:solidFill>
                <a:latin typeface="Aptos"/>
                <a:ea typeface="Aptos"/>
                <a:cs typeface="Aptos"/>
              </a:rPr>
              <a:t>CMA Part 1. Supplied course outline. Subunit references shown.</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0000008-0001-4000-8000-000000000000}"/>
              </a:ext>
            </a:extLst>
          </p:cNvPr>
          <p:cNvSpPr>
            <a:spLocks noGrp="1"/>
          </p:cNvSpPr>
          <p:nvPr/>
        </p:nvSpPr>
        <p:spPr>
          <a:xfrm>
            <a:off x="762000" y="542925"/>
            <a:ext cx="13811250" cy="666750"/>
          </a:xfrm>
          <a:prstGeom prst="rect">
            <a:avLst/>
          </a:prstGeom>
          <a:noFill/>
          <a:ln w="0">
            <a:noFill/>
          </a:ln>
        </p:spPr>
        <p:txBody>
          <a:bodyPr wrap="square">
            <a:noAutofit/>
          </a:bodyPr>
          <a:lstStyle/>
          <a:p>
            <a:pPr>
              <a:defRPr sz="3675" b="1">
                <a:solidFill>
                  <a:srgbClr val="122C49"/>
                </a:solidFill>
                <a:latin typeface="Aptos"/>
                <a:ea typeface="Aptos"/>
                <a:cs typeface="Aptos"/>
              </a:defRPr>
            </a:pPr>
            <a:r>
              <a:rPr lang="en-US" sz="3675" b="1">
                <a:solidFill>
                  <a:srgbClr val="122C49"/>
                </a:solidFill>
                <a:latin typeface="Aptos"/>
                <a:ea typeface="Aptos"/>
                <a:cs typeface="Aptos"/>
              </a:rPr>
              <a:t>Final Consolidation</a:t>
            </a:r>
          </a:p>
        </p:txBody>
      </p:sp>
      <p:sp>
        <p:nvSpPr>
          <p:cNvPr id="2" name="Rectangle 1">
            <a:extLst>
              <a:ext uri="{FF2B5EF4-FFF2-40B4-BE49-F238E27FC236}">
                <a16:creationId xmlns:a16="http://schemas.microsoft.com/office/drawing/2014/main" id="{00000008-0002-4000-8000-000000000000}"/>
              </a:ext>
            </a:extLst>
          </p:cNvPr>
          <p:cNvSpPr>
            <a:spLocks noGrp="1"/>
          </p:cNvSpPr>
          <p:nvPr/>
        </p:nvSpPr>
        <p:spPr>
          <a:xfrm>
            <a:off x="762000" y="1185862"/>
            <a:ext cx="13811250" cy="400050"/>
          </a:xfrm>
          <a:prstGeom prst="rect">
            <a:avLst/>
          </a:prstGeom>
          <a:noFill/>
          <a:ln w="0">
            <a:noFill/>
          </a:ln>
        </p:spPr>
        <p:txBody>
          <a:bodyPr wrap="square">
            <a:noAutofit/>
          </a:bodyPr>
          <a:lstStyle/>
          <a:p>
            <a:pPr>
              <a:defRPr sz="2025" b="0">
                <a:solidFill>
                  <a:srgbClr val="007F83"/>
                </a:solidFill>
                <a:latin typeface="Aptos"/>
                <a:ea typeface="Aptos"/>
                <a:cs typeface="Aptos"/>
              </a:defRPr>
            </a:pPr>
            <a:r>
              <a:rPr lang="en-US" sz="2400" b="0">
                <a:solidFill>
                  <a:srgbClr val="007F83"/>
                </a:solidFill>
                <a:latin typeface="Aptos"/>
                <a:ea typeface="Aptos"/>
                <a:cs typeface="Aptos"/>
              </a:rPr>
              <a:t>25–29 June 2027   /   Sessions 39–40</a:t>
            </a:r>
          </a:p>
        </p:txBody>
      </p:sp>
      <p:graphicFrame>
        <p:nvGraphicFramePr>
          <p:cNvPr id="3" name="Table 2"/>
          <p:cNvGraphicFramePr/>
          <p:nvPr>
            <p:extLst>
              <p:ext uri="{D42A27DB-BD31-4B8C-83A1-F6EECF244321}">
                <p14:modId xmlns:p14="http://schemas.microsoft.com/office/powerpoint/2010/main" val="1005279819"/>
              </p:ext>
            </p:extLst>
          </p:nvPr>
        </p:nvGraphicFramePr>
        <p:xfrm>
          <a:off x="762000" y="2028825"/>
          <a:ext cx="13811251" cy="3924300"/>
        </p:xfrm>
        <a:graphic>
          <a:graphicData uri="http://schemas.openxmlformats.org/drawingml/2006/table">
            <a:tbl>
              <a:tblPr/>
              <a:tblGrid>
                <a:gridCol w="1962652">
                  <a:extLst>
                    <a:ext uri="{9D8B030D-6E8A-4147-A177-3AD203B41FA5}">
                      <a16:colId xmlns:a16="http://schemas.microsoft.com/office/drawing/2014/main" val="20000"/>
                    </a:ext>
                  </a:extLst>
                </a:gridCol>
                <a:gridCol w="4984248">
                  <a:extLst>
                    <a:ext uri="{9D8B030D-6E8A-4147-A177-3AD203B41FA5}">
                      <a16:colId xmlns:a16="http://schemas.microsoft.com/office/drawing/2014/main" val="20001"/>
                    </a:ext>
                  </a:extLst>
                </a:gridCol>
                <a:gridCol w="5172911">
                  <a:extLst>
                    <a:ext uri="{9D8B030D-6E8A-4147-A177-3AD203B41FA5}">
                      <a16:colId xmlns:a16="http://schemas.microsoft.com/office/drawing/2014/main" val="20002"/>
                    </a:ext>
                  </a:extLst>
                </a:gridCol>
                <a:gridCol w="1691440">
                  <a:extLst>
                    <a:ext uri="{9D8B030D-6E8A-4147-A177-3AD203B41FA5}">
                      <a16:colId xmlns:a16="http://schemas.microsoft.com/office/drawing/2014/main" val="20003"/>
                    </a:ext>
                  </a:extLst>
                </a:gridCol>
              </a:tblGrid>
              <a:tr h="514350">
                <a:tc>
                  <a:txBody>
                    <a:bodyPr/>
                    <a:lstStyle/>
                    <a:p>
                      <a:pPr algn="ctr"/>
                      <a:r>
                        <a:rPr lang="en-US" sz="1800" b="1">
                          <a:solidFill>
                            <a:srgbClr val="FFFFFF"/>
                          </a:solidFill>
                          <a:latin typeface="Aptos"/>
                          <a:ea typeface="Aptos"/>
                          <a:cs typeface="Aptos"/>
                        </a:rPr>
                        <a:t>Session / date</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Study unit</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Coverage and practice</a:t>
                      </a:r>
                    </a:p>
                  </a:txBody>
                  <a:tcPr marL="133350" marR="133350" marT="133350" marB="133350" anchor="ctr">
                    <a:solidFill>
                      <a:srgbClr val="122C49"/>
                    </a:solidFill>
                  </a:tcPr>
                </a:tc>
                <a:tc>
                  <a:txBody>
                    <a:bodyPr/>
                    <a:lstStyle/>
                    <a:p>
                      <a:pPr algn="ctr"/>
                      <a:r>
                        <a:rPr lang="en-US" sz="1800" b="1">
                          <a:solidFill>
                            <a:srgbClr val="FFFFFF"/>
                          </a:solidFill>
                          <a:latin typeface="Aptos"/>
                          <a:ea typeface="Aptos"/>
                          <a:cs typeface="Aptos"/>
                        </a:rPr>
                        <a:t>Subunits</a:t>
                      </a:r>
                    </a:p>
                  </a:txBody>
                  <a:tcPr marL="133350" marR="133350" marT="133350" marB="133350" anchor="ctr">
                    <a:solidFill>
                      <a:srgbClr val="122C49"/>
                    </a:solidFill>
                  </a:tcPr>
                </a:tc>
                <a:extLst>
                  <a:ext uri="{0D108BD9-81ED-4DB2-BD59-A6C34878D82A}">
                    <a16:rowId xmlns:a16="http://schemas.microsoft.com/office/drawing/2014/main" val="10000"/>
                  </a:ext>
                </a:extLst>
              </a:tr>
              <a:tr h="1691640">
                <a:tc>
                  <a:txBody>
                    <a:bodyPr/>
                    <a:lstStyle/>
                    <a:p>
                      <a:r>
                        <a:rPr lang="en-US" sz="1800" b="1">
                          <a:solidFill>
                            <a:srgbClr val="007F83"/>
                          </a:solidFill>
                          <a:latin typeface="Aptos"/>
                          <a:ea typeface="Aptos"/>
                          <a:cs typeface="Aptos"/>
                        </a:rPr>
                        <a:t>39</a:t>
                      </a:r>
                    </a:p>
                    <a:p>
                      <a:r>
                        <a:rPr lang="en-US" sz="1800" b="1">
                          <a:solidFill>
                            <a:srgbClr val="007F83"/>
                          </a:solidFill>
                          <a:latin typeface="Aptos"/>
                          <a:ea typeface="Aptos"/>
                          <a:cs typeface="Aptos"/>
                        </a:rPr>
                        <a:t>Fri 25 Jun</a:t>
                      </a:r>
                    </a:p>
                    <a:p>
                      <a:r>
                        <a:rPr lang="en-US" sz="1800" b="1">
                          <a:solidFill>
                            <a:srgbClr val="007F83"/>
                          </a:solidFill>
                          <a:latin typeface="Aptos"/>
                          <a:ea typeface="Aptos"/>
                          <a:cs typeface="Aptos"/>
                        </a:rPr>
                        <a:t>2027</a:t>
                      </a:r>
                    </a:p>
                  </a:txBody>
                  <a:tcPr marL="133350" marR="133350" marT="133350" marB="133350" anchor="ctr">
                    <a:solidFill>
                      <a:srgbClr val="F3F7F9"/>
                    </a:solidFill>
                  </a:tcPr>
                </a:tc>
                <a:tc>
                  <a:txBody>
                    <a:bodyPr/>
                    <a:lstStyle/>
                    <a:p>
                      <a:r>
                        <a:rPr lang="en-US" sz="1800" b="1">
                          <a:solidFill>
                            <a:srgbClr val="122C49"/>
                          </a:solidFill>
                          <a:latin typeface="Aptos"/>
                          <a:ea typeface="Aptos"/>
                          <a:cs typeface="Aptos"/>
                        </a:rPr>
                        <a:t>Consolidation: Units 1–14</a:t>
                      </a:r>
                    </a:p>
                  </a:txBody>
                  <a:tcPr marL="133350" marR="133350" marT="133350" marB="133350" anchor="ctr">
                    <a:solidFill>
                      <a:srgbClr val="F3F7F9"/>
                    </a:solidFill>
                  </a:tcPr>
                </a:tc>
                <a:tc>
                  <a:txBody>
                    <a:bodyPr/>
                    <a:lstStyle/>
                    <a:p>
                      <a:pPr marL="285750" indent="-285750">
                        <a:buFont typeface="Arial" panose="020B0604020202020204" pitchFamily="34" charset="0"/>
                        <a:buChar char="•"/>
                      </a:pPr>
                      <a:r>
                        <a:rPr lang="en-US" sz="1800">
                          <a:solidFill>
                            <a:srgbClr val="233B50"/>
                          </a:solidFill>
                          <a:latin typeface="Aptos"/>
                          <a:ea typeface="Aptos"/>
                          <a:cs typeface="Aptos"/>
                        </a:rPr>
                        <a:t>Review external reporting, cost management, planning and budgeting.</a:t>
                      </a:r>
                    </a:p>
                    <a:p>
                      <a:pPr marL="285750" indent="-285750">
                        <a:buFont typeface="Arial" panose="020B0604020202020204" pitchFamily="34" charset="0"/>
                        <a:buChar char="•"/>
                      </a:pPr>
                      <a:r>
                        <a:rPr lang="en-US" sz="1800">
                          <a:solidFill>
                            <a:srgbClr val="233B50"/>
                          </a:solidFill>
                          <a:latin typeface="Aptos"/>
                          <a:ea typeface="Aptos"/>
                          <a:cs typeface="Aptos"/>
                        </a:rPr>
                        <a:t>Rework missed examples and mixed practice questions.</a:t>
                      </a:r>
                    </a:p>
                    <a:p>
                      <a:pPr marL="285750" indent="-285750">
                        <a:buFont typeface="Arial" panose="020B0604020202020204" pitchFamily="34" charset="0"/>
                        <a:buChar char="•"/>
                      </a:pPr>
                      <a:r>
                        <a:rPr lang="en-US" sz="1800">
                          <a:solidFill>
                            <a:srgbClr val="233B50"/>
                          </a:solidFill>
                          <a:latin typeface="Aptos"/>
                          <a:ea typeface="Aptos"/>
                          <a:cs typeface="Aptos"/>
                        </a:rPr>
                        <a:t>Prioritize topics in the error log.</a:t>
                      </a:r>
                    </a:p>
                  </a:txBody>
                  <a:tcPr marL="133350" marR="133350" marT="133350" marB="133350" anchor="ctr">
                    <a:solidFill>
                      <a:srgbClr val="F3F7F9"/>
                    </a:solidFill>
                  </a:tcPr>
                </a:tc>
                <a:tc>
                  <a:txBody>
                    <a:bodyPr/>
                    <a:lstStyle/>
                    <a:p>
                      <a:pPr algn="ctr"/>
                      <a:r>
                        <a:rPr lang="en-US" sz="1800">
                          <a:solidFill>
                            <a:srgbClr val="233B50"/>
                          </a:solidFill>
                          <a:latin typeface="Aptos"/>
                          <a:ea typeface="Aptos"/>
                          <a:cs typeface="Aptos"/>
                        </a:rPr>
                        <a:t>Units 1–14</a:t>
                      </a:r>
                    </a:p>
                  </a:txBody>
                  <a:tcPr marL="133350" marR="133350" marT="133350" marB="133350" anchor="ctr">
                    <a:solidFill>
                      <a:srgbClr val="F3F7F9"/>
                    </a:solidFill>
                  </a:tcPr>
                </a:tc>
                <a:extLst>
                  <a:ext uri="{0D108BD9-81ED-4DB2-BD59-A6C34878D82A}">
                    <a16:rowId xmlns:a16="http://schemas.microsoft.com/office/drawing/2014/main" val="10002"/>
                  </a:ext>
                </a:extLst>
              </a:tr>
              <a:tr h="1691640">
                <a:tc>
                  <a:txBody>
                    <a:bodyPr/>
                    <a:lstStyle/>
                    <a:p>
                      <a:r>
                        <a:rPr lang="sv-SE" sz="1800" b="1">
                          <a:solidFill>
                            <a:srgbClr val="007F83"/>
                          </a:solidFill>
                          <a:latin typeface="Aptos"/>
                          <a:ea typeface="Aptos"/>
                          <a:cs typeface="Aptos"/>
                        </a:rPr>
                        <a:t>40</a:t>
                      </a:r>
                    </a:p>
                    <a:p>
                      <a:r>
                        <a:rPr lang="sv-SE" sz="1800" b="1">
                          <a:solidFill>
                            <a:srgbClr val="007F83"/>
                          </a:solidFill>
                          <a:latin typeface="Aptos"/>
                          <a:ea typeface="Aptos"/>
                          <a:cs typeface="Aptos"/>
                        </a:rPr>
                        <a:t>Tue 29 Jun</a:t>
                      </a:r>
                    </a:p>
                    <a:p>
                      <a:r>
                        <a:rPr lang="sv-SE" sz="1800" b="1">
                          <a:solidFill>
                            <a:srgbClr val="007F83"/>
                          </a:solidFill>
                          <a:latin typeface="Aptos"/>
                          <a:ea typeface="Aptos"/>
                          <a:cs typeface="Aptos"/>
                        </a:rPr>
                        <a:t>2027</a:t>
                      </a:r>
                    </a:p>
                  </a:txBody>
                  <a:tcPr marL="133350" marR="133350" marT="133350" marB="133350" anchor="ctr">
                    <a:solidFill>
                      <a:srgbClr val="FFFFFF"/>
                    </a:solidFill>
                  </a:tcPr>
                </a:tc>
                <a:tc>
                  <a:txBody>
                    <a:bodyPr/>
                    <a:lstStyle/>
                    <a:p>
                      <a:r>
                        <a:rPr lang="en-US" sz="1800" b="1">
                          <a:solidFill>
                            <a:srgbClr val="122C49"/>
                          </a:solidFill>
                          <a:latin typeface="Aptos"/>
                          <a:ea typeface="Aptos"/>
                          <a:cs typeface="Aptos"/>
                        </a:rPr>
                        <a:t>Consolidation: Units 15–20</a:t>
                      </a:r>
                    </a:p>
                  </a:txBody>
                  <a:tcPr marL="133350" marR="133350" marT="133350" marB="133350" anchor="ctr">
                    <a:solidFill>
                      <a:srgbClr val="FFFFFF"/>
                    </a:solidFill>
                  </a:tcPr>
                </a:tc>
                <a:tc>
                  <a:txBody>
                    <a:bodyPr/>
                    <a:lstStyle/>
                    <a:p>
                      <a:pPr marL="285750" indent="-285750">
                        <a:buFont typeface="Arial" panose="020B0604020202020204" pitchFamily="34" charset="0"/>
                        <a:buChar char="•"/>
                      </a:pPr>
                      <a:r>
                        <a:rPr lang="en-US" sz="1800">
                          <a:solidFill>
                            <a:srgbClr val="233B50"/>
                          </a:solidFill>
                          <a:latin typeface="Aptos"/>
                          <a:ea typeface="Aptos"/>
                          <a:cs typeface="Aptos"/>
                        </a:rPr>
                        <a:t>Review performance management, internal controls and technology.</a:t>
                      </a:r>
                    </a:p>
                    <a:p>
                      <a:pPr marL="285750" indent="-285750">
                        <a:buFont typeface="Arial" panose="020B0604020202020204" pitchFamily="34" charset="0"/>
                        <a:buChar char="•"/>
                      </a:pPr>
                      <a:r>
                        <a:rPr lang="en-US" sz="1800">
                          <a:solidFill>
                            <a:srgbClr val="233B50"/>
                          </a:solidFill>
                          <a:latin typeface="Aptos"/>
                          <a:ea typeface="Aptos"/>
                          <a:cs typeface="Aptos"/>
                        </a:rPr>
                        <a:t>Complete mixed practice and resolve remaining errors.</a:t>
                      </a:r>
                    </a:p>
                    <a:p>
                      <a:pPr marL="285750" indent="-285750">
                        <a:buFont typeface="Arial" panose="020B0604020202020204" pitchFamily="34" charset="0"/>
                        <a:buChar char="•"/>
                      </a:pPr>
                      <a:r>
                        <a:rPr lang="en-US" sz="1800">
                          <a:solidFill>
                            <a:srgbClr val="233B50"/>
                          </a:solidFill>
                          <a:latin typeface="Aptos"/>
                          <a:ea typeface="Aptos"/>
                          <a:cs typeface="Aptos"/>
                        </a:rPr>
                        <a:t>Check coverage of all 20 units.</a:t>
                      </a:r>
                    </a:p>
                  </a:txBody>
                  <a:tcPr marL="133350" marR="133350" marT="133350" marB="133350" anchor="ctr">
                    <a:solidFill>
                      <a:srgbClr val="FFFFFF"/>
                    </a:solidFill>
                  </a:tcPr>
                </a:tc>
                <a:tc>
                  <a:txBody>
                    <a:bodyPr/>
                    <a:lstStyle/>
                    <a:p>
                      <a:pPr algn="ctr"/>
                      <a:r>
                        <a:rPr lang="en-US" sz="1800">
                          <a:solidFill>
                            <a:srgbClr val="233B50"/>
                          </a:solidFill>
                          <a:latin typeface="Aptos"/>
                          <a:ea typeface="Aptos"/>
                          <a:cs typeface="Aptos"/>
                        </a:rPr>
                        <a:t>Units 15–20</a:t>
                      </a:r>
                    </a:p>
                  </a:txBody>
                  <a:tcPr marL="133350" marR="133350" marT="133350" marB="133350" anchor="ctr">
                    <a:solidFill>
                      <a:srgbClr val="FFFFFF"/>
                    </a:solidFill>
                  </a:tcPr>
                </a:tc>
                <a:extLst>
                  <a:ext uri="{0D108BD9-81ED-4DB2-BD59-A6C34878D82A}">
                    <a16:rowId xmlns:a16="http://schemas.microsoft.com/office/drawing/2014/main" val="10003"/>
                  </a:ext>
                </a:extLst>
              </a:tr>
            </a:tbl>
          </a:graphicData>
        </a:graphic>
      </p:graphicFrame>
      <p:sp>
        <p:nvSpPr>
          <p:cNvPr id="4" name="Rectangle 3">
            <a:extLst>
              <a:ext uri="{FF2B5EF4-FFF2-40B4-BE49-F238E27FC236}">
                <a16:creationId xmlns:a16="http://schemas.microsoft.com/office/drawing/2014/main" id="{00000008-0003-4000-8000-000000000000}"/>
              </a:ext>
            </a:extLst>
          </p:cNvPr>
          <p:cNvSpPr>
            <a:spLocks noGrp="1"/>
          </p:cNvSpPr>
          <p:nvPr/>
        </p:nvSpPr>
        <p:spPr>
          <a:xfrm>
            <a:off x="762000" y="6962775"/>
            <a:ext cx="13335000" cy="714375"/>
          </a:xfrm>
          <a:prstGeom prst="rect">
            <a:avLst/>
          </a:prstGeom>
          <a:noFill/>
          <a:ln w="0">
            <a:noFill/>
          </a:ln>
        </p:spPr>
        <p:txBody>
          <a:bodyPr wrap="square">
            <a:noAutofit/>
          </a:bodyPr>
          <a:lstStyle/>
          <a:p>
            <a:pPr>
              <a:defRPr sz="2025" b="1">
                <a:solidFill>
                  <a:srgbClr val="007F83"/>
                </a:solidFill>
                <a:latin typeface="Aptos"/>
                <a:ea typeface="Aptos"/>
                <a:cs typeface="Aptos"/>
              </a:defRPr>
            </a:pPr>
            <a:r>
              <a:rPr sz="2025" b="1">
                <a:solidFill>
                  <a:srgbClr val="007F83"/>
                </a:solidFill>
                <a:latin typeface="Aptos"/>
                <a:ea typeface="Aptos"/>
                <a:cs typeface="Aptos"/>
              </a:rPr>
              <a:t>Completion check: finish Units 1–20, correct practice errors and record any remaining weak areas.</a:t>
            </a:r>
          </a:p>
        </p:txBody>
      </p:sp>
      <p:sp>
        <p:nvSpPr>
          <p:cNvPr id="6" name="Rectangle 5">
            <a:extLst>
              <a:ext uri="{FF2B5EF4-FFF2-40B4-BE49-F238E27FC236}">
                <a16:creationId xmlns:a16="http://schemas.microsoft.com/office/drawing/2014/main" id="{00000008-0005-4000-8000-000000000000}"/>
              </a:ext>
            </a:extLst>
          </p:cNvPr>
          <p:cNvSpPr>
            <a:spLocks noGrp="1"/>
          </p:cNvSpPr>
          <p:nvPr/>
        </p:nvSpPr>
        <p:spPr>
          <a:xfrm>
            <a:off x="13811250" y="8077200"/>
            <a:ext cx="666750" cy="285750"/>
          </a:xfrm>
          <a:prstGeom prst="rect">
            <a:avLst/>
          </a:prstGeom>
          <a:noFill/>
          <a:ln w="0">
            <a:noFill/>
          </a:ln>
        </p:spPr>
        <p:txBody>
          <a:bodyPr wrap="square">
            <a:noAutofit/>
          </a:bodyPr>
          <a:lstStyle/>
          <a:p>
            <a:pPr>
              <a:defRPr sz="1350" b="0">
                <a:solidFill>
                  <a:srgbClr val="5C6F7F"/>
                </a:solidFill>
                <a:latin typeface="Aptos"/>
                <a:ea typeface="Aptos"/>
                <a:cs typeface="Aptos"/>
              </a:defRPr>
            </a:pPr>
            <a:r>
              <a:rPr lang="en-US" sz="1350" b="0">
                <a:solidFill>
                  <a:srgbClr val="5C6F7F"/>
                </a:solidFill>
                <a:latin typeface="Aptos"/>
                <a:ea typeface="Aptos"/>
                <a:cs typeface="Aptos"/>
              </a:rPr>
              <a:t>35</a:t>
            </a:r>
          </a:p>
        </p:txBody>
      </p:sp>
      <p:sp>
        <p:nvSpPr>
          <p:cNvPr id="8" name="Section exam weighting">
            <a:extLst>
              <a:ext uri="{FF2B5EF4-FFF2-40B4-BE49-F238E27FC236}">
                <a16:creationId xmlns:a16="http://schemas.microsoft.com/office/drawing/2014/main" id="{00000008-0002-4000-8000-000000000000}"/>
              </a:ext>
            </a:extLst>
          </p:cNvPr>
          <p:cNvSpPr>
            <a:spLocks noGrp="1"/>
          </p:cNvSpPr>
          <p:nvPr/>
        </p:nvSpPr>
        <p:spPr>
          <a:xfrm>
            <a:off x="762000" y="1657350"/>
            <a:ext cx="13811250" cy="276225"/>
          </a:xfrm>
          <a:prstGeom prst="rect">
            <a:avLst/>
          </a:prstGeom>
          <a:noFill/>
          <a:ln w="0">
            <a:noFill/>
          </a:ln>
        </p:spPr>
        <p:txBody>
          <a:bodyPr wrap="square" tIns="0" bIns="0">
            <a:noAutofit/>
          </a:bodyPr>
          <a:lstStyle/>
          <a:p>
            <a:pPr>
              <a:defRPr sz="2025" b="0">
                <a:solidFill>
                  <a:srgbClr val="007F83"/>
                </a:solidFill>
                <a:latin typeface="Aptos"/>
                <a:ea typeface="Aptos"/>
                <a:cs typeface="Aptos"/>
              </a:defRPr>
            </a:pPr>
            <a:r>
              <a:rPr lang="en-US" b="1">
                <a:solidFill>
                  <a:srgbClr val="007F83"/>
                </a:solidFill>
                <a:latin typeface="Aptos"/>
                <a:ea typeface="Aptos"/>
                <a:cs typeface="Aptos"/>
              </a:rPr>
              <a:t>Final review activities. No additional exam weighting.</a:t>
            </a:r>
          </a:p>
        </p:txBody>
      </p:sp>
      <p:sp>
        <p:nvSpPr>
          <p:cNvPr id="10" name="Rectangle 9">
            <a:extLst>
              <a:ext uri="{FF2B5EF4-FFF2-40B4-BE49-F238E27FC236}">
                <a16:creationId xmlns:a16="http://schemas.microsoft.com/office/drawing/2014/main" id="{7B4448D4-65DE-55AA-E171-59C341F31902}"/>
              </a:ext>
            </a:extLst>
          </p:cNvPr>
          <p:cNvSpPr>
            <a:spLocks noGrp="1"/>
          </p:cNvSpPr>
          <p:nvPr/>
        </p:nvSpPr>
        <p:spPr>
          <a:xfrm>
            <a:off x="762000" y="8077200"/>
            <a:ext cx="11430000" cy="285750"/>
          </a:xfrm>
          <a:prstGeom prst="rect">
            <a:avLst/>
          </a:prstGeom>
          <a:noFill/>
          <a:ln w="0">
            <a:noFill/>
          </a:ln>
        </p:spPr>
        <p:txBody>
          <a:bodyPr wrap="square">
            <a:noAutofit/>
          </a:bodyPr>
          <a:lstStyle/>
          <a:p>
            <a:pPr>
              <a:defRPr sz="1350" b="0">
                <a:solidFill>
                  <a:srgbClr val="5C6F7F"/>
                </a:solidFill>
                <a:latin typeface="Aptos"/>
                <a:ea typeface="Aptos"/>
                <a:cs typeface="Aptos"/>
              </a:defRPr>
            </a:pPr>
            <a:r>
              <a:rPr sz="1350" b="0">
                <a:solidFill>
                  <a:srgbClr val="5C6F7F"/>
                </a:solidFill>
                <a:latin typeface="Aptos"/>
                <a:ea typeface="Aptos"/>
                <a:cs typeface="Aptos"/>
              </a:rPr>
              <a:t>CMA Part 1. Supplied course outline. Subunit references shown.</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750</TotalTime>
  <Words>6291</Words>
  <Application>Microsoft Office PowerPoint</Application>
  <PresentationFormat>Custom</PresentationFormat>
  <Paragraphs>983</Paragraphs>
  <Slides>36</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Aptos</vt:lpstr>
      <vt:lpstr>Arial</vt:lpstr>
      <vt:lpstr>ChatGPT</vt:lpstr>
      <vt:lpstr>Ahmed Abu Elezz Course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Ahmed Abu Elezz</dc:creator>
  <cp:lastModifiedBy>Ahmed Abu Elezz</cp:lastModifiedBy>
  <cp:revision>7</cp:revision>
  <dcterms:created xsi:type="dcterms:W3CDTF">2026-10-09T21:01:16Z</dcterms:created>
  <dcterms:modified xsi:type="dcterms:W3CDTF">2026-10-13T20:50:09Z</dcterms:modified>
</cp:coreProperties>
</file>